
<file path=[Content_Types].xml><?xml version="1.0" encoding="utf-8"?>
<Types xmlns="http://schemas.openxmlformats.org/package/2006/content-types">
  <Default Extension="jpeg" ContentType="image/jpeg"/>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Lst>
  <p:notesMasterIdLst>
    <p:notesMasterId r:id="rId30"/>
  </p:notesMasterIdLst>
  <p:sldIdLst>
    <p:sldId id="257" r:id="rId3"/>
    <p:sldId id="261" r:id="rId4"/>
    <p:sldId id="262" r:id="rId5"/>
    <p:sldId id="263" r:id="rId6"/>
    <p:sldId id="264" r:id="rId7"/>
    <p:sldId id="283" r:id="rId8"/>
    <p:sldId id="284" r:id="rId9"/>
    <p:sldId id="285" r:id="rId10"/>
    <p:sldId id="265" r:id="rId11"/>
    <p:sldId id="287" r:id="rId12"/>
    <p:sldId id="288" r:id="rId13"/>
    <p:sldId id="289" r:id="rId14"/>
    <p:sldId id="267" r:id="rId15"/>
    <p:sldId id="268" r:id="rId16"/>
    <p:sldId id="271" r:id="rId17"/>
    <p:sldId id="277" r:id="rId18"/>
    <p:sldId id="272" r:id="rId19"/>
    <p:sldId id="278" r:id="rId20"/>
    <p:sldId id="273" r:id="rId21"/>
    <p:sldId id="279" r:id="rId22"/>
    <p:sldId id="275" r:id="rId23"/>
    <p:sldId id="280" r:id="rId24"/>
    <p:sldId id="276" r:id="rId25"/>
    <p:sldId id="281" r:id="rId26"/>
    <p:sldId id="274" r:id="rId27"/>
    <p:sldId id="282" r:id="rId28"/>
    <p:sldId id="286"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4660"/>
  </p:normalViewPr>
  <p:slideViewPr>
    <p:cSldViewPr snapToGrid="0">
      <p:cViewPr varScale="1">
        <p:scale>
          <a:sx n="86" d="100"/>
          <a:sy n="86" d="100"/>
        </p:scale>
        <p:origin x="55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DELL\Desktop\KAUSHIK\Final%20year%20Project\SiC%20charts%20(Autosaved).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DELL\Desktop\KAUSHIK\Final%20year%20Project\SiC%20charts%20(Autosaved).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SiC%20charts%20(Autosaved).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SiC%20charts%20(Autosaved).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D:\SiC%20charts%20(Autosaved).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D:\SiC%20charts%20(Autosaved).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DELL\Desktop\KAUSHIK\Final%20year%20Project\SiC%20charts%20(Autosaved).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DELL\Desktop\KAUSHIK\Final%20year%20Project\SiC%20charts%20(Autosaved).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DELL\Desktop\KAUSHIK\Final%20year%20Project\SiC%20charts%20(Autosaved).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D:\SiC%20charts%20(Autosaved).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D:\SiC%20charts%20(Autosaved).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D:\SiC%20charts%20(Autosaved).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D:\SiC%20charts%20(Autosaved).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D:\SiC%20charts%20(Autosaved).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D:\SiC%20charts%20(Autosaved).xlsx" TargetMode="External"/><Relationship Id="rId2" Type="http://schemas.microsoft.com/office/2011/relationships/chartColorStyle" Target="colors15.xml"/><Relationship Id="rId1" Type="http://schemas.microsoft.com/office/2011/relationships/chartStyle" Target="style1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IN" b="1" dirty="0">
                <a:solidFill>
                  <a:schemeClr val="tx1"/>
                </a:solidFill>
              </a:rPr>
              <a:t>cutting speed (m/min) vs cutting</a:t>
            </a:r>
            <a:r>
              <a:rPr lang="en-IN" b="1" baseline="0" dirty="0">
                <a:solidFill>
                  <a:schemeClr val="tx1"/>
                </a:solidFill>
              </a:rPr>
              <a:t> force (N)</a:t>
            </a:r>
            <a:endParaRPr lang="en-IN" b="1" dirty="0">
              <a:solidFill>
                <a:schemeClr val="tx1"/>
              </a:solidFill>
            </a:endParaRPr>
          </a:p>
          <a:p>
            <a:pPr algn="ctr" rtl="0">
              <a:defRPr/>
            </a:pPr>
            <a:r>
              <a:rPr lang="en-IN" b="1" dirty="0">
                <a:solidFill>
                  <a:schemeClr val="tx1"/>
                </a:solidFill>
              </a:rPr>
              <a:t>50mm/min feed</a:t>
            </a:r>
          </a:p>
        </c:rich>
      </c:tx>
      <c:overlay val="0"/>
      <c:spPr>
        <a:noFill/>
        <a:ln>
          <a:noFill/>
        </a:ln>
        <a:effectLst/>
      </c:spPr>
      <c:txPr>
        <a:bodyPr rot="0" spcFirstLastPara="1" vertOverflow="ellipsis" vert="horz" wrap="square" anchor="ctr" anchorCtr="1"/>
        <a:lstStyle/>
        <a:p>
          <a:pPr algn="ctr" rtl="0">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scatterChart>
        <c:scatterStyle val="smoothMarker"/>
        <c:varyColors val="0"/>
        <c:ser>
          <c:idx val="0"/>
          <c:order val="0"/>
          <c:tx>
            <c:v>3.75</c:v>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Sheet1!$C$7:$C$9</c:f>
              <c:numCache>
                <c:formatCode>General</c:formatCode>
                <c:ptCount val="3"/>
                <c:pt idx="0">
                  <c:v>13.188000000000001</c:v>
                </c:pt>
                <c:pt idx="1">
                  <c:v>17.709599999999998</c:v>
                </c:pt>
                <c:pt idx="2">
                  <c:v>24.868800000000004</c:v>
                </c:pt>
              </c:numCache>
            </c:numRef>
          </c:xVal>
          <c:yVal>
            <c:numRef>
              <c:f>Sheet1!$E$7:$E$9</c:f>
              <c:numCache>
                <c:formatCode>General</c:formatCode>
                <c:ptCount val="3"/>
                <c:pt idx="0">
                  <c:v>360</c:v>
                </c:pt>
                <c:pt idx="1">
                  <c:v>340</c:v>
                </c:pt>
                <c:pt idx="2">
                  <c:v>470</c:v>
                </c:pt>
              </c:numCache>
            </c:numRef>
          </c:yVal>
          <c:smooth val="1"/>
          <c:extLst>
            <c:ext xmlns:c16="http://schemas.microsoft.com/office/drawing/2014/chart" uri="{C3380CC4-5D6E-409C-BE32-E72D297353CC}">
              <c16:uniqueId val="{00000000-F59C-4A16-892D-5CAE56404736}"/>
            </c:ext>
          </c:extLst>
        </c:ser>
        <c:ser>
          <c:idx val="1"/>
          <c:order val="1"/>
          <c:tx>
            <c:v>5</c:v>
          </c:tx>
          <c:spPr>
            <a:ln w="19050" cap="rnd">
              <a:solidFill>
                <a:schemeClr val="accent4"/>
              </a:solidFill>
              <a:round/>
            </a:ln>
            <a:effectLst/>
          </c:spPr>
          <c:marker>
            <c:symbol val="circle"/>
            <c:size val="5"/>
            <c:spPr>
              <a:solidFill>
                <a:schemeClr val="accent4"/>
              </a:solidFill>
              <a:ln w="9525">
                <a:solidFill>
                  <a:schemeClr val="accent4"/>
                </a:solidFill>
              </a:ln>
              <a:effectLst/>
            </c:spPr>
          </c:marker>
          <c:xVal>
            <c:numRef>
              <c:f>Sheet2!$C$7:$C$9</c:f>
              <c:numCache>
                <c:formatCode>General</c:formatCode>
                <c:ptCount val="3"/>
                <c:pt idx="0">
                  <c:v>13.188000000000001</c:v>
                </c:pt>
                <c:pt idx="1">
                  <c:v>17.709599999999998</c:v>
                </c:pt>
                <c:pt idx="2">
                  <c:v>24.868800000000004</c:v>
                </c:pt>
              </c:numCache>
            </c:numRef>
          </c:xVal>
          <c:yVal>
            <c:numRef>
              <c:f>Sheet2!$E$7:$E$9</c:f>
              <c:numCache>
                <c:formatCode>General</c:formatCode>
                <c:ptCount val="3"/>
                <c:pt idx="0">
                  <c:v>230</c:v>
                </c:pt>
                <c:pt idx="1">
                  <c:v>110</c:v>
                </c:pt>
                <c:pt idx="2">
                  <c:v>70</c:v>
                </c:pt>
              </c:numCache>
            </c:numRef>
          </c:yVal>
          <c:smooth val="1"/>
          <c:extLst>
            <c:ext xmlns:c16="http://schemas.microsoft.com/office/drawing/2014/chart" uri="{C3380CC4-5D6E-409C-BE32-E72D297353CC}">
              <c16:uniqueId val="{00000002-F59C-4A16-892D-5CAE56404736}"/>
            </c:ext>
          </c:extLst>
        </c:ser>
        <c:dLbls>
          <c:showLegendKey val="0"/>
          <c:showVal val="0"/>
          <c:showCatName val="0"/>
          <c:showSerName val="0"/>
          <c:showPercent val="0"/>
          <c:showBubbleSize val="0"/>
        </c:dLbls>
        <c:axId val="273690112"/>
        <c:axId val="273692072"/>
      </c:scatterChart>
      <c:valAx>
        <c:axId val="27369011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IN" b="1" dirty="0">
                    <a:solidFill>
                      <a:schemeClr val="tx1"/>
                    </a:solidFill>
                  </a:rPr>
                  <a:t>cutting speed (m/min)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273692072"/>
        <c:crosses val="autoZero"/>
        <c:crossBetween val="midCat"/>
      </c:valAx>
      <c:valAx>
        <c:axId val="27369207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lgn="ctr" rtl="0">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b="1" dirty="0">
                    <a:solidFill>
                      <a:schemeClr val="tx1"/>
                    </a:solidFill>
                  </a:rPr>
                  <a:t>Cutting</a:t>
                </a:r>
                <a:r>
                  <a:rPr lang="en-IN" b="1" baseline="0" dirty="0">
                    <a:solidFill>
                      <a:schemeClr val="tx1"/>
                    </a:solidFill>
                  </a:rPr>
                  <a:t> force (N)</a:t>
                </a:r>
                <a:endParaRPr lang="en-IN" b="1" dirty="0">
                  <a:solidFill>
                    <a:schemeClr val="tx1"/>
                  </a:solidFill>
                </a:endParaRPr>
              </a:p>
              <a:p>
                <a:pPr algn="ctr" rtl="0">
                  <a:defRPr b="1">
                    <a:solidFill>
                      <a:schemeClr val="tx1"/>
                    </a:solidFill>
                  </a:defRPr>
                </a:pPr>
                <a:endParaRPr lang="en-IN" b="1" dirty="0">
                  <a:solidFill>
                    <a:schemeClr val="tx1"/>
                  </a:solidFill>
                </a:endParaRPr>
              </a:p>
            </c:rich>
          </c:tx>
          <c:overlay val="0"/>
          <c:spPr>
            <a:noFill/>
            <a:ln>
              <a:noFill/>
            </a:ln>
            <a:effectLst/>
          </c:spPr>
          <c:txPr>
            <a:bodyPr rot="-5400000" spcFirstLastPara="1" vertOverflow="ellipsis" vert="horz" wrap="square" anchor="ctr" anchorCtr="1"/>
            <a:lstStyle/>
            <a:p>
              <a:pPr algn="ctr" rtl="0">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273690112"/>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IN" dirty="0"/>
              <a:t>cutting speed (m/min) vs cutting force (N)</a:t>
            </a:r>
          </a:p>
          <a:p>
            <a:pPr algn="ctr" rtl="0">
              <a:defRPr/>
            </a:pPr>
            <a:r>
              <a:rPr lang="en-IN" dirty="0"/>
              <a:t>176mm/min  feed</a:t>
            </a:r>
          </a:p>
        </c:rich>
      </c:tx>
      <c:layout>
        <c:manualLayout>
          <c:xMode val="edge"/>
          <c:yMode val="edge"/>
          <c:x val="0.26767949695997112"/>
          <c:y val="3.3302358206851568E-2"/>
        </c:manualLayout>
      </c:layout>
      <c:overlay val="0"/>
      <c:spPr>
        <a:noFill/>
        <a:ln>
          <a:noFill/>
        </a:ln>
        <a:effectLst/>
      </c:spPr>
      <c:txPr>
        <a:bodyPr rot="0" spcFirstLastPara="1" vertOverflow="ellipsis" vert="horz" wrap="square" anchor="ctr" anchorCtr="1"/>
        <a:lstStyle/>
        <a:p>
          <a:pPr algn="ctr" rtl="0">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manualLayout>
          <c:layoutTarget val="inner"/>
          <c:xMode val="edge"/>
          <c:yMode val="edge"/>
          <c:x val="0.1676453876234304"/>
          <c:y val="0.20064670819628072"/>
          <c:w val="0.6604437668927069"/>
          <c:h val="0.60656738237236696"/>
        </c:manualLayout>
      </c:layout>
      <c:scatterChart>
        <c:scatterStyle val="smoothMarker"/>
        <c:varyColors val="0"/>
        <c:ser>
          <c:idx val="0"/>
          <c:order val="0"/>
          <c:tx>
            <c:v>3.75</c:v>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Sheet1!$C$10:$C$12</c:f>
              <c:numCache>
                <c:formatCode>General</c:formatCode>
                <c:ptCount val="3"/>
                <c:pt idx="0">
                  <c:v>13.188000000000001</c:v>
                </c:pt>
                <c:pt idx="1">
                  <c:v>17.709599999999998</c:v>
                </c:pt>
                <c:pt idx="2">
                  <c:v>24.868800000000004</c:v>
                </c:pt>
              </c:numCache>
            </c:numRef>
          </c:xVal>
          <c:yVal>
            <c:numRef>
              <c:f>Sheet1!$E$10:$E$12</c:f>
              <c:numCache>
                <c:formatCode>General</c:formatCode>
                <c:ptCount val="3"/>
                <c:pt idx="0">
                  <c:v>220</c:v>
                </c:pt>
                <c:pt idx="1">
                  <c:v>60</c:v>
                </c:pt>
                <c:pt idx="2">
                  <c:v>20</c:v>
                </c:pt>
              </c:numCache>
            </c:numRef>
          </c:yVal>
          <c:smooth val="1"/>
          <c:extLst>
            <c:ext xmlns:c16="http://schemas.microsoft.com/office/drawing/2014/chart" uri="{C3380CC4-5D6E-409C-BE32-E72D297353CC}">
              <c16:uniqueId val="{00000000-5531-474F-AA83-EA9F7956D6F0}"/>
            </c:ext>
          </c:extLst>
        </c:ser>
        <c:ser>
          <c:idx val="1"/>
          <c:order val="1"/>
          <c:tx>
            <c:v>5</c:v>
          </c:tx>
          <c:spPr>
            <a:ln w="19050" cap="rnd">
              <a:solidFill>
                <a:schemeClr val="accent4"/>
              </a:solidFill>
              <a:round/>
            </a:ln>
            <a:effectLst/>
          </c:spPr>
          <c:marker>
            <c:symbol val="circle"/>
            <c:size val="5"/>
            <c:spPr>
              <a:solidFill>
                <a:schemeClr val="accent4"/>
              </a:solidFill>
              <a:ln w="9525">
                <a:solidFill>
                  <a:schemeClr val="accent4"/>
                </a:solidFill>
              </a:ln>
              <a:effectLst/>
            </c:spPr>
          </c:marker>
          <c:xVal>
            <c:numRef>
              <c:f>Sheet2!$C$10:$C$12</c:f>
              <c:numCache>
                <c:formatCode>General</c:formatCode>
                <c:ptCount val="3"/>
                <c:pt idx="0">
                  <c:v>13.188000000000001</c:v>
                </c:pt>
                <c:pt idx="1">
                  <c:v>17.709599999999998</c:v>
                </c:pt>
                <c:pt idx="2">
                  <c:v>24.868800000000004</c:v>
                </c:pt>
              </c:numCache>
            </c:numRef>
          </c:xVal>
          <c:yVal>
            <c:numRef>
              <c:f>Sheet2!$E$10:$E$12</c:f>
              <c:numCache>
                <c:formatCode>General</c:formatCode>
                <c:ptCount val="3"/>
                <c:pt idx="0">
                  <c:v>240</c:v>
                </c:pt>
                <c:pt idx="1">
                  <c:v>160</c:v>
                </c:pt>
                <c:pt idx="2">
                  <c:v>160</c:v>
                </c:pt>
              </c:numCache>
            </c:numRef>
          </c:yVal>
          <c:smooth val="1"/>
          <c:extLst>
            <c:ext xmlns:c16="http://schemas.microsoft.com/office/drawing/2014/chart" uri="{C3380CC4-5D6E-409C-BE32-E72D297353CC}">
              <c16:uniqueId val="{00000002-5531-474F-AA83-EA9F7956D6F0}"/>
            </c:ext>
          </c:extLst>
        </c:ser>
        <c:dLbls>
          <c:showLegendKey val="0"/>
          <c:showVal val="0"/>
          <c:showCatName val="0"/>
          <c:showSerName val="0"/>
          <c:showPercent val="0"/>
          <c:showBubbleSize val="0"/>
        </c:dLbls>
        <c:axId val="273687760"/>
        <c:axId val="273689720"/>
      </c:scatterChart>
      <c:valAx>
        <c:axId val="27368776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a:t>cutting speed (m/min)</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3689720"/>
        <c:crosses val="autoZero"/>
        <c:crossBetween val="midCat"/>
      </c:valAx>
      <c:valAx>
        <c:axId val="27368972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lgn="ctr" rtl="0">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a:t>Cutting force (N)</a:t>
                </a:r>
              </a:p>
              <a:p>
                <a:pPr algn="ctr" rtl="0">
                  <a:defRPr/>
                </a:pPr>
                <a:endParaRPr lang="en-IN"/>
              </a:p>
            </c:rich>
          </c:tx>
          <c:overlay val="0"/>
          <c:spPr>
            <a:noFill/>
            <a:ln>
              <a:noFill/>
            </a:ln>
            <a:effectLst/>
          </c:spPr>
          <c:txPr>
            <a:bodyPr rot="-5400000" spcFirstLastPara="1" vertOverflow="ellipsis" vert="horz" wrap="square" anchor="ctr" anchorCtr="1"/>
            <a:lstStyle/>
            <a:p>
              <a:pPr algn="ctr" rtl="0">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3687760"/>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b="1">
          <a:solidFill>
            <a:schemeClr val="tx1"/>
          </a:solidFill>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sz="16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a:t>Cutting speed (m/min) Vs cutting force (N)</a:t>
            </a:r>
          </a:p>
          <a:p>
            <a:pPr algn="ctr" rtl="0">
              <a:defRPr/>
            </a:pPr>
            <a:r>
              <a:rPr lang="en-IN"/>
              <a:t>20mm/min feed</a:t>
            </a:r>
          </a:p>
        </c:rich>
      </c:tx>
      <c:overlay val="0"/>
      <c:spPr>
        <a:noFill/>
        <a:ln>
          <a:noFill/>
        </a:ln>
        <a:effectLst/>
      </c:spPr>
      <c:txPr>
        <a:bodyPr rot="0" spcFirstLastPara="1" vertOverflow="ellipsis" vert="horz" wrap="square" anchor="ctr" anchorCtr="1"/>
        <a:lstStyle/>
        <a:p>
          <a:pPr algn="ctr" rtl="0">
            <a:defRPr sz="16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scatterChart>
        <c:scatterStyle val="smoothMarker"/>
        <c:varyColors val="0"/>
        <c:ser>
          <c:idx val="0"/>
          <c:order val="0"/>
          <c:tx>
            <c:v>5%</c:v>
          </c:tx>
          <c:spPr>
            <a:ln w="9525" cap="rnd">
              <a:solidFill>
                <a:schemeClr val="tx1"/>
              </a:solidFill>
              <a:round/>
            </a:ln>
            <a:effectLst/>
          </c:spPr>
          <c:marker>
            <c:symbol val="circle"/>
            <c:size val="5"/>
            <c:spPr>
              <a:solidFill>
                <a:schemeClr val="tx1"/>
              </a:solidFill>
              <a:ln w="9525">
                <a:solidFill>
                  <a:schemeClr val="tx1"/>
                </a:solidFill>
                <a:round/>
              </a:ln>
              <a:effectLst/>
            </c:spPr>
          </c:marker>
          <c:xVal>
            <c:numRef>
              <c:f>Sheet1!$C$4:$C$6</c:f>
              <c:numCache>
                <c:formatCode>General</c:formatCode>
                <c:ptCount val="3"/>
                <c:pt idx="0">
                  <c:v>13</c:v>
                </c:pt>
                <c:pt idx="1">
                  <c:v>18</c:v>
                </c:pt>
                <c:pt idx="2">
                  <c:v>25</c:v>
                </c:pt>
              </c:numCache>
            </c:numRef>
          </c:xVal>
          <c:yVal>
            <c:numRef>
              <c:f>Sheet1!$E$4:$E$6</c:f>
              <c:numCache>
                <c:formatCode>General</c:formatCode>
                <c:ptCount val="3"/>
                <c:pt idx="0">
                  <c:v>250</c:v>
                </c:pt>
                <c:pt idx="1">
                  <c:v>70</c:v>
                </c:pt>
                <c:pt idx="2">
                  <c:v>140</c:v>
                </c:pt>
              </c:numCache>
            </c:numRef>
          </c:yVal>
          <c:smooth val="1"/>
          <c:extLst>
            <c:ext xmlns:c16="http://schemas.microsoft.com/office/drawing/2014/chart" uri="{C3380CC4-5D6E-409C-BE32-E72D297353CC}">
              <c16:uniqueId val="{00000000-E5C7-46FB-9871-DA52E375A774}"/>
            </c:ext>
          </c:extLst>
        </c:ser>
        <c:ser>
          <c:idx val="1"/>
          <c:order val="1"/>
          <c:tx>
            <c:v>3.75%</c:v>
          </c:tx>
          <c:spPr>
            <a:ln w="9525" cap="rnd">
              <a:solidFill>
                <a:schemeClr val="accent2"/>
              </a:solidFill>
              <a:round/>
            </a:ln>
            <a:effectLst/>
          </c:spPr>
          <c:marker>
            <c:symbol val="circle"/>
            <c:size val="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c:spPr>
          </c:marker>
          <c:xVal>
            <c:numRef>
              <c:f>Sheet1!$C$4:$C$6</c:f>
              <c:numCache>
                <c:formatCode>General</c:formatCode>
                <c:ptCount val="3"/>
                <c:pt idx="0">
                  <c:v>13</c:v>
                </c:pt>
                <c:pt idx="1">
                  <c:v>18</c:v>
                </c:pt>
                <c:pt idx="2">
                  <c:v>25</c:v>
                </c:pt>
              </c:numCache>
            </c:numRef>
          </c:xVal>
          <c:yVal>
            <c:numRef>
              <c:f>Sheet2!$E$4:$E$6</c:f>
              <c:numCache>
                <c:formatCode>General</c:formatCode>
                <c:ptCount val="3"/>
                <c:pt idx="0">
                  <c:v>100</c:v>
                </c:pt>
                <c:pt idx="1">
                  <c:v>140</c:v>
                </c:pt>
                <c:pt idx="2">
                  <c:v>90</c:v>
                </c:pt>
              </c:numCache>
            </c:numRef>
          </c:yVal>
          <c:smooth val="1"/>
          <c:extLst>
            <c:ext xmlns:c16="http://schemas.microsoft.com/office/drawing/2014/chart" uri="{C3380CC4-5D6E-409C-BE32-E72D297353CC}">
              <c16:uniqueId val="{00000001-E5C7-46FB-9871-DA52E375A774}"/>
            </c:ext>
          </c:extLst>
        </c:ser>
        <c:dLbls>
          <c:showLegendKey val="0"/>
          <c:showVal val="0"/>
          <c:showCatName val="0"/>
          <c:showSerName val="0"/>
          <c:showPercent val="0"/>
          <c:showBubbleSize val="0"/>
        </c:dLbls>
        <c:axId val="273687368"/>
        <c:axId val="273688544"/>
      </c:scatterChart>
      <c:valAx>
        <c:axId val="273687368"/>
        <c:scaling>
          <c:orientation val="minMax"/>
        </c:scaling>
        <c:delete val="0"/>
        <c:axPos val="b"/>
        <c:majorGridlines>
          <c:spPr>
            <a:ln w="9525" cap="flat" cmpd="sng" algn="ctr">
              <a:solidFill>
                <a:schemeClr val="tx2">
                  <a:lumMod val="15000"/>
                  <a:lumOff val="85000"/>
                </a:schemeClr>
              </a:solidFill>
              <a:round/>
            </a:ln>
            <a:effectLst/>
          </c:spPr>
        </c:majorGridlines>
        <c:title>
          <c:tx>
            <c:rich>
              <a:bodyPr rot="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a:t>Cutting Speed (m/min)</a:t>
                </a:r>
              </a:p>
            </c:rich>
          </c:tx>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3688544"/>
        <c:crosses val="autoZero"/>
        <c:crossBetween val="midCat"/>
        <c:majorUnit val="1"/>
      </c:valAx>
      <c:valAx>
        <c:axId val="273688544"/>
        <c:scaling>
          <c:orientation val="minMax"/>
        </c:scaling>
        <c:delete val="0"/>
        <c:axPos val="l"/>
        <c:majorGridlines>
          <c:spPr>
            <a:ln w="9525" cap="flat" cmpd="sng" algn="ctr">
              <a:solidFill>
                <a:schemeClr val="tx2">
                  <a:lumMod val="15000"/>
                  <a:lumOff val="85000"/>
                </a:schemeClr>
              </a:solidFill>
              <a:round/>
            </a:ln>
            <a:effectLst/>
          </c:spPr>
        </c:majorGridlines>
        <c:title>
          <c:tx>
            <c:rich>
              <a:bodyPr rot="-54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t>Cutting force (N)</a:t>
                </a:r>
                <a:endParaRPr lang="en-IN"/>
              </a:p>
            </c:rich>
          </c:tx>
          <c:overlay val="0"/>
          <c:spPr>
            <a:noFill/>
            <a:ln>
              <a:noFill/>
            </a:ln>
            <a:effectLst/>
          </c:spPr>
          <c:txPr>
            <a:bodyPr rot="-54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solidFill>
              <a:schemeClr val="tx2">
                <a:lumMod val="40000"/>
                <a:lumOff val="60000"/>
              </a:schemeClr>
            </a:solidFill>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3687368"/>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b="1">
          <a:solidFill>
            <a:schemeClr val="tx1"/>
          </a:solidFill>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IN"/>
              <a:t>Cutting speed (m/min) vs cutting force (N) </a:t>
            </a:r>
          </a:p>
          <a:p>
            <a:pPr>
              <a:defRPr/>
            </a:pPr>
            <a:r>
              <a:rPr lang="en-IN"/>
              <a:t>50mm/min feed</a:t>
            </a:r>
          </a:p>
          <a:p>
            <a:pPr>
              <a:defRPr/>
            </a:pPr>
            <a:endParaRPr lang="en-IN"/>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lineChart>
        <c:grouping val="standard"/>
        <c:varyColors val="0"/>
        <c:ser>
          <c:idx val="0"/>
          <c:order val="0"/>
          <c:tx>
            <c:v>5%</c:v>
          </c:tx>
          <c:spPr>
            <a:ln w="19050" cap="rnd">
              <a:solidFill>
                <a:schemeClr val="accent2"/>
              </a:solidFill>
              <a:round/>
            </a:ln>
            <a:effectLst/>
          </c:spPr>
          <c:marker>
            <c:symbol val="circle"/>
            <c:size val="5"/>
            <c:spPr>
              <a:solidFill>
                <a:schemeClr val="accent2"/>
              </a:solidFill>
              <a:ln w="9525">
                <a:solidFill>
                  <a:schemeClr val="accent2"/>
                </a:solidFill>
              </a:ln>
              <a:effectLst/>
            </c:spPr>
          </c:marker>
          <c:cat>
            <c:numRef>
              <c:f>Sheet1!$C$7:$C$9</c:f>
              <c:numCache>
                <c:formatCode>General</c:formatCode>
                <c:ptCount val="3"/>
                <c:pt idx="0">
                  <c:v>13</c:v>
                </c:pt>
                <c:pt idx="1">
                  <c:v>18</c:v>
                </c:pt>
                <c:pt idx="2">
                  <c:v>25</c:v>
                </c:pt>
              </c:numCache>
            </c:numRef>
          </c:cat>
          <c:val>
            <c:numRef>
              <c:f>Sheet1!$F$7:$F$9</c:f>
              <c:numCache>
                <c:formatCode>General</c:formatCode>
                <c:ptCount val="3"/>
                <c:pt idx="0">
                  <c:v>190</c:v>
                </c:pt>
                <c:pt idx="1">
                  <c:v>150</c:v>
                </c:pt>
                <c:pt idx="2">
                  <c:v>160</c:v>
                </c:pt>
              </c:numCache>
            </c:numRef>
          </c:val>
          <c:smooth val="0"/>
          <c:extLst>
            <c:ext xmlns:c16="http://schemas.microsoft.com/office/drawing/2014/chart" uri="{C3380CC4-5D6E-409C-BE32-E72D297353CC}">
              <c16:uniqueId val="{00000000-AD1A-4D33-B894-00A83CD9E8C6}"/>
            </c:ext>
          </c:extLst>
        </c:ser>
        <c:ser>
          <c:idx val="1"/>
          <c:order val="1"/>
          <c:tx>
            <c:v>3.75%</c:v>
          </c:tx>
          <c:spPr>
            <a:ln w="19050" cap="rnd">
              <a:solidFill>
                <a:schemeClr val="accent4"/>
              </a:solidFill>
              <a:round/>
            </a:ln>
            <a:effectLst/>
          </c:spPr>
          <c:marker>
            <c:symbol val="circle"/>
            <c:size val="5"/>
            <c:spPr>
              <a:solidFill>
                <a:schemeClr val="accent4"/>
              </a:solidFill>
              <a:ln w="9525">
                <a:solidFill>
                  <a:schemeClr val="accent4"/>
                </a:solidFill>
              </a:ln>
              <a:effectLst/>
            </c:spPr>
          </c:marker>
          <c:cat>
            <c:numRef>
              <c:f>Sheet2!$C$7:$C$9</c:f>
              <c:numCache>
                <c:formatCode>General</c:formatCode>
                <c:ptCount val="3"/>
                <c:pt idx="0">
                  <c:v>13</c:v>
                </c:pt>
                <c:pt idx="1">
                  <c:v>18</c:v>
                </c:pt>
                <c:pt idx="2">
                  <c:v>25</c:v>
                </c:pt>
              </c:numCache>
            </c:numRef>
          </c:cat>
          <c:val>
            <c:numRef>
              <c:f>Sheet2!$F$7:$F$9</c:f>
              <c:numCache>
                <c:formatCode>General</c:formatCode>
                <c:ptCount val="3"/>
                <c:pt idx="0">
                  <c:v>60</c:v>
                </c:pt>
                <c:pt idx="1">
                  <c:v>30</c:v>
                </c:pt>
                <c:pt idx="2">
                  <c:v>20</c:v>
                </c:pt>
              </c:numCache>
            </c:numRef>
          </c:val>
          <c:smooth val="0"/>
          <c:extLst>
            <c:ext xmlns:c16="http://schemas.microsoft.com/office/drawing/2014/chart" uri="{C3380CC4-5D6E-409C-BE32-E72D297353CC}">
              <c16:uniqueId val="{00000001-AD1A-4D33-B894-00A83CD9E8C6}"/>
            </c:ext>
          </c:extLst>
        </c:ser>
        <c:dLbls>
          <c:showLegendKey val="0"/>
          <c:showVal val="0"/>
          <c:showCatName val="0"/>
          <c:showSerName val="0"/>
          <c:showPercent val="0"/>
          <c:showBubbleSize val="0"/>
        </c:dLbls>
        <c:marker val="1"/>
        <c:smooth val="0"/>
        <c:axId val="273692464"/>
        <c:axId val="273685016"/>
      </c:lineChart>
      <c:catAx>
        <c:axId val="273692464"/>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dirty="0"/>
                  <a:t> cutting Speed (m/min)</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3685016"/>
        <c:crosses val="autoZero"/>
        <c:auto val="1"/>
        <c:lblAlgn val="ctr"/>
        <c:lblOffset val="100"/>
        <c:noMultiLvlLbl val="0"/>
      </c:catAx>
      <c:valAx>
        <c:axId val="27368501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t>Cutting force (N)</a:t>
                </a:r>
                <a:endParaRPr lang="en-IN"/>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369246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noFill/>
    <a:ln>
      <a:noFill/>
    </a:ln>
    <a:effectLst/>
  </c:spPr>
  <c:txPr>
    <a:bodyPr/>
    <a:lstStyle/>
    <a:p>
      <a:pPr>
        <a:defRPr b="1">
          <a:solidFill>
            <a:schemeClr val="tx1"/>
          </a:solidFill>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IN"/>
              <a:t>Cutting speed (m/min) Vs cutting force (N)</a:t>
            </a:r>
          </a:p>
          <a:p>
            <a:pPr>
              <a:defRPr/>
            </a:pPr>
            <a:r>
              <a:rPr lang="en-IN"/>
              <a:t>20mm/min feed</a:t>
            </a:r>
          </a:p>
          <a:p>
            <a:pPr>
              <a:defRPr/>
            </a:pPr>
            <a:endParaRPr lang="en-IN"/>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lineChart>
        <c:grouping val="standard"/>
        <c:varyColors val="0"/>
        <c:ser>
          <c:idx val="0"/>
          <c:order val="0"/>
          <c:tx>
            <c:v>5%</c:v>
          </c:tx>
          <c:spPr>
            <a:ln w="19050" cap="rnd">
              <a:solidFill>
                <a:schemeClr val="accent2"/>
              </a:solidFill>
              <a:round/>
            </a:ln>
            <a:effectLst/>
          </c:spPr>
          <c:marker>
            <c:symbol val="circle"/>
            <c:size val="5"/>
            <c:spPr>
              <a:solidFill>
                <a:schemeClr val="accent2"/>
              </a:solidFill>
              <a:ln w="9525">
                <a:solidFill>
                  <a:schemeClr val="accent2"/>
                </a:solidFill>
              </a:ln>
              <a:effectLst/>
            </c:spPr>
          </c:marker>
          <c:cat>
            <c:numRef>
              <c:f>Sheet1!$C$4:$C$6</c:f>
              <c:numCache>
                <c:formatCode>General</c:formatCode>
                <c:ptCount val="3"/>
                <c:pt idx="0">
                  <c:v>13</c:v>
                </c:pt>
                <c:pt idx="1">
                  <c:v>18</c:v>
                </c:pt>
                <c:pt idx="2">
                  <c:v>25</c:v>
                </c:pt>
              </c:numCache>
            </c:numRef>
          </c:cat>
          <c:val>
            <c:numRef>
              <c:f>Sheet1!$F$4:$F$6</c:f>
              <c:numCache>
                <c:formatCode>General</c:formatCode>
                <c:ptCount val="3"/>
                <c:pt idx="0">
                  <c:v>140</c:v>
                </c:pt>
                <c:pt idx="1">
                  <c:v>30</c:v>
                </c:pt>
                <c:pt idx="2">
                  <c:v>90</c:v>
                </c:pt>
              </c:numCache>
            </c:numRef>
          </c:val>
          <c:smooth val="0"/>
          <c:extLst>
            <c:ext xmlns:c16="http://schemas.microsoft.com/office/drawing/2014/chart" uri="{C3380CC4-5D6E-409C-BE32-E72D297353CC}">
              <c16:uniqueId val="{00000000-45F1-4F53-AD18-5F5A3B90D0CC}"/>
            </c:ext>
          </c:extLst>
        </c:ser>
        <c:ser>
          <c:idx val="1"/>
          <c:order val="1"/>
          <c:tx>
            <c:v>3.75%</c:v>
          </c:tx>
          <c:spPr>
            <a:ln w="19050" cap="rnd">
              <a:solidFill>
                <a:schemeClr val="accent4"/>
              </a:solidFill>
              <a:round/>
            </a:ln>
            <a:effectLst/>
          </c:spPr>
          <c:marker>
            <c:symbol val="circle"/>
            <c:size val="5"/>
            <c:spPr>
              <a:solidFill>
                <a:schemeClr val="accent4"/>
              </a:solidFill>
              <a:ln w="9525">
                <a:solidFill>
                  <a:schemeClr val="accent4"/>
                </a:solidFill>
              </a:ln>
              <a:effectLst/>
            </c:spPr>
          </c:marker>
          <c:dPt>
            <c:idx val="0"/>
            <c:marker>
              <c:symbol val="circle"/>
              <c:size val="5"/>
              <c:spPr>
                <a:solidFill>
                  <a:schemeClr val="accent4"/>
                </a:solidFill>
                <a:ln w="9525">
                  <a:solidFill>
                    <a:schemeClr val="accent4"/>
                  </a:solidFill>
                </a:ln>
                <a:effectLst/>
              </c:spPr>
            </c:marker>
            <c:bubble3D val="0"/>
            <c:spPr>
              <a:ln w="19050" cap="rnd">
                <a:solidFill>
                  <a:schemeClr val="accent4"/>
                </a:solidFill>
                <a:round/>
              </a:ln>
              <a:effectLst/>
            </c:spPr>
            <c:extLst>
              <c:ext xmlns:c16="http://schemas.microsoft.com/office/drawing/2014/chart" uri="{C3380CC4-5D6E-409C-BE32-E72D297353CC}">
                <c16:uniqueId val="{00000002-45F1-4F53-AD18-5F5A3B90D0CC}"/>
              </c:ext>
            </c:extLst>
          </c:dPt>
          <c:cat>
            <c:numRef>
              <c:f>Sheet1!$C$4:$C$6</c:f>
              <c:numCache>
                <c:formatCode>General</c:formatCode>
                <c:ptCount val="3"/>
                <c:pt idx="0">
                  <c:v>13</c:v>
                </c:pt>
                <c:pt idx="1">
                  <c:v>18</c:v>
                </c:pt>
                <c:pt idx="2">
                  <c:v>25</c:v>
                </c:pt>
              </c:numCache>
            </c:numRef>
          </c:cat>
          <c:val>
            <c:numRef>
              <c:f>Sheet2!$F$4:$F$6</c:f>
              <c:numCache>
                <c:formatCode>General</c:formatCode>
                <c:ptCount val="3"/>
                <c:pt idx="0">
                  <c:v>20</c:v>
                </c:pt>
                <c:pt idx="1">
                  <c:v>20</c:v>
                </c:pt>
                <c:pt idx="2">
                  <c:v>10</c:v>
                </c:pt>
              </c:numCache>
            </c:numRef>
          </c:val>
          <c:smooth val="0"/>
          <c:extLst>
            <c:ext xmlns:c16="http://schemas.microsoft.com/office/drawing/2014/chart" uri="{C3380CC4-5D6E-409C-BE32-E72D297353CC}">
              <c16:uniqueId val="{00000003-45F1-4F53-AD18-5F5A3B90D0CC}"/>
            </c:ext>
          </c:extLst>
        </c:ser>
        <c:dLbls>
          <c:showLegendKey val="0"/>
          <c:showVal val="0"/>
          <c:showCatName val="0"/>
          <c:showSerName val="0"/>
          <c:showPercent val="0"/>
          <c:showBubbleSize val="0"/>
        </c:dLbls>
        <c:marker val="1"/>
        <c:smooth val="0"/>
        <c:axId val="273686584"/>
        <c:axId val="237150128"/>
      </c:lineChart>
      <c:catAx>
        <c:axId val="273686584"/>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a:t>Cutting Speed (m/min)</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37150128"/>
        <c:crosses val="autoZero"/>
        <c:auto val="1"/>
        <c:lblAlgn val="ctr"/>
        <c:lblOffset val="100"/>
        <c:noMultiLvlLbl val="0"/>
      </c:catAx>
      <c:valAx>
        <c:axId val="23715012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t>Cutting force (N)</a:t>
                </a:r>
                <a:endParaRPr lang="en-IN"/>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368658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noFill/>
    <a:ln>
      <a:noFill/>
    </a:ln>
    <a:effectLst/>
  </c:spPr>
  <c:txPr>
    <a:bodyPr/>
    <a:lstStyle/>
    <a:p>
      <a:pPr>
        <a:defRPr b="1">
          <a:solidFill>
            <a:schemeClr val="tx1"/>
          </a:solidFill>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IN"/>
              <a:t>Cutting Speed (m/min) VS cutting force (N)</a:t>
            </a:r>
          </a:p>
          <a:p>
            <a:pPr>
              <a:defRPr/>
            </a:pPr>
            <a:r>
              <a:rPr lang="en-IN"/>
              <a:t>176mm/min feed</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lineChart>
        <c:grouping val="standard"/>
        <c:varyColors val="0"/>
        <c:ser>
          <c:idx val="0"/>
          <c:order val="0"/>
          <c:tx>
            <c:v>5%</c:v>
          </c:tx>
          <c:spPr>
            <a:ln w="19050" cap="rnd">
              <a:solidFill>
                <a:schemeClr val="accent2"/>
              </a:solidFill>
              <a:round/>
            </a:ln>
            <a:effectLst/>
          </c:spPr>
          <c:marker>
            <c:symbol val="circle"/>
            <c:size val="5"/>
            <c:spPr>
              <a:solidFill>
                <a:schemeClr val="accent2"/>
              </a:solidFill>
              <a:ln w="9525">
                <a:solidFill>
                  <a:schemeClr val="accent2"/>
                </a:solidFill>
              </a:ln>
              <a:effectLst/>
            </c:spPr>
          </c:marker>
          <c:cat>
            <c:numRef>
              <c:f>Sheet1!$C$10:$C$12</c:f>
              <c:numCache>
                <c:formatCode>General</c:formatCode>
                <c:ptCount val="3"/>
                <c:pt idx="0">
                  <c:v>13</c:v>
                </c:pt>
                <c:pt idx="1">
                  <c:v>18</c:v>
                </c:pt>
                <c:pt idx="2">
                  <c:v>25</c:v>
                </c:pt>
              </c:numCache>
            </c:numRef>
          </c:cat>
          <c:val>
            <c:numRef>
              <c:f>Sheet1!$F$10:$F$12</c:f>
              <c:numCache>
                <c:formatCode>General</c:formatCode>
                <c:ptCount val="3"/>
                <c:pt idx="0">
                  <c:v>110</c:v>
                </c:pt>
                <c:pt idx="1">
                  <c:v>30</c:v>
                </c:pt>
                <c:pt idx="2">
                  <c:v>10</c:v>
                </c:pt>
              </c:numCache>
            </c:numRef>
          </c:val>
          <c:smooth val="0"/>
          <c:extLst>
            <c:ext xmlns:c16="http://schemas.microsoft.com/office/drawing/2014/chart" uri="{C3380CC4-5D6E-409C-BE32-E72D297353CC}">
              <c16:uniqueId val="{00000000-3EE1-4252-8558-22091035ADDF}"/>
            </c:ext>
          </c:extLst>
        </c:ser>
        <c:ser>
          <c:idx val="1"/>
          <c:order val="1"/>
          <c:tx>
            <c:v>3.75%</c:v>
          </c:tx>
          <c:spPr>
            <a:ln w="19050" cap="rnd">
              <a:solidFill>
                <a:schemeClr val="accent4"/>
              </a:solidFill>
              <a:round/>
            </a:ln>
            <a:effectLst/>
          </c:spPr>
          <c:marker>
            <c:symbol val="circle"/>
            <c:size val="5"/>
            <c:spPr>
              <a:solidFill>
                <a:schemeClr val="accent4"/>
              </a:solidFill>
              <a:ln w="9525">
                <a:solidFill>
                  <a:schemeClr val="accent4"/>
                </a:solidFill>
              </a:ln>
              <a:effectLst/>
            </c:spPr>
          </c:marker>
          <c:cat>
            <c:numRef>
              <c:f>Sheet2!$C$10:$C$12</c:f>
              <c:numCache>
                <c:formatCode>General</c:formatCode>
                <c:ptCount val="3"/>
                <c:pt idx="0">
                  <c:v>13</c:v>
                </c:pt>
                <c:pt idx="1">
                  <c:v>18</c:v>
                </c:pt>
                <c:pt idx="2">
                  <c:v>25</c:v>
                </c:pt>
              </c:numCache>
            </c:numRef>
          </c:cat>
          <c:val>
            <c:numRef>
              <c:f>Sheet2!$F$10:$F$12</c:f>
              <c:numCache>
                <c:formatCode>General</c:formatCode>
                <c:ptCount val="3"/>
                <c:pt idx="0">
                  <c:v>80</c:v>
                </c:pt>
                <c:pt idx="1">
                  <c:v>60</c:v>
                </c:pt>
                <c:pt idx="2">
                  <c:v>50</c:v>
                </c:pt>
              </c:numCache>
            </c:numRef>
          </c:val>
          <c:smooth val="0"/>
          <c:extLst>
            <c:ext xmlns:c16="http://schemas.microsoft.com/office/drawing/2014/chart" uri="{C3380CC4-5D6E-409C-BE32-E72D297353CC}">
              <c16:uniqueId val="{00000001-3EE1-4252-8558-22091035ADDF}"/>
            </c:ext>
          </c:extLst>
        </c:ser>
        <c:dLbls>
          <c:showLegendKey val="0"/>
          <c:showVal val="0"/>
          <c:showCatName val="0"/>
          <c:showSerName val="0"/>
          <c:showPercent val="0"/>
          <c:showBubbleSize val="0"/>
        </c:dLbls>
        <c:marker val="1"/>
        <c:smooth val="0"/>
        <c:axId val="237148952"/>
        <c:axId val="237149344"/>
      </c:lineChart>
      <c:catAx>
        <c:axId val="237148952"/>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a:t>Cutting speed (m/min)</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37149344"/>
        <c:crosses val="autoZero"/>
        <c:auto val="1"/>
        <c:lblAlgn val="ctr"/>
        <c:lblOffset val="100"/>
        <c:noMultiLvlLbl val="0"/>
      </c:catAx>
      <c:valAx>
        <c:axId val="23714934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t>Cutting force (N)</a:t>
                </a:r>
                <a:endParaRPr lang="en-IN"/>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3714895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noFill/>
    <a:ln>
      <a:noFill/>
    </a:ln>
    <a:effectLst/>
  </c:spPr>
  <c:txPr>
    <a:bodyPr/>
    <a:lstStyle/>
    <a:p>
      <a:pPr>
        <a:defRPr b="1">
          <a:solidFill>
            <a:schemeClr val="tx1"/>
          </a:solidFill>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IN" dirty="0"/>
              <a:t>cutting speed (m/min) vs roughness</a:t>
            </a:r>
            <a:r>
              <a:rPr lang="en-IN" baseline="0" dirty="0"/>
              <a:t> (micro mm)</a:t>
            </a:r>
            <a:r>
              <a:rPr lang="en-IN" dirty="0"/>
              <a:t>  20mm/min feed</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scatterChart>
        <c:scatterStyle val="smoothMarker"/>
        <c:varyColors val="0"/>
        <c:ser>
          <c:idx val="0"/>
          <c:order val="0"/>
          <c:tx>
            <c:v>3.5</c:v>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Sheet2!$C$4:$C$6</c:f>
              <c:numCache>
                <c:formatCode>General</c:formatCode>
                <c:ptCount val="3"/>
                <c:pt idx="0">
                  <c:v>13.188000000000001</c:v>
                </c:pt>
                <c:pt idx="1">
                  <c:v>17.709599999999998</c:v>
                </c:pt>
                <c:pt idx="2">
                  <c:v>24.868800000000004</c:v>
                </c:pt>
              </c:numCache>
            </c:numRef>
          </c:xVal>
          <c:yVal>
            <c:numRef>
              <c:f>Sheet2!$L$4:$L$6</c:f>
              <c:numCache>
                <c:formatCode>General</c:formatCode>
                <c:ptCount val="3"/>
                <c:pt idx="0">
                  <c:v>5.4657999999999998</c:v>
                </c:pt>
                <c:pt idx="1">
                  <c:v>4.7794000000000008</c:v>
                </c:pt>
                <c:pt idx="2">
                  <c:v>3.6640000000000001</c:v>
                </c:pt>
              </c:numCache>
            </c:numRef>
          </c:yVal>
          <c:smooth val="1"/>
          <c:extLst>
            <c:ext xmlns:c16="http://schemas.microsoft.com/office/drawing/2014/chart" uri="{C3380CC4-5D6E-409C-BE32-E72D297353CC}">
              <c16:uniqueId val="{00000004-45B1-4EA4-AAA3-32CE3993E42F}"/>
            </c:ext>
          </c:extLst>
        </c:ser>
        <c:ser>
          <c:idx val="1"/>
          <c:order val="1"/>
          <c:tx>
            <c:v>5</c:v>
          </c:tx>
          <c:spPr>
            <a:ln w="19050" cap="rnd">
              <a:solidFill>
                <a:schemeClr val="accent4"/>
              </a:solidFill>
              <a:round/>
            </a:ln>
            <a:effectLst/>
          </c:spPr>
          <c:marker>
            <c:symbol val="circle"/>
            <c:size val="5"/>
            <c:spPr>
              <a:solidFill>
                <a:schemeClr val="accent4"/>
              </a:solidFill>
              <a:ln w="9525">
                <a:solidFill>
                  <a:schemeClr val="accent4"/>
                </a:solidFill>
              </a:ln>
              <a:effectLst/>
            </c:spPr>
          </c:marker>
          <c:xVal>
            <c:numRef>
              <c:f>Sheet1!$C$4:$C$6</c:f>
              <c:numCache>
                <c:formatCode>General</c:formatCode>
                <c:ptCount val="3"/>
                <c:pt idx="0">
                  <c:v>13.188000000000001</c:v>
                </c:pt>
                <c:pt idx="1">
                  <c:v>17.709599999999998</c:v>
                </c:pt>
                <c:pt idx="2">
                  <c:v>24.868800000000004</c:v>
                </c:pt>
              </c:numCache>
            </c:numRef>
          </c:xVal>
          <c:yVal>
            <c:numRef>
              <c:f>Sheet1!$L$4:$L$6</c:f>
              <c:numCache>
                <c:formatCode>General</c:formatCode>
                <c:ptCount val="3"/>
                <c:pt idx="0">
                  <c:v>9.2895000000000003</c:v>
                </c:pt>
                <c:pt idx="1">
                  <c:v>5.4830000000000005</c:v>
                </c:pt>
                <c:pt idx="2">
                  <c:v>7.1359999999999992</c:v>
                </c:pt>
              </c:numCache>
            </c:numRef>
          </c:yVal>
          <c:smooth val="1"/>
          <c:extLst>
            <c:ext xmlns:c16="http://schemas.microsoft.com/office/drawing/2014/chart" uri="{C3380CC4-5D6E-409C-BE32-E72D297353CC}">
              <c16:uniqueId val="{00000005-45B1-4EA4-AAA3-32CE3993E42F}"/>
            </c:ext>
          </c:extLst>
        </c:ser>
        <c:dLbls>
          <c:showLegendKey val="0"/>
          <c:showVal val="0"/>
          <c:showCatName val="0"/>
          <c:showSerName val="0"/>
          <c:showPercent val="0"/>
          <c:showBubbleSize val="0"/>
        </c:dLbls>
        <c:axId val="276032720"/>
        <c:axId val="276029584"/>
      </c:scatterChart>
      <c:valAx>
        <c:axId val="27603272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dirty="0"/>
                  <a:t>cutting speed (m/min)</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6029584"/>
        <c:crosses val="autoZero"/>
        <c:crossBetween val="midCat"/>
      </c:valAx>
      <c:valAx>
        <c:axId val="27602958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dirty="0"/>
                  <a:t>roughness (micro</a:t>
                </a:r>
                <a:r>
                  <a:rPr lang="en-IN" baseline="0" dirty="0"/>
                  <a:t> mm</a:t>
                </a:r>
                <a:r>
                  <a:rPr lang="en-IN" dirty="0"/>
                  <a:t>)</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6032720"/>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b="1">
          <a:solidFill>
            <a:schemeClr val="tx1"/>
          </a:solidFill>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IN" dirty="0"/>
              <a:t>cutting speed vs </a:t>
            </a:r>
            <a:r>
              <a:rPr lang="en-IN" sz="1400" b="1" i="0" u="none" strike="noStrike" baseline="0" dirty="0">
                <a:effectLst/>
              </a:rPr>
              <a:t>roughness (micro mm) </a:t>
            </a:r>
          </a:p>
          <a:p>
            <a:pPr>
              <a:defRPr/>
            </a:pPr>
            <a:r>
              <a:rPr lang="en-IN" dirty="0"/>
              <a:t>50mm/min</a:t>
            </a:r>
            <a:r>
              <a:rPr lang="en-IN" baseline="0" dirty="0"/>
              <a:t> feed</a:t>
            </a:r>
            <a:endParaRPr lang="en-IN" dirty="0"/>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scatterChart>
        <c:scatterStyle val="smoothMarker"/>
        <c:varyColors val="0"/>
        <c:ser>
          <c:idx val="0"/>
          <c:order val="0"/>
          <c:tx>
            <c:v>3.5</c:v>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Sheet2!$C$7:$C$9</c:f>
              <c:numCache>
                <c:formatCode>General</c:formatCode>
                <c:ptCount val="3"/>
                <c:pt idx="0">
                  <c:v>13.188000000000001</c:v>
                </c:pt>
                <c:pt idx="1">
                  <c:v>17.709599999999998</c:v>
                </c:pt>
                <c:pt idx="2">
                  <c:v>24.868800000000004</c:v>
                </c:pt>
              </c:numCache>
            </c:numRef>
          </c:xVal>
          <c:yVal>
            <c:numRef>
              <c:f>Sheet2!$L$7:$L$9</c:f>
              <c:numCache>
                <c:formatCode>General</c:formatCode>
                <c:ptCount val="3"/>
                <c:pt idx="0">
                  <c:v>6.7379999999999995</c:v>
                </c:pt>
                <c:pt idx="1">
                  <c:v>4.2976000000000001</c:v>
                </c:pt>
                <c:pt idx="2">
                  <c:v>3.9590000000000005</c:v>
                </c:pt>
              </c:numCache>
            </c:numRef>
          </c:yVal>
          <c:smooth val="1"/>
          <c:extLst>
            <c:ext xmlns:c16="http://schemas.microsoft.com/office/drawing/2014/chart" uri="{C3380CC4-5D6E-409C-BE32-E72D297353CC}">
              <c16:uniqueId val="{00000000-C3F1-488C-A05E-8C530C74F4AA}"/>
            </c:ext>
          </c:extLst>
        </c:ser>
        <c:ser>
          <c:idx val="1"/>
          <c:order val="1"/>
          <c:tx>
            <c:v>5</c:v>
          </c:tx>
          <c:spPr>
            <a:ln w="19050" cap="rnd">
              <a:solidFill>
                <a:schemeClr val="accent4"/>
              </a:solidFill>
              <a:round/>
            </a:ln>
            <a:effectLst/>
          </c:spPr>
          <c:marker>
            <c:symbol val="circle"/>
            <c:size val="5"/>
            <c:spPr>
              <a:solidFill>
                <a:schemeClr val="accent4"/>
              </a:solidFill>
              <a:ln w="9525">
                <a:solidFill>
                  <a:schemeClr val="accent4"/>
                </a:solidFill>
              </a:ln>
              <a:effectLst/>
            </c:spPr>
          </c:marker>
          <c:xVal>
            <c:numRef>
              <c:f>Sheet1!$C$7:$C$9</c:f>
              <c:numCache>
                <c:formatCode>General</c:formatCode>
                <c:ptCount val="3"/>
                <c:pt idx="0">
                  <c:v>13.188000000000001</c:v>
                </c:pt>
                <c:pt idx="1">
                  <c:v>17.709599999999998</c:v>
                </c:pt>
                <c:pt idx="2">
                  <c:v>24.868800000000004</c:v>
                </c:pt>
              </c:numCache>
            </c:numRef>
          </c:xVal>
          <c:yVal>
            <c:numRef>
              <c:f>Sheet1!$L$7:$L$9</c:f>
              <c:numCache>
                <c:formatCode>General</c:formatCode>
                <c:ptCount val="3"/>
                <c:pt idx="0">
                  <c:v>11.559249999999999</c:v>
                </c:pt>
                <c:pt idx="1">
                  <c:v>9.4390000000000001</c:v>
                </c:pt>
                <c:pt idx="2">
                  <c:v>13.215</c:v>
                </c:pt>
              </c:numCache>
            </c:numRef>
          </c:yVal>
          <c:smooth val="1"/>
          <c:extLst>
            <c:ext xmlns:c16="http://schemas.microsoft.com/office/drawing/2014/chart" uri="{C3380CC4-5D6E-409C-BE32-E72D297353CC}">
              <c16:uniqueId val="{00000002-C3F1-488C-A05E-8C530C74F4AA}"/>
            </c:ext>
          </c:extLst>
        </c:ser>
        <c:dLbls>
          <c:showLegendKey val="0"/>
          <c:showVal val="0"/>
          <c:showCatName val="0"/>
          <c:showSerName val="0"/>
          <c:showPercent val="0"/>
          <c:showBubbleSize val="0"/>
        </c:dLbls>
        <c:axId val="276029976"/>
        <c:axId val="276035072"/>
      </c:scatterChart>
      <c:valAx>
        <c:axId val="27602997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dirty="0"/>
                  <a:t>cutting speed (m/min)</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6035072"/>
        <c:crosses val="autoZero"/>
        <c:crossBetween val="midCat"/>
      </c:valAx>
      <c:valAx>
        <c:axId val="27603507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dirty="0"/>
                  <a:t>Roughness</a:t>
                </a:r>
                <a:r>
                  <a:rPr lang="en-IN" baseline="0" dirty="0"/>
                  <a:t> (micro mm)</a:t>
                </a:r>
                <a:r>
                  <a:rPr lang="en-IN" dirty="0"/>
                  <a:t> </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6029976"/>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b="1">
          <a:solidFill>
            <a:schemeClr val="tx1"/>
          </a:solidFill>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IN" dirty="0"/>
              <a:t>cutting speed (m/min) vs </a:t>
            </a:r>
            <a:r>
              <a:rPr lang="en-IN" sz="1400" b="1" i="0" u="none" strike="noStrike" baseline="0" dirty="0">
                <a:effectLst/>
              </a:rPr>
              <a:t>roughness </a:t>
            </a:r>
          </a:p>
          <a:p>
            <a:pPr>
              <a:defRPr/>
            </a:pPr>
            <a:r>
              <a:rPr lang="en-IN" sz="1400" b="1" i="0" u="none" strike="noStrike" baseline="0" dirty="0">
                <a:effectLst/>
              </a:rPr>
              <a:t>(micro mm) </a:t>
            </a:r>
          </a:p>
          <a:p>
            <a:pPr>
              <a:defRPr/>
            </a:pPr>
            <a:r>
              <a:rPr lang="en-IN" dirty="0"/>
              <a:t>176mm/min feed</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scatterChart>
        <c:scatterStyle val="smoothMarker"/>
        <c:varyColors val="0"/>
        <c:ser>
          <c:idx val="0"/>
          <c:order val="0"/>
          <c:tx>
            <c:v>3.5</c:v>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Sheet2!$C$10:$C$12</c:f>
              <c:numCache>
                <c:formatCode>General</c:formatCode>
                <c:ptCount val="3"/>
                <c:pt idx="0">
                  <c:v>13.188000000000001</c:v>
                </c:pt>
                <c:pt idx="1">
                  <c:v>17.709599999999998</c:v>
                </c:pt>
                <c:pt idx="2">
                  <c:v>24.868800000000004</c:v>
                </c:pt>
              </c:numCache>
            </c:numRef>
          </c:xVal>
          <c:yVal>
            <c:numRef>
              <c:f>Sheet2!$L$10:$L$12</c:f>
              <c:numCache>
                <c:formatCode>General</c:formatCode>
                <c:ptCount val="3"/>
                <c:pt idx="0">
                  <c:v>4.8472</c:v>
                </c:pt>
                <c:pt idx="1">
                  <c:v>6.5753999999999992</c:v>
                </c:pt>
                <c:pt idx="2">
                  <c:v>5.2938000000000001</c:v>
                </c:pt>
              </c:numCache>
            </c:numRef>
          </c:yVal>
          <c:smooth val="1"/>
          <c:extLst>
            <c:ext xmlns:c16="http://schemas.microsoft.com/office/drawing/2014/chart" uri="{C3380CC4-5D6E-409C-BE32-E72D297353CC}">
              <c16:uniqueId val="{00000000-6359-4BE8-89C8-F7F4C426241E}"/>
            </c:ext>
          </c:extLst>
        </c:ser>
        <c:ser>
          <c:idx val="1"/>
          <c:order val="1"/>
          <c:tx>
            <c:v>5</c:v>
          </c:tx>
          <c:spPr>
            <a:ln w="19050" cap="rnd">
              <a:solidFill>
                <a:schemeClr val="accent4"/>
              </a:solidFill>
              <a:round/>
            </a:ln>
            <a:effectLst/>
          </c:spPr>
          <c:marker>
            <c:symbol val="circle"/>
            <c:size val="5"/>
            <c:spPr>
              <a:solidFill>
                <a:schemeClr val="accent4"/>
              </a:solidFill>
              <a:ln w="9525">
                <a:solidFill>
                  <a:schemeClr val="accent4"/>
                </a:solidFill>
              </a:ln>
              <a:effectLst/>
            </c:spPr>
          </c:marker>
          <c:xVal>
            <c:numRef>
              <c:f>Sheet1!$C$10:$C$12</c:f>
              <c:numCache>
                <c:formatCode>General</c:formatCode>
                <c:ptCount val="3"/>
                <c:pt idx="0">
                  <c:v>13.188000000000001</c:v>
                </c:pt>
                <c:pt idx="1">
                  <c:v>17.709599999999998</c:v>
                </c:pt>
                <c:pt idx="2">
                  <c:v>24.868800000000004</c:v>
                </c:pt>
              </c:numCache>
            </c:numRef>
          </c:xVal>
          <c:yVal>
            <c:numRef>
              <c:f>Sheet1!$L$10:$L$12</c:f>
              <c:numCache>
                <c:formatCode>General</c:formatCode>
                <c:ptCount val="3"/>
                <c:pt idx="0">
                  <c:v>10.250249999999999</c:v>
                </c:pt>
                <c:pt idx="1">
                  <c:v>8.0190000000000001</c:v>
                </c:pt>
                <c:pt idx="2">
                  <c:v>6.1967499999999998</c:v>
                </c:pt>
              </c:numCache>
            </c:numRef>
          </c:yVal>
          <c:smooth val="1"/>
          <c:extLst>
            <c:ext xmlns:c16="http://schemas.microsoft.com/office/drawing/2014/chart" uri="{C3380CC4-5D6E-409C-BE32-E72D297353CC}">
              <c16:uniqueId val="{00000002-6359-4BE8-89C8-F7F4C426241E}"/>
            </c:ext>
          </c:extLst>
        </c:ser>
        <c:dLbls>
          <c:showLegendKey val="0"/>
          <c:showVal val="0"/>
          <c:showCatName val="0"/>
          <c:showSerName val="0"/>
          <c:showPercent val="0"/>
          <c:showBubbleSize val="0"/>
        </c:dLbls>
        <c:axId val="276036640"/>
        <c:axId val="276029192"/>
      </c:scatterChart>
      <c:valAx>
        <c:axId val="27603664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dirty="0"/>
                  <a:t>cutting speed (m/min)</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6029192"/>
        <c:crosses val="autoZero"/>
        <c:crossBetween val="midCat"/>
      </c:valAx>
      <c:valAx>
        <c:axId val="27602919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dirty="0"/>
                  <a:t>Roughness</a:t>
                </a:r>
                <a:r>
                  <a:rPr lang="en-US" baseline="0" dirty="0"/>
                  <a:t> (micro mm)</a:t>
                </a:r>
                <a:endParaRPr lang="en-IN" dirty="0"/>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6036640"/>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b="1">
          <a:solidFill>
            <a:schemeClr val="tx1"/>
          </a:solidFill>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IN" dirty="0"/>
              <a:t>Cutting Speed (m/min) Vs Chip thickness (micro m)</a:t>
            </a:r>
          </a:p>
          <a:p>
            <a:pPr>
              <a:defRPr/>
            </a:pPr>
            <a:r>
              <a:rPr lang="en-IN" dirty="0"/>
              <a:t>20mm/min feed</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scatterChart>
        <c:scatterStyle val="smoothMarker"/>
        <c:varyColors val="0"/>
        <c:ser>
          <c:idx val="0"/>
          <c:order val="0"/>
          <c:tx>
            <c:v>3.75</c:v>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Sheet2!$C$4:$C$6</c:f>
              <c:numCache>
                <c:formatCode>General</c:formatCode>
                <c:ptCount val="3"/>
                <c:pt idx="0">
                  <c:v>13</c:v>
                </c:pt>
                <c:pt idx="1">
                  <c:v>18</c:v>
                </c:pt>
                <c:pt idx="2">
                  <c:v>25</c:v>
                </c:pt>
              </c:numCache>
            </c:numRef>
          </c:xVal>
          <c:yVal>
            <c:numRef>
              <c:f>Sheet2!$O$4:$O$6</c:f>
              <c:numCache>
                <c:formatCode>General</c:formatCode>
                <c:ptCount val="3"/>
                <c:pt idx="0">
                  <c:v>0.54</c:v>
                </c:pt>
                <c:pt idx="1">
                  <c:v>0.64</c:v>
                </c:pt>
                <c:pt idx="2">
                  <c:v>0.56000000000000005</c:v>
                </c:pt>
              </c:numCache>
            </c:numRef>
          </c:yVal>
          <c:smooth val="1"/>
          <c:extLst>
            <c:ext xmlns:c16="http://schemas.microsoft.com/office/drawing/2014/chart" uri="{C3380CC4-5D6E-409C-BE32-E72D297353CC}">
              <c16:uniqueId val="{00000000-F464-4D31-B072-9B6DAC09A318}"/>
            </c:ext>
          </c:extLst>
        </c:ser>
        <c:ser>
          <c:idx val="1"/>
          <c:order val="1"/>
          <c:tx>
            <c:v>5</c:v>
          </c:tx>
          <c:spPr>
            <a:ln w="19050" cap="rnd">
              <a:solidFill>
                <a:schemeClr val="accent4"/>
              </a:solidFill>
              <a:round/>
            </a:ln>
            <a:effectLst/>
          </c:spPr>
          <c:marker>
            <c:symbol val="circle"/>
            <c:size val="5"/>
            <c:spPr>
              <a:solidFill>
                <a:schemeClr val="accent4"/>
              </a:solidFill>
              <a:ln w="9525">
                <a:solidFill>
                  <a:schemeClr val="accent4"/>
                </a:solidFill>
              </a:ln>
              <a:effectLst/>
            </c:spPr>
          </c:marker>
          <c:xVal>
            <c:numRef>
              <c:f>Sheet1!$C$4:$C$6</c:f>
              <c:numCache>
                <c:formatCode>General</c:formatCode>
                <c:ptCount val="3"/>
                <c:pt idx="0">
                  <c:v>13</c:v>
                </c:pt>
                <c:pt idx="1">
                  <c:v>18</c:v>
                </c:pt>
                <c:pt idx="2">
                  <c:v>25</c:v>
                </c:pt>
              </c:numCache>
            </c:numRef>
          </c:xVal>
          <c:yVal>
            <c:numRef>
              <c:f>Sheet1!$O$4:$O$6</c:f>
              <c:numCache>
                <c:formatCode>General</c:formatCode>
                <c:ptCount val="3"/>
                <c:pt idx="0">
                  <c:v>0.72</c:v>
                </c:pt>
                <c:pt idx="1">
                  <c:v>0.88</c:v>
                </c:pt>
                <c:pt idx="2">
                  <c:v>0.84000000000000008</c:v>
                </c:pt>
              </c:numCache>
            </c:numRef>
          </c:yVal>
          <c:smooth val="1"/>
          <c:extLst>
            <c:ext xmlns:c16="http://schemas.microsoft.com/office/drawing/2014/chart" uri="{C3380CC4-5D6E-409C-BE32-E72D297353CC}">
              <c16:uniqueId val="{00000001-F464-4D31-B072-9B6DAC09A318}"/>
            </c:ext>
          </c:extLst>
        </c:ser>
        <c:dLbls>
          <c:showLegendKey val="0"/>
          <c:showVal val="0"/>
          <c:showCatName val="0"/>
          <c:showSerName val="0"/>
          <c:showPercent val="0"/>
          <c:showBubbleSize val="0"/>
        </c:dLbls>
        <c:axId val="276031936"/>
        <c:axId val="276032328"/>
      </c:scatterChart>
      <c:valAx>
        <c:axId val="27603193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dirty="0"/>
                  <a:t>cutting speed (m/min)</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6032328"/>
        <c:crosses val="autoZero"/>
        <c:crossBetween val="midCat"/>
      </c:valAx>
      <c:valAx>
        <c:axId val="27603232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dirty="0"/>
                  <a:t>chip thickness (micro m)</a:t>
                </a:r>
              </a:p>
              <a:p>
                <a:pPr>
                  <a:defRPr/>
                </a:pPr>
                <a:endParaRPr lang="en-IN" dirty="0"/>
              </a:p>
            </c:rich>
          </c:tx>
          <c:layout>
            <c:manualLayout>
              <c:xMode val="edge"/>
              <c:yMode val="edge"/>
              <c:x val="2.5101421381711363E-2"/>
              <c:y val="0.17980767797764685"/>
            </c:manualLayout>
          </c:layout>
          <c:overlay val="0"/>
          <c:spPr>
            <a:noFill/>
            <a:ln>
              <a:noFill/>
            </a:ln>
            <a:effectLst/>
          </c:spPr>
          <c:txPr>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6031936"/>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noFill/>
    <a:ln>
      <a:noFill/>
    </a:ln>
    <a:effectLst/>
  </c:spPr>
  <c:txPr>
    <a:bodyPr/>
    <a:lstStyle/>
    <a:p>
      <a:pPr>
        <a:defRPr b="1">
          <a:solidFill>
            <a:schemeClr val="tx1"/>
          </a:solidFill>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IN" dirty="0"/>
              <a:t>Cutting Speed (m/min) Vs Chip thickness (micro m)</a:t>
            </a:r>
          </a:p>
          <a:p>
            <a:pPr>
              <a:defRPr/>
            </a:pPr>
            <a:r>
              <a:rPr lang="en-IN" dirty="0"/>
              <a:t> 50mm/min feed</a:t>
            </a:r>
          </a:p>
        </c:rich>
      </c:tx>
      <c:layout>
        <c:manualLayout>
          <c:xMode val="edge"/>
          <c:yMode val="edge"/>
          <c:x val="0.14689177993383479"/>
          <c:y val="7.2024862755773328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scatterChart>
        <c:scatterStyle val="smoothMarker"/>
        <c:varyColors val="0"/>
        <c:ser>
          <c:idx val="0"/>
          <c:order val="0"/>
          <c:tx>
            <c:v>3.75</c:v>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Sheet2!$C$7:$C$9</c:f>
              <c:numCache>
                <c:formatCode>General</c:formatCode>
                <c:ptCount val="3"/>
                <c:pt idx="0">
                  <c:v>13</c:v>
                </c:pt>
                <c:pt idx="1">
                  <c:v>18</c:v>
                </c:pt>
                <c:pt idx="2">
                  <c:v>25</c:v>
                </c:pt>
              </c:numCache>
            </c:numRef>
          </c:xVal>
          <c:yVal>
            <c:numRef>
              <c:f>Sheet2!$O$7:$O$9</c:f>
              <c:numCache>
                <c:formatCode>General</c:formatCode>
                <c:ptCount val="3"/>
                <c:pt idx="0">
                  <c:v>1.03</c:v>
                </c:pt>
                <c:pt idx="1">
                  <c:v>0.45</c:v>
                </c:pt>
                <c:pt idx="2">
                  <c:v>0.97</c:v>
                </c:pt>
              </c:numCache>
            </c:numRef>
          </c:yVal>
          <c:smooth val="1"/>
          <c:extLst>
            <c:ext xmlns:c16="http://schemas.microsoft.com/office/drawing/2014/chart" uri="{C3380CC4-5D6E-409C-BE32-E72D297353CC}">
              <c16:uniqueId val="{00000000-2113-4694-8159-362D7CFAE980}"/>
            </c:ext>
          </c:extLst>
        </c:ser>
        <c:ser>
          <c:idx val="1"/>
          <c:order val="1"/>
          <c:tx>
            <c:v>5</c:v>
          </c:tx>
          <c:spPr>
            <a:ln w="19050" cap="rnd">
              <a:solidFill>
                <a:schemeClr val="accent4"/>
              </a:solidFill>
              <a:round/>
            </a:ln>
            <a:effectLst/>
          </c:spPr>
          <c:marker>
            <c:symbol val="circle"/>
            <c:size val="5"/>
            <c:spPr>
              <a:solidFill>
                <a:schemeClr val="accent4"/>
              </a:solidFill>
              <a:ln w="9525">
                <a:solidFill>
                  <a:schemeClr val="accent4"/>
                </a:solidFill>
              </a:ln>
              <a:effectLst/>
            </c:spPr>
          </c:marker>
          <c:xVal>
            <c:numRef>
              <c:f>Sheet1!$C$7:$C$9</c:f>
              <c:numCache>
                <c:formatCode>General</c:formatCode>
                <c:ptCount val="3"/>
                <c:pt idx="0">
                  <c:v>13</c:v>
                </c:pt>
                <c:pt idx="1">
                  <c:v>18</c:v>
                </c:pt>
                <c:pt idx="2">
                  <c:v>25</c:v>
                </c:pt>
              </c:numCache>
            </c:numRef>
          </c:xVal>
          <c:yVal>
            <c:numRef>
              <c:f>Sheet1!$O$7:$O$9</c:f>
              <c:numCache>
                <c:formatCode>General</c:formatCode>
                <c:ptCount val="3"/>
                <c:pt idx="0">
                  <c:v>0.76</c:v>
                </c:pt>
                <c:pt idx="1">
                  <c:v>0.73</c:v>
                </c:pt>
                <c:pt idx="2">
                  <c:v>0.3</c:v>
                </c:pt>
              </c:numCache>
            </c:numRef>
          </c:yVal>
          <c:smooth val="1"/>
          <c:extLst>
            <c:ext xmlns:c16="http://schemas.microsoft.com/office/drawing/2014/chart" uri="{C3380CC4-5D6E-409C-BE32-E72D297353CC}">
              <c16:uniqueId val="{00000001-2113-4694-8159-362D7CFAE980}"/>
            </c:ext>
          </c:extLst>
        </c:ser>
        <c:dLbls>
          <c:showLegendKey val="0"/>
          <c:showVal val="0"/>
          <c:showCatName val="0"/>
          <c:showSerName val="0"/>
          <c:showPercent val="0"/>
          <c:showBubbleSize val="0"/>
        </c:dLbls>
        <c:axId val="276034680"/>
        <c:axId val="276035464"/>
      </c:scatterChart>
      <c:valAx>
        <c:axId val="27603468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dirty="0"/>
                  <a:t>Cutting Speed (m/min)</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6035464"/>
        <c:crosses val="autoZero"/>
        <c:crossBetween val="midCat"/>
      </c:valAx>
      <c:valAx>
        <c:axId val="27603546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dirty="0"/>
                  <a:t>chip thickness (micro</a:t>
                </a:r>
                <a:r>
                  <a:rPr lang="en-IN" baseline="0" dirty="0"/>
                  <a:t> </a:t>
                </a:r>
                <a:r>
                  <a:rPr lang="en-IN" dirty="0"/>
                  <a:t>m)</a:t>
                </a:r>
              </a:p>
            </c:rich>
          </c:tx>
          <c:layout>
            <c:manualLayout>
              <c:xMode val="edge"/>
              <c:yMode val="edge"/>
              <c:x val="1.6428335074909328E-2"/>
              <c:y val="0.17219039029523817"/>
            </c:manualLayout>
          </c:layout>
          <c:overlay val="0"/>
          <c:spPr>
            <a:noFill/>
            <a:ln>
              <a:noFill/>
            </a:ln>
            <a:effectLst/>
          </c:spPr>
          <c:txPr>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6034680"/>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noFill/>
    <a:ln>
      <a:noFill/>
    </a:ln>
    <a:effectLst/>
  </c:spPr>
  <c:txPr>
    <a:bodyPr/>
    <a:lstStyle/>
    <a:p>
      <a:pPr>
        <a:defRPr b="1">
          <a:solidFill>
            <a:schemeClr val="tx1"/>
          </a:solidFill>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IN" dirty="0"/>
              <a:t>Cutting Speed Vs Chip thickness (micro m)</a:t>
            </a:r>
          </a:p>
          <a:p>
            <a:pPr>
              <a:defRPr/>
            </a:pPr>
            <a:r>
              <a:rPr lang="en-IN" dirty="0"/>
              <a:t>176mm/min feed</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scatterChart>
        <c:scatterStyle val="smoothMarker"/>
        <c:varyColors val="0"/>
        <c:ser>
          <c:idx val="0"/>
          <c:order val="0"/>
          <c:tx>
            <c:v>3.75</c:v>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Sheet2!$C$10:$C$12</c:f>
              <c:numCache>
                <c:formatCode>General</c:formatCode>
                <c:ptCount val="3"/>
                <c:pt idx="0">
                  <c:v>13</c:v>
                </c:pt>
                <c:pt idx="1">
                  <c:v>18</c:v>
                </c:pt>
                <c:pt idx="2">
                  <c:v>25</c:v>
                </c:pt>
              </c:numCache>
            </c:numRef>
          </c:xVal>
          <c:yVal>
            <c:numRef>
              <c:f>Sheet2!$O$10:$O$12</c:f>
              <c:numCache>
                <c:formatCode>General</c:formatCode>
                <c:ptCount val="3"/>
                <c:pt idx="0">
                  <c:v>0.91</c:v>
                </c:pt>
                <c:pt idx="1">
                  <c:v>0.56000000000000005</c:v>
                </c:pt>
                <c:pt idx="2">
                  <c:v>0.8</c:v>
                </c:pt>
              </c:numCache>
            </c:numRef>
          </c:yVal>
          <c:smooth val="1"/>
          <c:extLst>
            <c:ext xmlns:c16="http://schemas.microsoft.com/office/drawing/2014/chart" uri="{C3380CC4-5D6E-409C-BE32-E72D297353CC}">
              <c16:uniqueId val="{00000000-3183-4EDB-8E2D-52CECA6FF007}"/>
            </c:ext>
          </c:extLst>
        </c:ser>
        <c:ser>
          <c:idx val="1"/>
          <c:order val="1"/>
          <c:tx>
            <c:v>5</c:v>
          </c:tx>
          <c:spPr>
            <a:ln w="19050" cap="rnd">
              <a:solidFill>
                <a:schemeClr val="accent4"/>
              </a:solidFill>
              <a:round/>
            </a:ln>
            <a:effectLst/>
          </c:spPr>
          <c:marker>
            <c:symbol val="circle"/>
            <c:size val="5"/>
            <c:spPr>
              <a:solidFill>
                <a:schemeClr val="accent4"/>
              </a:solidFill>
              <a:ln w="9525">
                <a:solidFill>
                  <a:schemeClr val="accent4"/>
                </a:solidFill>
              </a:ln>
              <a:effectLst/>
            </c:spPr>
          </c:marker>
          <c:xVal>
            <c:numRef>
              <c:f>Sheet1!$C$10:$C$12</c:f>
              <c:numCache>
                <c:formatCode>General</c:formatCode>
                <c:ptCount val="3"/>
                <c:pt idx="0">
                  <c:v>13</c:v>
                </c:pt>
                <c:pt idx="1">
                  <c:v>18</c:v>
                </c:pt>
                <c:pt idx="2">
                  <c:v>25</c:v>
                </c:pt>
              </c:numCache>
            </c:numRef>
          </c:xVal>
          <c:yVal>
            <c:numRef>
              <c:f>Sheet1!$O$10:$O$12</c:f>
              <c:numCache>
                <c:formatCode>General</c:formatCode>
                <c:ptCount val="3"/>
                <c:pt idx="0">
                  <c:v>1</c:v>
                </c:pt>
                <c:pt idx="1">
                  <c:v>0.9</c:v>
                </c:pt>
                <c:pt idx="2">
                  <c:v>0.54</c:v>
                </c:pt>
              </c:numCache>
            </c:numRef>
          </c:yVal>
          <c:smooth val="1"/>
          <c:extLst>
            <c:ext xmlns:c16="http://schemas.microsoft.com/office/drawing/2014/chart" uri="{C3380CC4-5D6E-409C-BE32-E72D297353CC}">
              <c16:uniqueId val="{00000001-3183-4EDB-8E2D-52CECA6FF007}"/>
            </c:ext>
          </c:extLst>
        </c:ser>
        <c:dLbls>
          <c:showLegendKey val="0"/>
          <c:showVal val="0"/>
          <c:showCatName val="0"/>
          <c:showSerName val="0"/>
          <c:showPercent val="0"/>
          <c:showBubbleSize val="0"/>
        </c:dLbls>
        <c:axId val="276033504"/>
        <c:axId val="276033112"/>
      </c:scatterChart>
      <c:valAx>
        <c:axId val="276033504"/>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dirty="0"/>
                  <a:t>cutting speed (m/min)</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6033112"/>
        <c:crosses val="autoZero"/>
        <c:crossBetween val="midCat"/>
      </c:valAx>
      <c:valAx>
        <c:axId val="27603311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dirty="0"/>
                  <a:t>Chip thickness (micro m)</a:t>
                </a:r>
              </a:p>
            </c:rich>
          </c:tx>
          <c:layout>
            <c:manualLayout>
              <c:xMode val="edge"/>
              <c:yMode val="edge"/>
              <c:x val="1.9714002089891193E-2"/>
              <c:y val="0.1591690005745322"/>
            </c:manualLayout>
          </c:layout>
          <c:overlay val="0"/>
          <c:spPr>
            <a:noFill/>
            <a:ln>
              <a:noFill/>
            </a:ln>
            <a:effectLst/>
          </c:spPr>
          <c:txPr>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6033504"/>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noFill/>
    <a:ln>
      <a:noFill/>
    </a:ln>
    <a:effectLst/>
  </c:spPr>
  <c:txPr>
    <a:bodyPr/>
    <a:lstStyle/>
    <a:p>
      <a:pPr>
        <a:defRPr b="1">
          <a:solidFill>
            <a:schemeClr val="tx1"/>
          </a:solidFill>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dirty="0"/>
              <a:t>Feed (mm/min) Vs Chip thickness (micro</a:t>
            </a:r>
            <a:r>
              <a:rPr lang="en-US" baseline="0" dirty="0"/>
              <a:t> m)</a:t>
            </a:r>
            <a:endParaRPr lang="en-US" dirty="0"/>
          </a:p>
          <a:p>
            <a:pPr>
              <a:defRPr/>
            </a:pPr>
            <a:r>
              <a:rPr lang="en-US" dirty="0"/>
              <a:t>cutting speed =13m/min</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scatterChart>
        <c:scatterStyle val="smoothMarker"/>
        <c:varyColors val="0"/>
        <c:ser>
          <c:idx val="0"/>
          <c:order val="0"/>
          <c:tx>
            <c:v>3.75</c:v>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(Sheet2!$D$4,Sheet2!$D$7,Sheet2!$D$10)</c:f>
              <c:numCache>
                <c:formatCode>General</c:formatCode>
                <c:ptCount val="3"/>
                <c:pt idx="0">
                  <c:v>20</c:v>
                </c:pt>
                <c:pt idx="1">
                  <c:v>50</c:v>
                </c:pt>
                <c:pt idx="2">
                  <c:v>176</c:v>
                </c:pt>
              </c:numCache>
            </c:numRef>
          </c:xVal>
          <c:yVal>
            <c:numRef>
              <c:f>(Sheet2!$O$4,Sheet2!$O$7,Sheet2!$O$10)</c:f>
              <c:numCache>
                <c:formatCode>General</c:formatCode>
                <c:ptCount val="3"/>
                <c:pt idx="0">
                  <c:v>0.54</c:v>
                </c:pt>
                <c:pt idx="1">
                  <c:v>1.03</c:v>
                </c:pt>
                <c:pt idx="2">
                  <c:v>0.91</c:v>
                </c:pt>
              </c:numCache>
            </c:numRef>
          </c:yVal>
          <c:smooth val="1"/>
          <c:extLst>
            <c:ext xmlns:c16="http://schemas.microsoft.com/office/drawing/2014/chart" uri="{C3380CC4-5D6E-409C-BE32-E72D297353CC}">
              <c16:uniqueId val="{00000000-962E-4FB8-B40E-3F1FBC62FCF2}"/>
            </c:ext>
          </c:extLst>
        </c:ser>
        <c:ser>
          <c:idx val="1"/>
          <c:order val="1"/>
          <c:tx>
            <c:v>5</c:v>
          </c:tx>
          <c:spPr>
            <a:ln w="19050" cap="rnd">
              <a:solidFill>
                <a:schemeClr val="accent4"/>
              </a:solidFill>
              <a:round/>
            </a:ln>
            <a:effectLst/>
          </c:spPr>
          <c:marker>
            <c:symbol val="circle"/>
            <c:size val="5"/>
            <c:spPr>
              <a:solidFill>
                <a:schemeClr val="accent4"/>
              </a:solidFill>
              <a:ln w="9525">
                <a:solidFill>
                  <a:schemeClr val="accent4"/>
                </a:solidFill>
              </a:ln>
              <a:effectLst/>
            </c:spPr>
          </c:marker>
          <c:xVal>
            <c:numRef>
              <c:f>(Sheet1!$D$4,Sheet1!$D$7,Sheet1!$D$10)</c:f>
              <c:numCache>
                <c:formatCode>General</c:formatCode>
                <c:ptCount val="3"/>
                <c:pt idx="0">
                  <c:v>20</c:v>
                </c:pt>
                <c:pt idx="1">
                  <c:v>50</c:v>
                </c:pt>
                <c:pt idx="2">
                  <c:v>176</c:v>
                </c:pt>
              </c:numCache>
            </c:numRef>
          </c:xVal>
          <c:yVal>
            <c:numRef>
              <c:f>(Sheet1!$O$4,Sheet1!$O$7,Sheet1!$O$10)</c:f>
              <c:numCache>
                <c:formatCode>General</c:formatCode>
                <c:ptCount val="3"/>
                <c:pt idx="0">
                  <c:v>0.72</c:v>
                </c:pt>
                <c:pt idx="1">
                  <c:v>0.76</c:v>
                </c:pt>
                <c:pt idx="2">
                  <c:v>1</c:v>
                </c:pt>
              </c:numCache>
            </c:numRef>
          </c:yVal>
          <c:smooth val="1"/>
          <c:extLst>
            <c:ext xmlns:c16="http://schemas.microsoft.com/office/drawing/2014/chart" uri="{C3380CC4-5D6E-409C-BE32-E72D297353CC}">
              <c16:uniqueId val="{00000001-962E-4FB8-B40E-3F1FBC62FCF2}"/>
            </c:ext>
          </c:extLst>
        </c:ser>
        <c:dLbls>
          <c:showLegendKey val="0"/>
          <c:showVal val="0"/>
          <c:showCatName val="0"/>
          <c:showSerName val="0"/>
          <c:showPercent val="0"/>
          <c:showBubbleSize val="0"/>
        </c:dLbls>
        <c:axId val="276034288"/>
        <c:axId val="310403544"/>
      </c:scatterChart>
      <c:valAx>
        <c:axId val="27603428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dirty="0"/>
                  <a:t>Feed (mm/min)</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0403544"/>
        <c:crosses val="autoZero"/>
        <c:crossBetween val="midCat"/>
      </c:valAx>
      <c:valAx>
        <c:axId val="31040354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dirty="0"/>
                  <a:t>Chip thickness (micro m)</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6034288"/>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noFill/>
    <a:ln>
      <a:noFill/>
    </a:ln>
    <a:effectLst/>
  </c:spPr>
  <c:txPr>
    <a:bodyPr/>
    <a:lstStyle/>
    <a:p>
      <a:pPr>
        <a:defRPr b="1">
          <a:solidFill>
            <a:schemeClr val="tx1"/>
          </a:solidFill>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IN" dirty="0"/>
              <a:t>Feed (mm/min) Vs Chip thickness (micro m)</a:t>
            </a:r>
          </a:p>
          <a:p>
            <a:pPr>
              <a:defRPr/>
            </a:pPr>
            <a:r>
              <a:rPr lang="en-IN" dirty="0"/>
              <a:t>cutting speed = 18m/min</a:t>
            </a:r>
          </a:p>
        </c:rich>
      </c:tx>
      <c:layout>
        <c:manualLayout>
          <c:xMode val="edge"/>
          <c:yMode val="edge"/>
          <c:x val="0.15562745382370929"/>
          <c:y val="3.3056817791386042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scatterChart>
        <c:scatterStyle val="smoothMarker"/>
        <c:varyColors val="0"/>
        <c:ser>
          <c:idx val="0"/>
          <c:order val="0"/>
          <c:tx>
            <c:v>3.75</c:v>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(Sheet2!$D$5,Sheet2!$D$8,Sheet2!$D$11)</c:f>
              <c:numCache>
                <c:formatCode>General</c:formatCode>
                <c:ptCount val="3"/>
                <c:pt idx="0">
                  <c:v>20</c:v>
                </c:pt>
                <c:pt idx="1">
                  <c:v>50</c:v>
                </c:pt>
                <c:pt idx="2">
                  <c:v>176</c:v>
                </c:pt>
              </c:numCache>
            </c:numRef>
          </c:xVal>
          <c:yVal>
            <c:numRef>
              <c:f>(Sheet2!$O$5,Sheet2!$O$8,Sheet2!$O$11)</c:f>
              <c:numCache>
                <c:formatCode>General</c:formatCode>
                <c:ptCount val="3"/>
                <c:pt idx="0">
                  <c:v>0.64</c:v>
                </c:pt>
                <c:pt idx="1">
                  <c:v>0.45</c:v>
                </c:pt>
                <c:pt idx="2">
                  <c:v>0.56000000000000005</c:v>
                </c:pt>
              </c:numCache>
            </c:numRef>
          </c:yVal>
          <c:smooth val="1"/>
          <c:extLst>
            <c:ext xmlns:c16="http://schemas.microsoft.com/office/drawing/2014/chart" uri="{C3380CC4-5D6E-409C-BE32-E72D297353CC}">
              <c16:uniqueId val="{00000000-02ED-4869-92D9-4CD41F12AFE5}"/>
            </c:ext>
          </c:extLst>
        </c:ser>
        <c:ser>
          <c:idx val="1"/>
          <c:order val="1"/>
          <c:tx>
            <c:v>5</c:v>
          </c:tx>
          <c:spPr>
            <a:ln w="19050" cap="rnd">
              <a:solidFill>
                <a:schemeClr val="accent4"/>
              </a:solidFill>
              <a:round/>
            </a:ln>
            <a:effectLst/>
          </c:spPr>
          <c:marker>
            <c:symbol val="circle"/>
            <c:size val="5"/>
            <c:spPr>
              <a:solidFill>
                <a:schemeClr val="accent4"/>
              </a:solidFill>
              <a:ln w="9525">
                <a:solidFill>
                  <a:schemeClr val="accent4"/>
                </a:solidFill>
              </a:ln>
              <a:effectLst/>
            </c:spPr>
          </c:marker>
          <c:xVal>
            <c:numRef>
              <c:f>(Sheet1!$D$5,Sheet1!$D$8,Sheet1!$D$11)</c:f>
              <c:numCache>
                <c:formatCode>General</c:formatCode>
                <c:ptCount val="3"/>
                <c:pt idx="0">
                  <c:v>20</c:v>
                </c:pt>
                <c:pt idx="1">
                  <c:v>50</c:v>
                </c:pt>
                <c:pt idx="2">
                  <c:v>176</c:v>
                </c:pt>
              </c:numCache>
            </c:numRef>
          </c:xVal>
          <c:yVal>
            <c:numRef>
              <c:f>(Sheet1!$O$5,Sheet1!$O$8,Sheet1!$O$11)</c:f>
              <c:numCache>
                <c:formatCode>General</c:formatCode>
                <c:ptCount val="3"/>
                <c:pt idx="0">
                  <c:v>0.88</c:v>
                </c:pt>
                <c:pt idx="1">
                  <c:v>0.73</c:v>
                </c:pt>
                <c:pt idx="2">
                  <c:v>0.9</c:v>
                </c:pt>
              </c:numCache>
            </c:numRef>
          </c:yVal>
          <c:smooth val="1"/>
          <c:extLst>
            <c:ext xmlns:c16="http://schemas.microsoft.com/office/drawing/2014/chart" uri="{C3380CC4-5D6E-409C-BE32-E72D297353CC}">
              <c16:uniqueId val="{00000001-02ED-4869-92D9-4CD41F12AFE5}"/>
            </c:ext>
          </c:extLst>
        </c:ser>
        <c:dLbls>
          <c:showLegendKey val="0"/>
          <c:showVal val="0"/>
          <c:showCatName val="0"/>
          <c:showSerName val="0"/>
          <c:showPercent val="0"/>
          <c:showBubbleSize val="0"/>
        </c:dLbls>
        <c:axId val="310403936"/>
        <c:axId val="310404328"/>
      </c:scatterChart>
      <c:valAx>
        <c:axId val="31040393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dirty="0"/>
                  <a:t>Feed (mm/min)</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0404328"/>
        <c:crosses val="autoZero"/>
        <c:crossBetween val="midCat"/>
      </c:valAx>
      <c:valAx>
        <c:axId val="31040432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dirty="0"/>
                  <a:t>Chip thickness (micro m)</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0403936"/>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noFill/>
    <a:ln>
      <a:noFill/>
    </a:ln>
    <a:effectLst/>
  </c:spPr>
  <c:txPr>
    <a:bodyPr/>
    <a:lstStyle/>
    <a:p>
      <a:pPr>
        <a:defRPr b="1">
          <a:solidFill>
            <a:schemeClr val="tx1"/>
          </a:solidFill>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IN" dirty="0"/>
              <a:t>Feed (mm/min) VS Chip thickness (micro</a:t>
            </a:r>
            <a:r>
              <a:rPr lang="en-IN" baseline="0" dirty="0"/>
              <a:t> m)</a:t>
            </a:r>
            <a:endParaRPr lang="en-IN" dirty="0"/>
          </a:p>
          <a:p>
            <a:pPr>
              <a:defRPr/>
            </a:pPr>
            <a:r>
              <a:rPr lang="en-IN" dirty="0"/>
              <a:t>cutting speed = 25m/min</a:t>
            </a:r>
          </a:p>
        </c:rich>
      </c:tx>
      <c:layout>
        <c:manualLayout>
          <c:xMode val="edge"/>
          <c:yMode val="edge"/>
          <c:x val="0.15720255346588233"/>
          <c:y val="2.3959922407583562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scatterChart>
        <c:scatterStyle val="smoothMarker"/>
        <c:varyColors val="0"/>
        <c:ser>
          <c:idx val="0"/>
          <c:order val="0"/>
          <c:tx>
            <c:v>3.75</c:v>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(Sheet2!$D$6,Sheet2!$D$9,Sheet2!$D$12)</c:f>
              <c:numCache>
                <c:formatCode>General</c:formatCode>
                <c:ptCount val="3"/>
                <c:pt idx="0">
                  <c:v>20</c:v>
                </c:pt>
                <c:pt idx="1">
                  <c:v>50</c:v>
                </c:pt>
                <c:pt idx="2">
                  <c:v>176</c:v>
                </c:pt>
              </c:numCache>
            </c:numRef>
          </c:xVal>
          <c:yVal>
            <c:numRef>
              <c:f>(Sheet2!$O$6,Sheet2!$O$9,Sheet2!$O$12)</c:f>
              <c:numCache>
                <c:formatCode>General</c:formatCode>
                <c:ptCount val="3"/>
                <c:pt idx="0">
                  <c:v>0.56000000000000005</c:v>
                </c:pt>
                <c:pt idx="1">
                  <c:v>0.97</c:v>
                </c:pt>
                <c:pt idx="2">
                  <c:v>0.8</c:v>
                </c:pt>
              </c:numCache>
            </c:numRef>
          </c:yVal>
          <c:smooth val="1"/>
          <c:extLst>
            <c:ext xmlns:c16="http://schemas.microsoft.com/office/drawing/2014/chart" uri="{C3380CC4-5D6E-409C-BE32-E72D297353CC}">
              <c16:uniqueId val="{00000000-F109-4639-8CBE-FAFE17FBE819}"/>
            </c:ext>
          </c:extLst>
        </c:ser>
        <c:ser>
          <c:idx val="1"/>
          <c:order val="1"/>
          <c:tx>
            <c:v>5</c:v>
          </c:tx>
          <c:spPr>
            <a:ln w="19050" cap="rnd">
              <a:solidFill>
                <a:schemeClr val="accent4"/>
              </a:solidFill>
              <a:round/>
            </a:ln>
            <a:effectLst/>
          </c:spPr>
          <c:marker>
            <c:symbol val="circle"/>
            <c:size val="5"/>
            <c:spPr>
              <a:solidFill>
                <a:schemeClr val="accent4"/>
              </a:solidFill>
              <a:ln w="9525">
                <a:solidFill>
                  <a:schemeClr val="accent4"/>
                </a:solidFill>
              </a:ln>
              <a:effectLst/>
            </c:spPr>
          </c:marker>
          <c:xVal>
            <c:numRef>
              <c:f>(Sheet1!$D$6,Sheet1!$D$9,Sheet1!$D$12)</c:f>
              <c:numCache>
                <c:formatCode>General</c:formatCode>
                <c:ptCount val="3"/>
                <c:pt idx="0">
                  <c:v>20</c:v>
                </c:pt>
                <c:pt idx="1">
                  <c:v>50</c:v>
                </c:pt>
                <c:pt idx="2">
                  <c:v>176</c:v>
                </c:pt>
              </c:numCache>
            </c:numRef>
          </c:xVal>
          <c:yVal>
            <c:numRef>
              <c:f>(Sheet1!$O$6,Sheet1!$O$9,Sheet1!$O$12)</c:f>
              <c:numCache>
                <c:formatCode>General</c:formatCode>
                <c:ptCount val="3"/>
                <c:pt idx="0">
                  <c:v>0.84000000000000008</c:v>
                </c:pt>
                <c:pt idx="1">
                  <c:v>0.3</c:v>
                </c:pt>
                <c:pt idx="2">
                  <c:v>0.54</c:v>
                </c:pt>
              </c:numCache>
            </c:numRef>
          </c:yVal>
          <c:smooth val="1"/>
          <c:extLst>
            <c:ext xmlns:c16="http://schemas.microsoft.com/office/drawing/2014/chart" uri="{C3380CC4-5D6E-409C-BE32-E72D297353CC}">
              <c16:uniqueId val="{00000001-F109-4639-8CBE-FAFE17FBE819}"/>
            </c:ext>
          </c:extLst>
        </c:ser>
        <c:dLbls>
          <c:showLegendKey val="0"/>
          <c:showVal val="0"/>
          <c:showCatName val="0"/>
          <c:showSerName val="0"/>
          <c:showPercent val="0"/>
          <c:showBubbleSize val="0"/>
        </c:dLbls>
        <c:axId val="310405896"/>
        <c:axId val="310401976"/>
      </c:scatterChart>
      <c:valAx>
        <c:axId val="31040589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dirty="0"/>
                  <a:t>Feed (mm/min)</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0401976"/>
        <c:crosses val="autoZero"/>
        <c:crossBetween val="midCat"/>
      </c:valAx>
      <c:valAx>
        <c:axId val="3104019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dirty="0"/>
                  <a:t>Chip thickness (micro m)</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0405896"/>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noFill/>
    <a:ln>
      <a:noFill/>
    </a:ln>
    <a:effectLst/>
  </c:spPr>
  <c:txPr>
    <a:bodyPr/>
    <a:lstStyle/>
    <a:p>
      <a:pPr>
        <a:defRPr b="1">
          <a:solidFill>
            <a:schemeClr val="tx1"/>
          </a:solidFill>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2">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9525" cap="rnd">
        <a:solidFill>
          <a:schemeClr val="phClr"/>
        </a:solidFill>
        <a:round/>
      </a:ln>
    </cs:spPr>
  </cs:dataPointLine>
  <cs:dataPointMarker>
    <cs:lnRef idx="0">
      <cs:styleClr val="auto"/>
    </cs:lnRef>
    <cs:fillRef idx="3">
      <cs:styleClr val="auto"/>
    </cs:fillRef>
    <cs:effectRef idx="2"/>
    <cs:fontRef idx="minor">
      <a:schemeClr val="tx2"/>
    </cs:fontRef>
    <cs:spPr>
      <a:ln w="9525">
        <a:solidFill>
          <a:schemeClr val="phClr"/>
        </a:solidFill>
        <a:round/>
      </a:ln>
    </cs:spPr>
  </cs:dataPointMarker>
  <cs:dataPointMarkerLayout symbol="circle" size="5"/>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9525" cap="rnd">
        <a:solidFill>
          <a:schemeClr val="phClr"/>
        </a:solidFill>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spPr>
      <a:ln>
        <a:solidFill>
          <a:schemeClr val="tx2">
            <a:lumMod val="40000"/>
            <a:lumOff val="60000"/>
          </a:schemeClr>
        </a:solidFill>
      </a:ln>
    </cs:spPr>
    <cs:defRPr sz="900" kern="1200"/>
  </cs:valueAxis>
  <cs:wall>
    <cs:lnRef idx="0"/>
    <cs:fillRef idx="0"/>
    <cs:effectRef idx="0"/>
    <cs:fontRef idx="minor">
      <a:schemeClr val="tx2"/>
    </cs:fontRef>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6DB883-4018-424B-9B7B-3BECEB9A15AC}" type="datetimeFigureOut">
              <a:rPr lang="en-IN" smtClean="0"/>
              <a:t>16/08/2021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72B001-1E1B-4255-ACB8-E36201D5AED6}" type="slidenum">
              <a:rPr lang="en-IN" smtClean="0"/>
              <a:t>‹#›</a:t>
            </a:fld>
            <a:endParaRPr lang="en-IN"/>
          </a:p>
        </p:txBody>
      </p:sp>
    </p:spTree>
    <p:extLst>
      <p:ext uri="{BB962C8B-B14F-4D97-AF65-F5344CB8AC3E}">
        <p14:creationId xmlns:p14="http://schemas.microsoft.com/office/powerpoint/2010/main" val="163386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a:xfrm>
            <a:off x="685800" y="4400550"/>
            <a:ext cx="5486400" cy="4743450"/>
          </a:xfrm>
        </p:spPr>
        <p:txBody>
          <a:bodyPr/>
          <a:lstStyle/>
          <a:p>
            <a:r>
              <a:rPr lang="en-US" b="1" dirty="0"/>
              <a:t>Student Notes:</a:t>
            </a:r>
          </a:p>
          <a:p>
            <a:endParaRPr lang="en-US" dirty="0"/>
          </a:p>
          <a:p>
            <a:r>
              <a:rPr lang="en-US" dirty="0"/>
              <a:t>When we</a:t>
            </a:r>
            <a:r>
              <a:rPr lang="en-US" baseline="0" dirty="0"/>
              <a:t> order a pizza, we bother about the quality of the pizza and the delivery time. We are not bothered about how this is delivered; or, how it is prepared. Vendor might have used a gas fired or an electric oven. Vendor might have used a two or a four wheeler to deliver. As a customer, we only bother about the quality of the pizza and how quickly it is delivered. We bother about the output of a ‘service’ rendered by the vendor. Vendor has to focus on this output. This is the ‘value’ offered by the vendor to the customer.</a:t>
            </a:r>
            <a:endParaRPr lang="en-US" dirty="0"/>
          </a:p>
        </p:txBody>
      </p:sp>
      <p:sp>
        <p:nvSpPr>
          <p:cNvPr id="4" name="Slide Number Placeholder 3"/>
          <p:cNvSpPr>
            <a:spLocks noGrp="1"/>
          </p:cNvSpPr>
          <p:nvPr>
            <p:ph type="sldNum" sz="quarter" idx="10"/>
          </p:nvPr>
        </p:nvSpPr>
        <p:spPr/>
        <p:txBody>
          <a:bodyPr/>
          <a:lstStyle/>
          <a:p>
            <a:fld id="{0724495B-A6E1-4090-9905-50520AECE5F9}" type="slidenum">
              <a:rPr lang="en-GB" altLang="en-US" smtClean="0">
                <a:solidFill>
                  <a:prstClr val="black"/>
                </a:solidFill>
              </a:rPr>
              <a:pPr/>
              <a:t>1</a:t>
            </a:fld>
            <a:endParaRPr lang="en-GB" altLang="en-US" dirty="0">
              <a:solidFill>
                <a:prstClr val="black"/>
              </a:solidFill>
            </a:endParaRPr>
          </a:p>
        </p:txBody>
      </p:sp>
    </p:spTree>
    <p:extLst>
      <p:ext uri="{BB962C8B-B14F-4D97-AF65-F5344CB8AC3E}">
        <p14:creationId xmlns:p14="http://schemas.microsoft.com/office/powerpoint/2010/main" val="28694863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1" descr="ban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 y="5583235"/>
            <a:ext cx="12170833" cy="1289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18"/>
          <p:cNvSpPr>
            <a:spLocks noChangeArrowheads="1"/>
          </p:cNvSpPr>
          <p:nvPr/>
        </p:nvSpPr>
        <p:spPr bwMode="auto">
          <a:xfrm>
            <a:off x="0" y="0"/>
            <a:ext cx="12192000" cy="1752600"/>
          </a:xfrm>
          <a:prstGeom prst="rect">
            <a:avLst/>
          </a:prstGeom>
          <a:solidFill>
            <a:srgbClr val="335295"/>
          </a:solidFill>
          <a:ln w="9525">
            <a:noFill/>
            <a:miter lim="800000"/>
            <a:headEnd/>
            <a:tailEnd/>
          </a:ln>
        </p:spPr>
        <p:txBody>
          <a:bodyPr wrap="none" anchor="ctr"/>
          <a:lstStyle/>
          <a:p>
            <a:pPr>
              <a:defRPr/>
            </a:pPr>
            <a:endParaRPr lang="en-US" sz="1800">
              <a:solidFill>
                <a:srgbClr val="000000"/>
              </a:solidFill>
              <a:latin typeface="Arial" charset="0"/>
            </a:endParaRPr>
          </a:p>
        </p:txBody>
      </p:sp>
      <p:sp>
        <p:nvSpPr>
          <p:cNvPr id="5122" name="Rectangle 2"/>
          <p:cNvSpPr>
            <a:spLocks noGrp="1" noChangeArrowheads="1"/>
          </p:cNvSpPr>
          <p:nvPr>
            <p:ph type="ctrTitle"/>
          </p:nvPr>
        </p:nvSpPr>
        <p:spPr>
          <a:xfrm>
            <a:off x="914400" y="2286000"/>
            <a:ext cx="10363200" cy="1143000"/>
          </a:xfrm>
        </p:spPr>
        <p:txBody>
          <a:bodyPr/>
          <a:lstStyle>
            <a:lvl1pPr>
              <a:defRPr>
                <a:solidFill>
                  <a:srgbClr val="1B57B5"/>
                </a:solidFill>
                <a:latin typeface="Arial" panose="020B0604020202020204" pitchFamily="34" charset="0"/>
                <a:cs typeface="Arial" panose="020B0604020202020204" pitchFamily="34" charset="0"/>
              </a:defRPr>
            </a:lvl1pPr>
          </a:lstStyle>
          <a:p>
            <a:r>
              <a:rPr lang="en-US"/>
              <a:t>Click to edit Master title style</a:t>
            </a:r>
          </a:p>
        </p:txBody>
      </p:sp>
      <p:sp>
        <p:nvSpPr>
          <p:cNvPr id="5123" name="Rectangle 3"/>
          <p:cNvSpPr>
            <a:spLocks noGrp="1" noChangeArrowheads="1"/>
          </p:cNvSpPr>
          <p:nvPr>
            <p:ph type="subTitle" idx="1"/>
          </p:nvPr>
        </p:nvSpPr>
        <p:spPr>
          <a:xfrm>
            <a:off x="1828800" y="3810000"/>
            <a:ext cx="8534400" cy="1752600"/>
          </a:xfrm>
        </p:spPr>
        <p:txBody>
          <a:bodyPr/>
          <a:lstStyle>
            <a:lvl1pPr marL="0" indent="0" algn="ctr">
              <a:buFontTx/>
              <a:buNone/>
              <a:defRPr>
                <a:solidFill>
                  <a:schemeClr val="bg2"/>
                </a:solidFill>
                <a:latin typeface="Arial" panose="020B0604020202020204" pitchFamily="34" charset="0"/>
                <a:cs typeface="Arial" panose="020B0604020202020204" pitchFamily="34" charset="0"/>
              </a:defRPr>
            </a:lvl1pPr>
          </a:lstStyle>
          <a:p>
            <a:r>
              <a:rPr lang="en-US"/>
              <a:t>Click to edit Master subtitle style</a:t>
            </a:r>
          </a:p>
        </p:txBody>
      </p:sp>
    </p:spTree>
    <p:extLst>
      <p:ext uri="{BB962C8B-B14F-4D97-AF65-F5344CB8AC3E}">
        <p14:creationId xmlns:p14="http://schemas.microsoft.com/office/powerpoint/2010/main" val="1853290971"/>
      </p:ext>
    </p:extLst>
  </p:cSld>
  <p:clrMapOvr>
    <a:masterClrMapping/>
  </p:clrMapOvr>
  <p:transition>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p:nvCxnSpPr>
        <p:spPr>
          <a:xfrm>
            <a:off x="609600" y="1066800"/>
            <a:ext cx="109728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609600" y="274638"/>
            <a:ext cx="10972800" cy="792162"/>
          </a:xfrm>
        </p:spPr>
        <p:txBody>
          <a:bodyPr/>
          <a:lstStyle>
            <a:lvl1pPr>
              <a:defRPr sz="3200">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p:cNvSpPr>
            <a:spLocks noGrp="1"/>
          </p:cNvSpPr>
          <p:nvPr>
            <p:ph idx="1"/>
          </p:nvPr>
        </p:nvSpPr>
        <p:spPr>
          <a:xfrm>
            <a:off x="609600" y="1219203"/>
            <a:ext cx="10972800" cy="4906963"/>
          </a:xfrm>
        </p:spPr>
        <p:txBody>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Box 4"/>
          <p:cNvSpPr txBox="1"/>
          <p:nvPr/>
        </p:nvSpPr>
        <p:spPr>
          <a:xfrm>
            <a:off x="5067360" y="6291590"/>
            <a:ext cx="466794" cy="253916"/>
          </a:xfrm>
          <a:prstGeom prst="rect">
            <a:avLst/>
          </a:prstGeom>
          <a:noFill/>
        </p:spPr>
        <p:txBody>
          <a:bodyPr wrap="none" rtlCol="0">
            <a:spAutoFit/>
          </a:bodyPr>
          <a:lstStyle/>
          <a:p>
            <a:r>
              <a:rPr lang="en-US" sz="1050" i="1" dirty="0">
                <a:solidFill>
                  <a:srgbClr val="000000"/>
                </a:solidFill>
              </a:rPr>
              <a:t>v 1.2</a:t>
            </a:r>
          </a:p>
        </p:txBody>
      </p:sp>
    </p:spTree>
    <p:extLst>
      <p:ext uri="{BB962C8B-B14F-4D97-AF65-F5344CB8AC3E}">
        <p14:creationId xmlns:p14="http://schemas.microsoft.com/office/powerpoint/2010/main" val="528680841"/>
      </p:ext>
    </p:extLst>
  </p:cSld>
  <p:clrMapOvr>
    <a:overrideClrMapping bg1="lt1" tx1="dk1" bg2="lt2" tx2="dk2" accent1="accent1" accent2="accent2" accent3="accent3" accent4="accent4" accent5="accent5" accent6="accent6" hlink="hlink" folHlink="folHlink"/>
  </p:clrMapOvr>
  <p:transition>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1" descr="ban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 y="5583235"/>
            <a:ext cx="12170833" cy="1289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18"/>
          <p:cNvSpPr>
            <a:spLocks noChangeArrowheads="1"/>
          </p:cNvSpPr>
          <p:nvPr/>
        </p:nvSpPr>
        <p:spPr bwMode="auto">
          <a:xfrm>
            <a:off x="0" y="0"/>
            <a:ext cx="12192000" cy="1752600"/>
          </a:xfrm>
          <a:prstGeom prst="rect">
            <a:avLst/>
          </a:prstGeom>
          <a:solidFill>
            <a:srgbClr val="335295"/>
          </a:solidFill>
          <a:ln w="9525">
            <a:noFill/>
            <a:miter lim="800000"/>
            <a:headEnd/>
            <a:tailEnd/>
          </a:ln>
        </p:spPr>
        <p:txBody>
          <a:bodyPr wrap="none" anchor="ctr"/>
          <a:lstStyle/>
          <a:p>
            <a:pPr>
              <a:defRPr/>
            </a:pPr>
            <a:endParaRPr lang="en-US" sz="1800">
              <a:solidFill>
                <a:srgbClr val="000000"/>
              </a:solidFill>
              <a:latin typeface="Arial" charset="0"/>
            </a:endParaRPr>
          </a:p>
        </p:txBody>
      </p:sp>
      <p:sp>
        <p:nvSpPr>
          <p:cNvPr id="5122" name="Rectangle 2"/>
          <p:cNvSpPr>
            <a:spLocks noGrp="1" noChangeArrowheads="1"/>
          </p:cNvSpPr>
          <p:nvPr>
            <p:ph type="ctrTitle"/>
          </p:nvPr>
        </p:nvSpPr>
        <p:spPr>
          <a:xfrm>
            <a:off x="914400" y="2286000"/>
            <a:ext cx="10363200" cy="1143000"/>
          </a:xfrm>
        </p:spPr>
        <p:txBody>
          <a:bodyPr/>
          <a:lstStyle>
            <a:lvl1pPr>
              <a:defRPr>
                <a:solidFill>
                  <a:srgbClr val="1B57B5"/>
                </a:solidFill>
                <a:latin typeface="Arial" panose="020B0604020202020204" pitchFamily="34" charset="0"/>
                <a:cs typeface="Arial" panose="020B0604020202020204" pitchFamily="34" charset="0"/>
              </a:defRPr>
            </a:lvl1pPr>
          </a:lstStyle>
          <a:p>
            <a:r>
              <a:rPr lang="en-US"/>
              <a:t>Click to edit Master title style</a:t>
            </a:r>
          </a:p>
        </p:txBody>
      </p:sp>
      <p:sp>
        <p:nvSpPr>
          <p:cNvPr id="5123" name="Rectangle 3"/>
          <p:cNvSpPr>
            <a:spLocks noGrp="1" noChangeArrowheads="1"/>
          </p:cNvSpPr>
          <p:nvPr>
            <p:ph type="subTitle" idx="1"/>
          </p:nvPr>
        </p:nvSpPr>
        <p:spPr>
          <a:xfrm>
            <a:off x="1828800" y="3810000"/>
            <a:ext cx="8534400" cy="1752600"/>
          </a:xfrm>
        </p:spPr>
        <p:txBody>
          <a:bodyPr/>
          <a:lstStyle>
            <a:lvl1pPr marL="0" indent="0" algn="ctr">
              <a:buFontTx/>
              <a:buNone/>
              <a:defRPr>
                <a:solidFill>
                  <a:schemeClr val="bg2"/>
                </a:solidFill>
                <a:latin typeface="Arial" panose="020B0604020202020204" pitchFamily="34" charset="0"/>
                <a:cs typeface="Arial" panose="020B0604020202020204" pitchFamily="34" charset="0"/>
              </a:defRPr>
            </a:lvl1pPr>
          </a:lstStyle>
          <a:p>
            <a:r>
              <a:rPr lang="en-US"/>
              <a:t>Click to edit Master subtitle style</a:t>
            </a:r>
          </a:p>
        </p:txBody>
      </p:sp>
    </p:spTree>
    <p:extLst>
      <p:ext uri="{BB962C8B-B14F-4D97-AF65-F5344CB8AC3E}">
        <p14:creationId xmlns:p14="http://schemas.microsoft.com/office/powerpoint/2010/main" val="2494479208"/>
      </p:ext>
    </p:extLst>
  </p:cSld>
  <p:clrMapOvr>
    <a:masterClrMapping/>
  </p:clrMapOvr>
  <p:transition>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p:nvCxnSpPr>
        <p:spPr>
          <a:xfrm>
            <a:off x="609600" y="1066800"/>
            <a:ext cx="109728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609600" y="274638"/>
            <a:ext cx="10972800" cy="792162"/>
          </a:xfrm>
        </p:spPr>
        <p:txBody>
          <a:bodyPr/>
          <a:lstStyle>
            <a:lvl1pPr>
              <a:defRPr sz="3200">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p:cNvSpPr>
            <a:spLocks noGrp="1"/>
          </p:cNvSpPr>
          <p:nvPr>
            <p:ph idx="1"/>
          </p:nvPr>
        </p:nvSpPr>
        <p:spPr>
          <a:xfrm>
            <a:off x="609600" y="1219203"/>
            <a:ext cx="10972800" cy="4906963"/>
          </a:xfrm>
        </p:spPr>
        <p:txBody>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Box 4"/>
          <p:cNvSpPr txBox="1"/>
          <p:nvPr/>
        </p:nvSpPr>
        <p:spPr>
          <a:xfrm>
            <a:off x="5067360" y="6291590"/>
            <a:ext cx="466794" cy="253916"/>
          </a:xfrm>
          <a:prstGeom prst="rect">
            <a:avLst/>
          </a:prstGeom>
          <a:noFill/>
        </p:spPr>
        <p:txBody>
          <a:bodyPr wrap="none" rtlCol="0">
            <a:spAutoFit/>
          </a:bodyPr>
          <a:lstStyle/>
          <a:p>
            <a:r>
              <a:rPr lang="en-US" sz="1050" i="1" dirty="0">
                <a:solidFill>
                  <a:srgbClr val="000000"/>
                </a:solidFill>
              </a:rPr>
              <a:t>v 1.2</a:t>
            </a:r>
          </a:p>
        </p:txBody>
      </p:sp>
    </p:spTree>
    <p:extLst>
      <p:ext uri="{BB962C8B-B14F-4D97-AF65-F5344CB8AC3E}">
        <p14:creationId xmlns:p14="http://schemas.microsoft.com/office/powerpoint/2010/main" val="3024850648"/>
      </p:ext>
    </p:extLst>
  </p:cSld>
  <p:clrMapOvr>
    <a:overrideClrMapping bg1="lt1" tx1="dk1" bg2="lt2" tx2="dk2" accent1="accent1" accent2="accent2" accent3="accent3" accent4="accent4" accent5="accent5" accent6="accent6" hlink="hlink" folHlink="folHlink"/>
  </p:clrMapOvr>
  <p:transition>
    <p:wipe dir="d"/>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1" descr="ban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5568727"/>
            <a:ext cx="12189884" cy="1289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2" name="Rectangle 3"/>
          <p:cNvSpPr>
            <a:spLocks noGrp="1" noChangeArrowheads="1"/>
          </p:cNvSpPr>
          <p:nvPr>
            <p:ph type="body" idx="1"/>
          </p:nvPr>
        </p:nvSpPr>
        <p:spPr bwMode="auto">
          <a:xfrm>
            <a:off x="609600" y="1447800"/>
            <a:ext cx="10972800" cy="467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 name="Oval 4"/>
          <p:cNvSpPr>
            <a:spLocks noChangeArrowheads="1"/>
          </p:cNvSpPr>
          <p:nvPr/>
        </p:nvSpPr>
        <p:spPr bwMode="auto">
          <a:xfrm>
            <a:off x="0" y="6213364"/>
            <a:ext cx="914400" cy="304800"/>
          </a:xfrm>
          <a:prstGeom prst="ellipse">
            <a:avLst/>
          </a:prstGeom>
          <a:solidFill>
            <a:schemeClr val="bg1"/>
          </a:solidFill>
          <a:ln w="25400" algn="ctr">
            <a:solidFill>
              <a:schemeClr val="bg1"/>
            </a:solidFill>
            <a:round/>
            <a:headEnd/>
            <a:tailEnd/>
          </a:ln>
        </p:spPr>
        <p:txBody>
          <a:bodyPr lIns="0" tIns="0" rIns="0" bIns="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fld id="{68F38F93-EFB2-4D8E-B34E-D4180BE42A95}" type="slidenum">
              <a:rPr lang="en-US" altLang="en-US" sz="1600" b="1">
                <a:solidFill>
                  <a:srgbClr val="333399"/>
                </a:solidFill>
                <a:latin typeface="Calibri" panose="020F0502020204030204" pitchFamily="34" charset="0"/>
              </a:rPr>
              <a:pPr algn="ctr"/>
              <a:t>‹#›</a:t>
            </a:fld>
            <a:endParaRPr lang="en-US" altLang="en-US" sz="1800" b="1" dirty="0">
              <a:solidFill>
                <a:srgbClr val="333399"/>
              </a:solidFill>
              <a:latin typeface="Calibri" panose="020F0502020204030204" pitchFamily="34" charset="0"/>
            </a:endParaRPr>
          </a:p>
        </p:txBody>
      </p:sp>
    </p:spTree>
    <p:extLst>
      <p:ext uri="{BB962C8B-B14F-4D97-AF65-F5344CB8AC3E}">
        <p14:creationId xmlns:p14="http://schemas.microsoft.com/office/powerpoint/2010/main" val="1336162611"/>
      </p:ext>
    </p:extLst>
  </p:cSld>
  <p:clrMap bg1="lt1" tx1="dk1" bg2="lt2" tx2="dk2" accent1="accent1" accent2="accent2" accent3="accent3" accent4="accent4" accent5="accent5" accent6="accent6" hlink="hlink" folHlink="folHlink"/>
  <p:sldLayoutIdLst>
    <p:sldLayoutId id="2147483661" r:id="rId1"/>
    <p:sldLayoutId id="2147483662" r:id="rId2"/>
  </p:sldLayoutIdLst>
  <p:transition>
    <p:wipe dir="d"/>
  </p:transition>
  <p:txStyles>
    <p:titleStyle>
      <a:lvl1pPr algn="ctr" rtl="0" eaLnBrk="1" fontAlgn="base" hangingPunct="1">
        <a:spcBef>
          <a:spcPct val="0"/>
        </a:spcBef>
        <a:spcAft>
          <a:spcPct val="0"/>
        </a:spcAft>
        <a:defRPr sz="3200">
          <a:solidFill>
            <a:srgbClr val="1B57B5"/>
          </a:solidFill>
          <a:latin typeface="Arial" panose="020B0604020202020204" pitchFamily="34" charset="0"/>
          <a:ea typeface="+mj-ea"/>
          <a:cs typeface="Arial" panose="020B0604020202020204" pitchFamily="34" charset="0"/>
        </a:defRPr>
      </a:lvl1pPr>
      <a:lvl2pPr algn="ctr" rtl="0" eaLnBrk="1" fontAlgn="base" hangingPunct="1">
        <a:spcBef>
          <a:spcPct val="0"/>
        </a:spcBef>
        <a:spcAft>
          <a:spcPct val="0"/>
        </a:spcAft>
        <a:defRPr sz="3200">
          <a:solidFill>
            <a:srgbClr val="1B57B5"/>
          </a:solidFill>
          <a:latin typeface="Tahoma" pitchFamily="34" charset="0"/>
          <a:cs typeface="Tahoma" pitchFamily="34" charset="0"/>
        </a:defRPr>
      </a:lvl2pPr>
      <a:lvl3pPr algn="ctr" rtl="0" eaLnBrk="1" fontAlgn="base" hangingPunct="1">
        <a:spcBef>
          <a:spcPct val="0"/>
        </a:spcBef>
        <a:spcAft>
          <a:spcPct val="0"/>
        </a:spcAft>
        <a:defRPr sz="3200">
          <a:solidFill>
            <a:srgbClr val="1B57B5"/>
          </a:solidFill>
          <a:latin typeface="Tahoma" pitchFamily="34" charset="0"/>
          <a:cs typeface="Tahoma" pitchFamily="34" charset="0"/>
        </a:defRPr>
      </a:lvl3pPr>
      <a:lvl4pPr algn="ctr" rtl="0" eaLnBrk="1" fontAlgn="base" hangingPunct="1">
        <a:spcBef>
          <a:spcPct val="0"/>
        </a:spcBef>
        <a:spcAft>
          <a:spcPct val="0"/>
        </a:spcAft>
        <a:defRPr sz="3200">
          <a:solidFill>
            <a:srgbClr val="1B57B5"/>
          </a:solidFill>
          <a:latin typeface="Tahoma" pitchFamily="34" charset="0"/>
          <a:cs typeface="Tahoma" pitchFamily="34" charset="0"/>
        </a:defRPr>
      </a:lvl4pPr>
      <a:lvl5pPr algn="ctr" rtl="0" eaLnBrk="1" fontAlgn="base" hangingPunct="1">
        <a:spcBef>
          <a:spcPct val="0"/>
        </a:spcBef>
        <a:spcAft>
          <a:spcPct val="0"/>
        </a:spcAft>
        <a:defRPr sz="3200">
          <a:solidFill>
            <a:srgbClr val="1B57B5"/>
          </a:solidFill>
          <a:latin typeface="Tahoma" pitchFamily="34" charset="0"/>
          <a:cs typeface="Tahoma" pitchFamily="34" charset="0"/>
        </a:defRPr>
      </a:lvl5pPr>
      <a:lvl6pPr marL="457200" algn="ctr" rtl="0" eaLnBrk="1" fontAlgn="base" hangingPunct="1">
        <a:spcBef>
          <a:spcPct val="0"/>
        </a:spcBef>
        <a:spcAft>
          <a:spcPct val="0"/>
        </a:spcAft>
        <a:defRPr sz="4000">
          <a:solidFill>
            <a:schemeClr val="tx2"/>
          </a:solidFill>
          <a:latin typeface="Comic Sans MS" pitchFamily="66" charset="0"/>
        </a:defRPr>
      </a:lvl6pPr>
      <a:lvl7pPr marL="914400" algn="ctr" rtl="0" eaLnBrk="1" fontAlgn="base" hangingPunct="1">
        <a:spcBef>
          <a:spcPct val="0"/>
        </a:spcBef>
        <a:spcAft>
          <a:spcPct val="0"/>
        </a:spcAft>
        <a:defRPr sz="4000">
          <a:solidFill>
            <a:schemeClr val="tx2"/>
          </a:solidFill>
          <a:latin typeface="Comic Sans MS" pitchFamily="66" charset="0"/>
        </a:defRPr>
      </a:lvl7pPr>
      <a:lvl8pPr marL="1371600" algn="ctr" rtl="0" eaLnBrk="1" fontAlgn="base" hangingPunct="1">
        <a:spcBef>
          <a:spcPct val="0"/>
        </a:spcBef>
        <a:spcAft>
          <a:spcPct val="0"/>
        </a:spcAft>
        <a:defRPr sz="4000">
          <a:solidFill>
            <a:schemeClr val="tx2"/>
          </a:solidFill>
          <a:latin typeface="Comic Sans MS" pitchFamily="66" charset="0"/>
        </a:defRPr>
      </a:lvl8pPr>
      <a:lvl9pPr marL="1828800" algn="ctr" rtl="0" eaLnBrk="1" fontAlgn="base" hangingPunct="1">
        <a:spcBef>
          <a:spcPct val="0"/>
        </a:spcBef>
        <a:spcAft>
          <a:spcPct val="0"/>
        </a:spcAft>
        <a:defRPr sz="4000">
          <a:solidFill>
            <a:schemeClr val="tx2"/>
          </a:solidFill>
          <a:latin typeface="Comic Sans MS" pitchFamily="66" charset="0"/>
        </a:defRPr>
      </a:lvl9pPr>
    </p:titleStyle>
    <p:bodyStyle>
      <a:lvl1pPr marL="342900" indent="-342900" algn="l" rtl="0" eaLnBrk="1" fontAlgn="base" hangingPunct="1">
        <a:spcBef>
          <a:spcPct val="20000"/>
        </a:spcBef>
        <a:spcAft>
          <a:spcPct val="0"/>
        </a:spcAft>
        <a:buChar char="•"/>
        <a:defRPr sz="2800">
          <a:solidFill>
            <a:srgbClr val="0000FF"/>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Char char="–"/>
        <a:defRPr sz="2400">
          <a:solidFill>
            <a:schemeClr val="tx1"/>
          </a:solidFill>
          <a:latin typeface="Arial" panose="020B0604020202020204" pitchFamily="34" charset="0"/>
          <a:cs typeface="Arial" panose="020B0604020202020204" pitchFamily="34" charset="0"/>
        </a:defRPr>
      </a:lvl2pPr>
      <a:lvl3pPr marL="1143000" indent="-228600" algn="l" rtl="0" eaLnBrk="1" fontAlgn="base" hangingPunct="1">
        <a:spcBef>
          <a:spcPct val="20000"/>
        </a:spcBef>
        <a:spcAft>
          <a:spcPct val="0"/>
        </a:spcAft>
        <a:buChar char="•"/>
        <a:defRPr sz="2000">
          <a:solidFill>
            <a:srgbClr val="1B57B5"/>
          </a:solidFill>
          <a:latin typeface="Arial" panose="020B0604020202020204" pitchFamily="34" charset="0"/>
          <a:cs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1" descr="ban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5568727"/>
            <a:ext cx="12189884" cy="1289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2" name="Rectangle 3"/>
          <p:cNvSpPr>
            <a:spLocks noGrp="1" noChangeArrowheads="1"/>
          </p:cNvSpPr>
          <p:nvPr>
            <p:ph type="body" idx="1"/>
          </p:nvPr>
        </p:nvSpPr>
        <p:spPr bwMode="auto">
          <a:xfrm>
            <a:off x="609600" y="1447800"/>
            <a:ext cx="10972800" cy="467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 name="Oval 4"/>
          <p:cNvSpPr>
            <a:spLocks noChangeArrowheads="1"/>
          </p:cNvSpPr>
          <p:nvPr/>
        </p:nvSpPr>
        <p:spPr bwMode="auto">
          <a:xfrm>
            <a:off x="0" y="6213364"/>
            <a:ext cx="914400" cy="304800"/>
          </a:xfrm>
          <a:prstGeom prst="ellipse">
            <a:avLst/>
          </a:prstGeom>
          <a:solidFill>
            <a:schemeClr val="bg1"/>
          </a:solidFill>
          <a:ln w="25400" algn="ctr">
            <a:solidFill>
              <a:schemeClr val="bg1"/>
            </a:solidFill>
            <a:round/>
            <a:headEnd/>
            <a:tailEnd/>
          </a:ln>
        </p:spPr>
        <p:txBody>
          <a:bodyPr lIns="0" tIns="0" rIns="0" bIns="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fld id="{68F38F93-EFB2-4D8E-B34E-D4180BE42A95}" type="slidenum">
              <a:rPr lang="en-US" altLang="en-US" sz="1600" b="1">
                <a:solidFill>
                  <a:srgbClr val="333399"/>
                </a:solidFill>
                <a:latin typeface="Calibri" panose="020F0502020204030204" pitchFamily="34" charset="0"/>
              </a:rPr>
              <a:pPr algn="ctr"/>
              <a:t>‹#›</a:t>
            </a:fld>
            <a:endParaRPr lang="en-US" altLang="en-US" sz="1800" b="1" dirty="0">
              <a:solidFill>
                <a:srgbClr val="333399"/>
              </a:solidFill>
              <a:latin typeface="Calibri" panose="020F0502020204030204" pitchFamily="34" charset="0"/>
            </a:endParaRPr>
          </a:p>
        </p:txBody>
      </p:sp>
    </p:spTree>
    <p:extLst>
      <p:ext uri="{BB962C8B-B14F-4D97-AF65-F5344CB8AC3E}">
        <p14:creationId xmlns:p14="http://schemas.microsoft.com/office/powerpoint/2010/main" val="1497259297"/>
      </p:ext>
    </p:extLst>
  </p:cSld>
  <p:clrMap bg1="lt1" tx1="dk1" bg2="lt2" tx2="dk2" accent1="accent1" accent2="accent2" accent3="accent3" accent4="accent4" accent5="accent5" accent6="accent6" hlink="hlink" folHlink="folHlink"/>
  <p:sldLayoutIdLst>
    <p:sldLayoutId id="2147483664" r:id="rId1"/>
    <p:sldLayoutId id="2147483665" r:id="rId2"/>
  </p:sldLayoutIdLst>
  <p:transition>
    <p:wipe dir="d"/>
  </p:transition>
  <p:txStyles>
    <p:titleStyle>
      <a:lvl1pPr algn="ctr" rtl="0" eaLnBrk="1" fontAlgn="base" hangingPunct="1">
        <a:spcBef>
          <a:spcPct val="0"/>
        </a:spcBef>
        <a:spcAft>
          <a:spcPct val="0"/>
        </a:spcAft>
        <a:defRPr sz="3200">
          <a:solidFill>
            <a:srgbClr val="1B57B5"/>
          </a:solidFill>
          <a:latin typeface="Arial" panose="020B0604020202020204" pitchFamily="34" charset="0"/>
          <a:ea typeface="+mj-ea"/>
          <a:cs typeface="Arial" panose="020B0604020202020204" pitchFamily="34" charset="0"/>
        </a:defRPr>
      </a:lvl1pPr>
      <a:lvl2pPr algn="ctr" rtl="0" eaLnBrk="1" fontAlgn="base" hangingPunct="1">
        <a:spcBef>
          <a:spcPct val="0"/>
        </a:spcBef>
        <a:spcAft>
          <a:spcPct val="0"/>
        </a:spcAft>
        <a:defRPr sz="3200">
          <a:solidFill>
            <a:srgbClr val="1B57B5"/>
          </a:solidFill>
          <a:latin typeface="Tahoma" pitchFamily="34" charset="0"/>
          <a:cs typeface="Tahoma" pitchFamily="34" charset="0"/>
        </a:defRPr>
      </a:lvl2pPr>
      <a:lvl3pPr algn="ctr" rtl="0" eaLnBrk="1" fontAlgn="base" hangingPunct="1">
        <a:spcBef>
          <a:spcPct val="0"/>
        </a:spcBef>
        <a:spcAft>
          <a:spcPct val="0"/>
        </a:spcAft>
        <a:defRPr sz="3200">
          <a:solidFill>
            <a:srgbClr val="1B57B5"/>
          </a:solidFill>
          <a:latin typeface="Tahoma" pitchFamily="34" charset="0"/>
          <a:cs typeface="Tahoma" pitchFamily="34" charset="0"/>
        </a:defRPr>
      </a:lvl3pPr>
      <a:lvl4pPr algn="ctr" rtl="0" eaLnBrk="1" fontAlgn="base" hangingPunct="1">
        <a:spcBef>
          <a:spcPct val="0"/>
        </a:spcBef>
        <a:spcAft>
          <a:spcPct val="0"/>
        </a:spcAft>
        <a:defRPr sz="3200">
          <a:solidFill>
            <a:srgbClr val="1B57B5"/>
          </a:solidFill>
          <a:latin typeface="Tahoma" pitchFamily="34" charset="0"/>
          <a:cs typeface="Tahoma" pitchFamily="34" charset="0"/>
        </a:defRPr>
      </a:lvl4pPr>
      <a:lvl5pPr algn="ctr" rtl="0" eaLnBrk="1" fontAlgn="base" hangingPunct="1">
        <a:spcBef>
          <a:spcPct val="0"/>
        </a:spcBef>
        <a:spcAft>
          <a:spcPct val="0"/>
        </a:spcAft>
        <a:defRPr sz="3200">
          <a:solidFill>
            <a:srgbClr val="1B57B5"/>
          </a:solidFill>
          <a:latin typeface="Tahoma" pitchFamily="34" charset="0"/>
          <a:cs typeface="Tahoma" pitchFamily="34" charset="0"/>
        </a:defRPr>
      </a:lvl5pPr>
      <a:lvl6pPr marL="457200" algn="ctr" rtl="0" eaLnBrk="1" fontAlgn="base" hangingPunct="1">
        <a:spcBef>
          <a:spcPct val="0"/>
        </a:spcBef>
        <a:spcAft>
          <a:spcPct val="0"/>
        </a:spcAft>
        <a:defRPr sz="4000">
          <a:solidFill>
            <a:schemeClr val="tx2"/>
          </a:solidFill>
          <a:latin typeface="Comic Sans MS" pitchFamily="66" charset="0"/>
        </a:defRPr>
      </a:lvl6pPr>
      <a:lvl7pPr marL="914400" algn="ctr" rtl="0" eaLnBrk="1" fontAlgn="base" hangingPunct="1">
        <a:spcBef>
          <a:spcPct val="0"/>
        </a:spcBef>
        <a:spcAft>
          <a:spcPct val="0"/>
        </a:spcAft>
        <a:defRPr sz="4000">
          <a:solidFill>
            <a:schemeClr val="tx2"/>
          </a:solidFill>
          <a:latin typeface="Comic Sans MS" pitchFamily="66" charset="0"/>
        </a:defRPr>
      </a:lvl7pPr>
      <a:lvl8pPr marL="1371600" algn="ctr" rtl="0" eaLnBrk="1" fontAlgn="base" hangingPunct="1">
        <a:spcBef>
          <a:spcPct val="0"/>
        </a:spcBef>
        <a:spcAft>
          <a:spcPct val="0"/>
        </a:spcAft>
        <a:defRPr sz="4000">
          <a:solidFill>
            <a:schemeClr val="tx2"/>
          </a:solidFill>
          <a:latin typeface="Comic Sans MS" pitchFamily="66" charset="0"/>
        </a:defRPr>
      </a:lvl8pPr>
      <a:lvl9pPr marL="1828800" algn="ctr" rtl="0" eaLnBrk="1" fontAlgn="base" hangingPunct="1">
        <a:spcBef>
          <a:spcPct val="0"/>
        </a:spcBef>
        <a:spcAft>
          <a:spcPct val="0"/>
        </a:spcAft>
        <a:defRPr sz="4000">
          <a:solidFill>
            <a:schemeClr val="tx2"/>
          </a:solidFill>
          <a:latin typeface="Comic Sans MS" pitchFamily="66" charset="0"/>
        </a:defRPr>
      </a:lvl9pPr>
    </p:titleStyle>
    <p:bodyStyle>
      <a:lvl1pPr marL="342900" indent="-342900" algn="l" rtl="0" eaLnBrk="1" fontAlgn="base" hangingPunct="1">
        <a:spcBef>
          <a:spcPct val="20000"/>
        </a:spcBef>
        <a:spcAft>
          <a:spcPct val="0"/>
        </a:spcAft>
        <a:buChar char="•"/>
        <a:defRPr sz="2800">
          <a:solidFill>
            <a:srgbClr val="0000FF"/>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Char char="–"/>
        <a:defRPr sz="2400">
          <a:solidFill>
            <a:schemeClr val="tx1"/>
          </a:solidFill>
          <a:latin typeface="Arial" panose="020B0604020202020204" pitchFamily="34" charset="0"/>
          <a:cs typeface="Arial" panose="020B0604020202020204" pitchFamily="34" charset="0"/>
        </a:defRPr>
      </a:lvl2pPr>
      <a:lvl3pPr marL="1143000" indent="-228600" algn="l" rtl="0" eaLnBrk="1" fontAlgn="base" hangingPunct="1">
        <a:spcBef>
          <a:spcPct val="20000"/>
        </a:spcBef>
        <a:spcAft>
          <a:spcPct val="0"/>
        </a:spcAft>
        <a:buChar char="•"/>
        <a:defRPr sz="2000">
          <a:solidFill>
            <a:srgbClr val="1B57B5"/>
          </a:solidFill>
          <a:latin typeface="Arial" panose="020B0604020202020204" pitchFamily="34" charset="0"/>
          <a:cs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3.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2.m4a"/><Relationship Id="rId1" Type="http://schemas.microsoft.com/office/2007/relationships/media" Target="../media/media2.m4a"/><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3.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4.m4a"/><Relationship Id="rId1" Type="http://schemas.microsoft.com/office/2007/relationships/media" Target="../media/media4.m4a"/><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5.m4a"/><Relationship Id="rId1" Type="http://schemas.microsoft.com/office/2007/relationships/media" Target="../media/media5.m4a"/><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6.m4a"/><Relationship Id="rId1" Type="http://schemas.microsoft.com/office/2007/relationships/media" Target="../media/media6.m4a"/><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7.m4a"/><Relationship Id="rId1" Type="http://schemas.microsoft.com/office/2007/relationships/media" Target="../media/media7.m4a"/><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8.m4a"/><Relationship Id="rId1" Type="http://schemas.microsoft.com/office/2007/relationships/media" Target="../media/media8.m4a"/><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9.m4a"/><Relationship Id="rId1" Type="http://schemas.microsoft.com/office/2007/relationships/media" Target="../media/media9.m4a"/><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3.png"/><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4.xml"/><Relationship Id="rId7" Type="http://schemas.openxmlformats.org/officeDocument/2006/relationships/image" Target="../media/image13.jpeg"/><Relationship Id="rId2" Type="http://schemas.openxmlformats.org/officeDocument/2006/relationships/audio" Target="../media/media12.m4a"/><Relationship Id="rId1" Type="http://schemas.microsoft.com/office/2007/relationships/media" Target="../media/media12.m4a"/><Relationship Id="rId6" Type="http://schemas.openxmlformats.org/officeDocument/2006/relationships/image" Target="../media/image12.png"/><Relationship Id="rId5" Type="http://schemas.openxmlformats.org/officeDocument/2006/relationships/image" Target="../media/image11.jpg"/><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13.m4a"/><Relationship Id="rId1" Type="http://schemas.microsoft.com/office/2007/relationships/media" Target="../media/media13.m4a"/><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14.m4a"/><Relationship Id="rId1" Type="http://schemas.microsoft.com/office/2007/relationships/media" Target="../media/media14.m4a"/><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3.png"/><Relationship Id="rId2" Type="http://schemas.openxmlformats.org/officeDocument/2006/relationships/audio" Target="../media/media15.m4a"/><Relationship Id="rId1" Type="http://schemas.microsoft.com/office/2007/relationships/media" Target="../media/media15.m4a"/><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chart" Target="../charts/chart1.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16.m4a"/><Relationship Id="rId1" Type="http://schemas.microsoft.com/office/2007/relationships/media" Target="../media/media16.m4a"/><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3.png"/><Relationship Id="rId2" Type="http://schemas.openxmlformats.org/officeDocument/2006/relationships/audio" Target="../media/media17.m4a"/><Relationship Id="rId1" Type="http://schemas.microsoft.com/office/2007/relationships/media" Target="../media/media17.m4a"/><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18.m4a"/><Relationship Id="rId1" Type="http://schemas.microsoft.com/office/2007/relationships/media" Target="../media/media18.m4a"/><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3.png"/><Relationship Id="rId2" Type="http://schemas.openxmlformats.org/officeDocument/2006/relationships/audio" Target="../media/media19.m4a"/><Relationship Id="rId1" Type="http://schemas.microsoft.com/office/2007/relationships/media" Target="../media/media19.m4a"/><Relationship Id="rId6" Type="http://schemas.openxmlformats.org/officeDocument/2006/relationships/chart" Target="../charts/chart9.xml"/><Relationship Id="rId5" Type="http://schemas.openxmlformats.org/officeDocument/2006/relationships/chart" Target="../charts/chart8.xml"/><Relationship Id="rId4" Type="http://schemas.openxmlformats.org/officeDocument/2006/relationships/chart" Target="../charts/chart7.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20.m4a"/><Relationship Id="rId1" Type="http://schemas.microsoft.com/office/2007/relationships/media" Target="../media/media20.m4a"/><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3.png"/><Relationship Id="rId2" Type="http://schemas.openxmlformats.org/officeDocument/2006/relationships/audio" Target="../media/media21.m4a"/><Relationship Id="rId1" Type="http://schemas.microsoft.com/office/2007/relationships/media" Target="../media/media21.m4a"/><Relationship Id="rId6" Type="http://schemas.openxmlformats.org/officeDocument/2006/relationships/chart" Target="../charts/chart12.xml"/><Relationship Id="rId5" Type="http://schemas.openxmlformats.org/officeDocument/2006/relationships/chart" Target="../charts/chart11.xml"/><Relationship Id="rId4" Type="http://schemas.openxmlformats.org/officeDocument/2006/relationships/chart" Target="../charts/chart10.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22.m4a"/><Relationship Id="rId1" Type="http://schemas.microsoft.com/office/2007/relationships/media" Target="../media/media22.m4a"/><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3.png"/><Relationship Id="rId2" Type="http://schemas.openxmlformats.org/officeDocument/2006/relationships/audio" Target="../media/media23.m4a"/><Relationship Id="rId1" Type="http://schemas.microsoft.com/office/2007/relationships/media" Target="../media/media23.m4a"/><Relationship Id="rId6" Type="http://schemas.openxmlformats.org/officeDocument/2006/relationships/chart" Target="../charts/chart15.xml"/><Relationship Id="rId5" Type="http://schemas.openxmlformats.org/officeDocument/2006/relationships/chart" Target="../charts/chart14.xml"/><Relationship Id="rId4" Type="http://schemas.openxmlformats.org/officeDocument/2006/relationships/chart" Target="../charts/chart1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24.m4a"/><Relationship Id="rId1" Type="http://schemas.microsoft.com/office/2007/relationships/media" Target="../media/media24.m4a"/><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25.m4a"/><Relationship Id="rId1" Type="http://schemas.microsoft.com/office/2007/relationships/media" Target="../media/media25.m4a"/><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26.m4a"/><Relationship Id="rId1" Type="http://schemas.microsoft.com/office/2007/relationships/media" Target="../media/media26.m4a"/><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27.m4a"/><Relationship Id="rId1" Type="http://schemas.microsoft.com/office/2007/relationships/media" Target="../media/media27.m4a"/><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888902" y="1616790"/>
            <a:ext cx="8351135" cy="2190936"/>
          </a:xfrm>
        </p:spPr>
        <p:txBody>
          <a:bodyPr/>
          <a:lstStyle/>
          <a:p>
            <a:r>
              <a:rPr lang="en-US" sz="2800" b="1" dirty="0">
                <a:latin typeface="Times New Roman" panose="02020603050405020304" pitchFamily="18" charset="0"/>
                <a:cs typeface="Times New Roman" panose="02020603050405020304" pitchFamily="18" charset="0"/>
              </a:rPr>
              <a:t>EXPERIMENTAL INVESTIGATIONS ON MILLING OF ALUMINIUM SILICON CARBIDE METAL MATRIX COMPOSITES</a:t>
            </a:r>
          </a:p>
        </p:txBody>
      </p:sp>
      <p:sp>
        <p:nvSpPr>
          <p:cNvPr id="7" name="Subtitle 6"/>
          <p:cNvSpPr>
            <a:spLocks noGrp="1"/>
          </p:cNvSpPr>
          <p:nvPr>
            <p:ph type="subTitle" idx="1"/>
          </p:nvPr>
        </p:nvSpPr>
        <p:spPr>
          <a:xfrm>
            <a:off x="1888902" y="3530239"/>
            <a:ext cx="8351135" cy="2751044"/>
          </a:xfrm>
        </p:spPr>
        <p:txBody>
          <a:bodyPr/>
          <a:lstStyle/>
          <a:p>
            <a:r>
              <a:rPr lang="en-US" sz="2200" b="1" dirty="0">
                <a:solidFill>
                  <a:schemeClr val="tx1"/>
                </a:solidFill>
                <a:latin typeface="Times New Roman" panose="02020603050405020304" pitchFamily="18" charset="0"/>
                <a:cs typeface="Times New Roman" panose="02020603050405020304" pitchFamily="18" charset="0"/>
              </a:rPr>
              <a:t>Guided by Dr. KS.Vijaysekar</a:t>
            </a:r>
          </a:p>
          <a:p>
            <a:endParaRPr lang="en-US" sz="2200" b="1" dirty="0">
              <a:solidFill>
                <a:schemeClr val="tx1"/>
              </a:solidFill>
              <a:latin typeface="Times New Roman" panose="02020603050405020304" pitchFamily="18" charset="0"/>
              <a:cs typeface="Times New Roman" panose="02020603050405020304" pitchFamily="18" charset="0"/>
            </a:endParaRPr>
          </a:p>
          <a:p>
            <a:pPr algn="l"/>
            <a:r>
              <a:rPr lang="en-US" sz="2200" b="1" dirty="0">
                <a:solidFill>
                  <a:schemeClr val="tx1"/>
                </a:solidFill>
                <a:latin typeface="Times New Roman" panose="02020603050405020304" pitchFamily="18" charset="0"/>
                <a:cs typeface="Times New Roman" panose="02020603050405020304" pitchFamily="18" charset="0"/>
              </a:rPr>
              <a:t>                                          Done By :</a:t>
            </a:r>
          </a:p>
          <a:p>
            <a:pPr algn="l"/>
            <a:r>
              <a:rPr lang="en-US" sz="2200" b="1" dirty="0">
                <a:solidFill>
                  <a:schemeClr val="tx1"/>
                </a:solidFill>
                <a:latin typeface="Times New Roman" panose="02020603050405020304" pitchFamily="18" charset="0"/>
                <a:cs typeface="Times New Roman" panose="02020603050405020304" pitchFamily="18" charset="0"/>
              </a:rPr>
              <a:t>			   1.Dheepak R               </a:t>
            </a:r>
          </a:p>
          <a:p>
            <a:pPr algn="l"/>
            <a:r>
              <a:rPr lang="en-US" sz="2200" b="1" dirty="0">
                <a:solidFill>
                  <a:schemeClr val="tx1"/>
                </a:solidFill>
                <a:latin typeface="Times New Roman" panose="02020603050405020304" pitchFamily="18" charset="0"/>
                <a:cs typeface="Times New Roman" panose="02020603050405020304" pitchFamily="18" charset="0"/>
              </a:rPr>
              <a:t>			   2.Gowtham V             </a:t>
            </a:r>
          </a:p>
          <a:p>
            <a:pPr algn="l"/>
            <a:r>
              <a:rPr lang="en-US" sz="2200" b="1" dirty="0">
                <a:solidFill>
                  <a:schemeClr val="tx1"/>
                </a:solidFill>
                <a:latin typeface="Times New Roman" panose="02020603050405020304" pitchFamily="18" charset="0"/>
                <a:cs typeface="Times New Roman" panose="02020603050405020304" pitchFamily="18" charset="0"/>
              </a:rPr>
              <a:t>			   3.Kaushik Kiran S     </a:t>
            </a:r>
          </a:p>
          <a:p>
            <a:pPr algn="l"/>
            <a:r>
              <a:rPr lang="en-US" sz="2200" b="1" dirty="0">
                <a:solidFill>
                  <a:schemeClr val="tx1"/>
                </a:solidFill>
                <a:latin typeface="Times New Roman" panose="02020603050405020304" pitchFamily="18" charset="0"/>
                <a:cs typeface="Times New Roman" panose="02020603050405020304" pitchFamily="18" charset="0"/>
              </a:rPr>
              <a:t>			   4.Kiruthiskiran V      </a:t>
            </a:r>
          </a:p>
        </p:txBody>
      </p:sp>
      <p:pic>
        <p:nvPicPr>
          <p:cNvPr id="2" name="Audio 1">
            <a:hlinkClick r:id="" action="ppaction://media"/>
            <a:extLst>
              <a:ext uri="{FF2B5EF4-FFF2-40B4-BE49-F238E27FC236}">
                <a16:creationId xmlns:a16="http://schemas.microsoft.com/office/drawing/2014/main" id="{B2744AAA-54CF-4BB0-9512-A5846CE5947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3692320076"/>
      </p:ext>
    </p:extLst>
  </p:cSld>
  <p:clrMapOvr>
    <a:masterClrMapping/>
  </p:clrMapOvr>
  <p:transition advTm="13262">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Title 1048604"/>
          <p:cNvSpPr>
            <a:spLocks noGrp="1"/>
          </p:cNvSpPr>
          <p:nvPr>
            <p:ph type="title"/>
          </p:nvPr>
        </p:nvSpPr>
        <p:spPr/>
        <p:txBody>
          <a:bodyPr/>
          <a:lstStyle/>
          <a:p>
            <a:r>
              <a:rPr lang="en-US" sz="3400" b="1" dirty="0">
                <a:latin typeface="Times New Roman" panose="02020603050405020304" pitchFamily="18" charset="0"/>
                <a:cs typeface="Times New Roman" panose="02020603050405020304" pitchFamily="18" charset="0"/>
              </a:rPr>
              <a:t>MOTIVATION</a:t>
            </a:r>
          </a:p>
        </p:txBody>
      </p:sp>
      <p:sp>
        <p:nvSpPr>
          <p:cNvPr id="1048606" name="Content Placeholder 1048605"/>
          <p:cNvSpPr>
            <a:spLocks noGrp="1"/>
          </p:cNvSpPr>
          <p:nvPr>
            <p:ph idx="1"/>
          </p:nvPr>
        </p:nvSpPr>
        <p:spPr>
          <a:xfrm>
            <a:off x="609600" y="1219202"/>
            <a:ext cx="10851472" cy="6008276"/>
          </a:xfrm>
        </p:spPr>
        <p:txBody>
          <a:bodyPr/>
          <a:lstStyle/>
          <a:p>
            <a:pPr algn="just"/>
            <a:r>
              <a:rPr lang="en-US" dirty="0">
                <a:latin typeface="Times New Roman" panose="02020603050405020304" pitchFamily="18" charset="0"/>
                <a:cs typeface="Times New Roman" panose="02020603050405020304" pitchFamily="18" charset="0"/>
              </a:rPr>
              <a:t>Al-</a:t>
            </a:r>
            <a:r>
              <a:rPr lang="en-US" dirty="0" err="1">
                <a:latin typeface="Times New Roman" panose="02020603050405020304" pitchFamily="18" charset="0"/>
                <a:cs typeface="Times New Roman" panose="02020603050405020304" pitchFamily="18" charset="0"/>
              </a:rPr>
              <a:t>SiC</a:t>
            </a:r>
            <a:r>
              <a:rPr lang="en-US" dirty="0">
                <a:latin typeface="Times New Roman" panose="02020603050405020304" pitchFamily="18" charset="0"/>
                <a:cs typeface="Times New Roman" panose="02020603050405020304" pitchFamily="18" charset="0"/>
              </a:rPr>
              <a:t> MMC’s are widely used in aerospace and automobile industries because of the combined properties of Aluminium and </a:t>
            </a:r>
            <a:r>
              <a:rPr lang="en-US" dirty="0" err="1">
                <a:latin typeface="Times New Roman" panose="02020603050405020304" pitchFamily="18" charset="0"/>
                <a:cs typeface="Times New Roman" panose="02020603050405020304" pitchFamily="18" charset="0"/>
              </a:rPr>
              <a:t>SiC.</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Al-</a:t>
            </a:r>
            <a:r>
              <a:rPr lang="en-US" dirty="0" err="1">
                <a:latin typeface="Times New Roman" panose="02020603050405020304" pitchFamily="18" charset="0"/>
                <a:cs typeface="Times New Roman" panose="02020603050405020304" pitchFamily="18" charset="0"/>
              </a:rPr>
              <a:t>SiC</a:t>
            </a:r>
            <a:r>
              <a:rPr lang="en-US" dirty="0">
                <a:latin typeface="Times New Roman" panose="02020603050405020304" pitchFamily="18" charset="0"/>
                <a:cs typeface="Times New Roman" panose="02020603050405020304" pitchFamily="18" charset="0"/>
              </a:rPr>
              <a:t> MMC’s have the combined properties of Al and </a:t>
            </a:r>
            <a:r>
              <a:rPr lang="en-US" dirty="0" err="1">
                <a:latin typeface="Times New Roman" panose="02020603050405020304" pitchFamily="18" charset="0"/>
                <a:cs typeface="Times New Roman" panose="02020603050405020304" pitchFamily="18" charset="0"/>
              </a:rPr>
              <a:t>SiC</a:t>
            </a:r>
            <a:r>
              <a:rPr lang="en-US" dirty="0">
                <a:latin typeface="Times New Roman" panose="02020603050405020304" pitchFamily="18" charset="0"/>
                <a:cs typeface="Times New Roman" panose="02020603050405020304" pitchFamily="18" charset="0"/>
              </a:rPr>
              <a:t> which resulted in high strength , high thermal application.</a:t>
            </a:r>
          </a:p>
          <a:p>
            <a:pPr algn="just"/>
            <a:r>
              <a:rPr lang="en-US" dirty="0">
                <a:latin typeface="Times New Roman" panose="02020603050405020304" pitchFamily="18" charset="0"/>
                <a:cs typeface="Times New Roman" panose="02020603050405020304" pitchFamily="18" charset="0"/>
              </a:rPr>
              <a:t>Al-</a:t>
            </a:r>
            <a:r>
              <a:rPr lang="en-US" dirty="0" err="1">
                <a:latin typeface="Times New Roman" panose="02020603050405020304" pitchFamily="18" charset="0"/>
                <a:cs typeface="Times New Roman" panose="02020603050405020304" pitchFamily="18" charset="0"/>
              </a:rPr>
              <a:t>SiC</a:t>
            </a:r>
            <a:r>
              <a:rPr lang="en-US" dirty="0">
                <a:latin typeface="Times New Roman" panose="02020603050405020304" pitchFamily="18" charset="0"/>
                <a:cs typeface="Times New Roman" panose="02020603050405020304" pitchFamily="18" charset="0"/>
              </a:rPr>
              <a:t> MMC’s have high strength to weight ratio, and possess superior physical and mechanical properties compared to un-reinforced alloys and traditional metals</a:t>
            </a:r>
          </a:p>
          <a:p>
            <a:pPr algn="just"/>
            <a:r>
              <a:rPr lang="en-US" dirty="0">
                <a:latin typeface="Times New Roman" panose="02020603050405020304" pitchFamily="18" charset="0"/>
                <a:cs typeface="Times New Roman" panose="02020603050405020304" pitchFamily="18" charset="0"/>
              </a:rPr>
              <a:t>The machining of MMC is hard to compared to conventional materials.</a:t>
            </a:r>
            <a:endParaRPr lang="en-US" sz="2900" dirty="0"/>
          </a:p>
        </p:txBody>
      </p:sp>
      <p:pic>
        <p:nvPicPr>
          <p:cNvPr id="2" name="Audio 1">
            <a:hlinkClick r:id="" action="ppaction://media"/>
            <a:extLst>
              <a:ext uri="{FF2B5EF4-FFF2-40B4-BE49-F238E27FC236}">
                <a16:creationId xmlns:a16="http://schemas.microsoft.com/office/drawing/2014/main" id="{378FDA25-E7C2-419E-9542-A6AB8E3C9A0E}"/>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3032813351"/>
      </p:ext>
    </p:extLst>
  </p:cSld>
  <p:clrMapOvr>
    <a:masterClrMapping/>
  </p:clrMapOvr>
  <p:transition spd="slow" advTm="33519">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7" name="Title 1048606"/>
          <p:cNvSpPr>
            <a:spLocks noGrp="1"/>
          </p:cNvSpPr>
          <p:nvPr>
            <p:ph type="title"/>
          </p:nvPr>
        </p:nvSpPr>
        <p:spPr/>
        <p:txBody>
          <a:bodyPr/>
          <a:lstStyle/>
          <a:p>
            <a:r>
              <a:rPr lang="en-US" sz="3500" b="1" dirty="0">
                <a:latin typeface="Times New Roman" panose="02020603050405020304" pitchFamily="18" charset="0"/>
                <a:cs typeface="Times New Roman" panose="02020603050405020304" pitchFamily="18" charset="0"/>
              </a:rPr>
              <a:t>OBJECTIVE</a:t>
            </a:r>
          </a:p>
        </p:txBody>
      </p:sp>
      <p:sp>
        <p:nvSpPr>
          <p:cNvPr id="1048608" name="Content Placeholder 1048607"/>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To study milling parameters of Aluminium Silicon Carbide MMC and perform experimental analysis on Al-SiC.</a:t>
            </a:r>
          </a:p>
          <a:p>
            <a:pPr algn="just"/>
            <a:r>
              <a:rPr lang="en-US" dirty="0">
                <a:latin typeface="Times New Roman" panose="02020603050405020304" pitchFamily="18" charset="0"/>
                <a:cs typeface="Times New Roman" panose="02020603050405020304" pitchFamily="18" charset="0"/>
              </a:rPr>
              <a:t>The parameters include;                    </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Cutting forces</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Chip morphology &amp; Thickness</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Surface Roughness</a:t>
            </a:r>
          </a:p>
        </p:txBody>
      </p:sp>
      <p:pic>
        <p:nvPicPr>
          <p:cNvPr id="2097156" name="Picture 2097155"/>
          <p:cNvPicPr>
            <a:picLocks/>
          </p:cNvPicPr>
          <p:nvPr/>
        </p:nvPicPr>
        <p:blipFill>
          <a:blip r:embed="rId4"/>
          <a:stretch>
            <a:fillRect/>
          </a:stretch>
        </p:blipFill>
        <p:spPr>
          <a:xfrm>
            <a:off x="6569475" y="2235249"/>
            <a:ext cx="2725445" cy="3002576"/>
          </a:xfrm>
          <a:prstGeom prst="rect">
            <a:avLst/>
          </a:prstGeom>
        </p:spPr>
      </p:pic>
      <p:pic>
        <p:nvPicPr>
          <p:cNvPr id="2" name="Audio 1">
            <a:hlinkClick r:id="" action="ppaction://media"/>
            <a:extLst>
              <a:ext uri="{FF2B5EF4-FFF2-40B4-BE49-F238E27FC236}">
                <a16:creationId xmlns:a16="http://schemas.microsoft.com/office/drawing/2014/main" id="{5D7B037B-2A37-45B6-8519-DE6C0399721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4287102296"/>
      </p:ext>
    </p:extLst>
  </p:cSld>
  <p:clrMapOvr>
    <a:masterClrMapping/>
  </p:clrMapOvr>
  <p:transition spd="slow" advTm="17882">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0"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LITERATURE</a:t>
            </a:r>
            <a:r>
              <a:rPr lang="en-US" b="1" dirty="0"/>
              <a:t> SURVEY</a:t>
            </a:r>
            <a:endParaRPr lang="en-IN" b="1" dirty="0"/>
          </a:p>
        </p:txBody>
      </p:sp>
      <p:sp>
        <p:nvSpPr>
          <p:cNvPr id="1048591" name="Content Placeholder 2"/>
          <p:cNvSpPr>
            <a:spLocks noGrp="1"/>
          </p:cNvSpPr>
          <p:nvPr>
            <p:ph idx="1"/>
          </p:nvPr>
        </p:nvSpPr>
        <p:spPr>
          <a:xfrm>
            <a:off x="609599" y="1219203"/>
            <a:ext cx="11242089" cy="4906963"/>
          </a:xfrm>
        </p:spPr>
        <p:txBody>
          <a:bodyPr/>
          <a:lstStyle/>
          <a:p>
            <a:pPr algn="just"/>
            <a:r>
              <a:rPr lang="en-US" b="1" dirty="0">
                <a:solidFill>
                  <a:schemeClr val="tx1"/>
                </a:solidFill>
                <a:latin typeface="Times New Roman" panose="02020603050405020304" pitchFamily="18" charset="0"/>
                <a:cs typeface="Times New Roman" panose="02020603050405020304" pitchFamily="18" charset="0"/>
              </a:rPr>
              <a:t>Jain, P.K., Soni, S.C. and Baredar, P.V., 2014. Review on machining of aluminium metal matrix composites. </a:t>
            </a:r>
            <a:r>
              <a:rPr lang="en-US" b="1" i="1" dirty="0">
                <a:solidFill>
                  <a:schemeClr val="tx1"/>
                </a:solidFill>
                <a:latin typeface="Times New Roman" panose="02020603050405020304" pitchFamily="18" charset="0"/>
                <a:cs typeface="Times New Roman" panose="02020603050405020304" pitchFamily="18" charset="0"/>
              </a:rPr>
              <a:t>Material science research India</a:t>
            </a:r>
            <a:r>
              <a:rPr lang="en-US" b="1" dirty="0">
                <a:solidFill>
                  <a:schemeClr val="tx1"/>
                </a:solidFill>
                <a:latin typeface="Times New Roman" panose="02020603050405020304" pitchFamily="18" charset="0"/>
                <a:cs typeface="Times New Roman" panose="02020603050405020304" pitchFamily="18" charset="0"/>
              </a:rPr>
              <a:t>, </a:t>
            </a:r>
            <a:r>
              <a:rPr lang="en-US" b="1" i="1" dirty="0">
                <a:solidFill>
                  <a:schemeClr val="tx1"/>
                </a:solidFill>
                <a:latin typeface="Times New Roman" panose="02020603050405020304" pitchFamily="18" charset="0"/>
                <a:cs typeface="Times New Roman" panose="02020603050405020304" pitchFamily="18" charset="0"/>
              </a:rPr>
              <a:t>11</a:t>
            </a:r>
            <a:r>
              <a:rPr lang="en-US" b="1" dirty="0">
                <a:solidFill>
                  <a:schemeClr val="tx1"/>
                </a:solidFill>
                <a:latin typeface="Times New Roman" panose="02020603050405020304" pitchFamily="18" charset="0"/>
                <a:cs typeface="Times New Roman" panose="02020603050405020304" pitchFamily="18" charset="0"/>
              </a:rPr>
              <a:t>(2), pp.114-120.    </a:t>
            </a:r>
          </a:p>
          <a:p>
            <a:pPr algn="just"/>
            <a:endParaRPr lang="en-US" b="1" dirty="0">
              <a:solidFill>
                <a:srgbClr val="0070C0"/>
              </a:solidFill>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Machining characteristics depends on :</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Reinforcement material </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 distribution of particles.</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composition of the composite.</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Hindrances to machining :</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Tool wear due to abrasion.</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Damage of the reinforcement in the subsurface of the machined zone.</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Leads to stress concentrations in finished MMC part.</a:t>
            </a:r>
          </a:p>
          <a:p>
            <a:pPr algn="just">
              <a:buFont typeface="Wingdings" panose="05000000000000000000" pitchFamily="2" charset="2"/>
              <a:buChar char="ü"/>
            </a:pPr>
            <a:endParaRPr lang="en-US" sz="22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algn="just"/>
            <a:endParaRPr lang="en-US" sz="2200" dirty="0">
              <a:latin typeface="Times New Roman" panose="02020603050405020304" pitchFamily="18" charset="0"/>
              <a:cs typeface="Times New Roman" panose="02020603050405020304" pitchFamily="18" charset="0"/>
            </a:endParaRPr>
          </a:p>
          <a:p>
            <a:pPr marL="0" indent="0" algn="just">
              <a:buNone/>
            </a:pPr>
            <a:endParaRPr lang="en-US" sz="2200" dirty="0">
              <a:latin typeface="Times New Roman" panose="02020603050405020304" pitchFamily="18" charset="0"/>
              <a:cs typeface="Times New Roman" panose="02020603050405020304" pitchFamily="18" charset="0"/>
            </a:endParaRPr>
          </a:p>
        </p:txBody>
      </p:sp>
      <p:pic>
        <p:nvPicPr>
          <p:cNvPr id="2" name="Audio 1">
            <a:hlinkClick r:id="" action="ppaction://media"/>
            <a:extLst>
              <a:ext uri="{FF2B5EF4-FFF2-40B4-BE49-F238E27FC236}">
                <a16:creationId xmlns:a16="http://schemas.microsoft.com/office/drawing/2014/main" id="{F55ED18A-8DAB-454D-A4F3-1ABE054797EA}"/>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4110372644"/>
      </p:ext>
    </p:extLst>
  </p:cSld>
  <p:clrMapOvr>
    <a:masterClrMapping/>
  </p:clrMapOvr>
  <p:transition advTm="32488">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Content Placeholder 2"/>
          <p:cNvSpPr>
            <a:spLocks noGrp="1"/>
          </p:cNvSpPr>
          <p:nvPr>
            <p:ph idx="1"/>
          </p:nvPr>
        </p:nvSpPr>
        <p:spPr>
          <a:xfrm>
            <a:off x="609600" y="668788"/>
            <a:ext cx="10972800" cy="4906963"/>
          </a:xfrm>
        </p:spPr>
        <p:txBody>
          <a:bodyPr/>
          <a:lstStyle/>
          <a:p>
            <a:r>
              <a:rPr lang="en-IN" b="1" dirty="0" err="1">
                <a:solidFill>
                  <a:schemeClr val="tx1"/>
                </a:solidFill>
                <a:latin typeface="Times New Roman" panose="02020603050405020304" pitchFamily="18" charset="0"/>
                <a:cs typeface="Times New Roman" panose="02020603050405020304" pitchFamily="18" charset="0"/>
              </a:rPr>
              <a:t>Sornakumar</a:t>
            </a:r>
            <a:r>
              <a:rPr lang="en-IN" b="1" dirty="0">
                <a:solidFill>
                  <a:schemeClr val="tx1"/>
                </a:solidFill>
                <a:latin typeface="Times New Roman" panose="02020603050405020304" pitchFamily="18" charset="0"/>
                <a:cs typeface="Times New Roman" panose="02020603050405020304" pitchFamily="18" charset="0"/>
              </a:rPr>
              <a:t>, T. and </a:t>
            </a:r>
            <a:r>
              <a:rPr lang="en-IN" b="1" dirty="0" err="1">
                <a:solidFill>
                  <a:schemeClr val="tx1"/>
                </a:solidFill>
                <a:latin typeface="Times New Roman" panose="02020603050405020304" pitchFamily="18" charset="0"/>
                <a:cs typeface="Times New Roman" panose="02020603050405020304" pitchFamily="18" charset="0"/>
              </a:rPr>
              <a:t>Kathiresan</a:t>
            </a:r>
            <a:r>
              <a:rPr lang="en-IN" b="1" dirty="0">
                <a:solidFill>
                  <a:schemeClr val="tx1"/>
                </a:solidFill>
                <a:latin typeface="Times New Roman" panose="02020603050405020304" pitchFamily="18" charset="0"/>
                <a:cs typeface="Times New Roman" panose="02020603050405020304" pitchFamily="18" charset="0"/>
              </a:rPr>
              <a:t>, M., 2010. Machining studies of die cast </a:t>
            </a:r>
            <a:r>
              <a:rPr lang="en-IN" b="1" dirty="0" err="1">
                <a:solidFill>
                  <a:schemeClr val="tx1"/>
                </a:solidFill>
                <a:latin typeface="Times New Roman" panose="02020603050405020304" pitchFamily="18" charset="0"/>
                <a:cs typeface="Times New Roman" panose="02020603050405020304" pitchFamily="18" charset="0"/>
              </a:rPr>
              <a:t>aluminum</a:t>
            </a:r>
            <a:r>
              <a:rPr lang="en-IN" b="1" dirty="0">
                <a:solidFill>
                  <a:schemeClr val="tx1"/>
                </a:solidFill>
                <a:latin typeface="Times New Roman" panose="02020603050405020304" pitchFamily="18" charset="0"/>
                <a:cs typeface="Times New Roman" panose="02020603050405020304" pitchFamily="18" charset="0"/>
              </a:rPr>
              <a:t> alloy-silicon carbide composites. </a:t>
            </a:r>
            <a:r>
              <a:rPr lang="en-IN" b="1" i="1" dirty="0">
                <a:solidFill>
                  <a:schemeClr val="tx1"/>
                </a:solidFill>
                <a:latin typeface="Times New Roman" panose="02020603050405020304" pitchFamily="18" charset="0"/>
                <a:cs typeface="Times New Roman" panose="02020603050405020304" pitchFamily="18" charset="0"/>
              </a:rPr>
              <a:t>International Journal of Minerals, Metallurgy, and Materials</a:t>
            </a:r>
            <a:r>
              <a:rPr lang="en-IN" b="1" dirty="0">
                <a:solidFill>
                  <a:schemeClr val="tx1"/>
                </a:solidFill>
                <a:latin typeface="Times New Roman" panose="02020603050405020304" pitchFamily="18" charset="0"/>
                <a:cs typeface="Times New Roman" panose="02020603050405020304" pitchFamily="18" charset="0"/>
              </a:rPr>
              <a:t>, </a:t>
            </a:r>
            <a:r>
              <a:rPr lang="en-IN" b="1" i="1" dirty="0">
                <a:solidFill>
                  <a:schemeClr val="tx1"/>
                </a:solidFill>
                <a:latin typeface="Times New Roman" panose="02020603050405020304" pitchFamily="18" charset="0"/>
                <a:cs typeface="Times New Roman" panose="02020603050405020304" pitchFamily="18" charset="0"/>
              </a:rPr>
              <a:t>17</a:t>
            </a:r>
            <a:r>
              <a:rPr lang="en-IN" b="1" dirty="0">
                <a:solidFill>
                  <a:schemeClr val="tx1"/>
                </a:solidFill>
                <a:latin typeface="Times New Roman" panose="02020603050405020304" pitchFamily="18" charset="0"/>
                <a:cs typeface="Times New Roman" panose="02020603050405020304" pitchFamily="18" charset="0"/>
              </a:rPr>
              <a:t>(5), pp.648-653.</a:t>
            </a:r>
          </a:p>
          <a:p>
            <a:pPr algn="just"/>
            <a:endParaRPr lang="en-IN" b="1" dirty="0">
              <a:solidFill>
                <a:srgbClr val="0070C0"/>
              </a:solidFill>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Built up edge is observed at lower cutting speeds.</a:t>
            </a:r>
          </a:p>
          <a:p>
            <a:r>
              <a:rPr lang="en-IN" dirty="0">
                <a:latin typeface="Times New Roman" panose="02020603050405020304" pitchFamily="18" charset="0"/>
                <a:cs typeface="Times New Roman" panose="02020603050405020304" pitchFamily="18" charset="0"/>
              </a:rPr>
              <a:t>Flank wear increases with increase in cutting speed.</a:t>
            </a:r>
          </a:p>
          <a:p>
            <a:pPr marL="0" indent="0">
              <a:buNone/>
            </a:pPr>
            <a:r>
              <a:rPr lang="en-IN" dirty="0">
                <a:latin typeface="Times New Roman" panose="02020603050405020304" pitchFamily="18" charset="0"/>
                <a:cs typeface="Times New Roman" panose="02020603050405020304" pitchFamily="18" charset="0"/>
              </a:rPr>
              <a:t>     (dominant factor)</a:t>
            </a:r>
          </a:p>
          <a:p>
            <a:r>
              <a:rPr lang="en-IN" dirty="0">
                <a:latin typeface="Times New Roman" panose="02020603050405020304" pitchFamily="18" charset="0"/>
                <a:cs typeface="Times New Roman" panose="02020603050405020304" pitchFamily="18" charset="0"/>
              </a:rPr>
              <a:t>60 -100 m/min nominal cutting speed.</a:t>
            </a:r>
          </a:p>
          <a:p>
            <a:r>
              <a:rPr lang="en-IN" dirty="0">
                <a:latin typeface="Times New Roman" panose="02020603050405020304" pitchFamily="18" charset="0"/>
                <a:cs typeface="Times New Roman" panose="02020603050405020304" pitchFamily="18" charset="0"/>
              </a:rPr>
              <a:t>Feed and depth of cut affects surface roughness and the subsurface of machined zone.</a:t>
            </a:r>
          </a:p>
          <a:p>
            <a:r>
              <a:rPr lang="en-IN" dirty="0">
                <a:latin typeface="Times New Roman" panose="02020603050405020304" pitchFamily="18" charset="0"/>
                <a:cs typeface="Times New Roman" panose="02020603050405020304" pitchFamily="18" charset="0"/>
              </a:rPr>
              <a:t>Generation of voids around the reinforcement particles which leads to microcracks.</a:t>
            </a:r>
          </a:p>
          <a:p>
            <a:endParaRPr lang="en-IN" dirty="0">
              <a:latin typeface="Times New Roman" panose="02020603050405020304" pitchFamily="18" charset="0"/>
              <a:cs typeface="Times New Roman" panose="02020603050405020304" pitchFamily="18" charset="0"/>
            </a:endParaRPr>
          </a:p>
        </p:txBody>
      </p:sp>
      <p:pic>
        <p:nvPicPr>
          <p:cNvPr id="2" name="Audio 1">
            <a:hlinkClick r:id="" action="ppaction://media"/>
            <a:extLst>
              <a:ext uri="{FF2B5EF4-FFF2-40B4-BE49-F238E27FC236}">
                <a16:creationId xmlns:a16="http://schemas.microsoft.com/office/drawing/2014/main" id="{343C7762-C273-4FC3-8B00-619899A3BE65}"/>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3499023744"/>
      </p:ext>
    </p:extLst>
  </p:cSld>
  <p:clrMapOvr>
    <a:masterClrMapping/>
  </p:clrMapOvr>
  <p:transition advTm="25764">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6FA555-9A83-44F2-AE25-043E99F8B056}"/>
              </a:ext>
            </a:extLst>
          </p:cNvPr>
          <p:cNvSpPr>
            <a:spLocks noGrp="1"/>
          </p:cNvSpPr>
          <p:nvPr>
            <p:ph idx="1"/>
          </p:nvPr>
        </p:nvSpPr>
        <p:spPr>
          <a:xfrm>
            <a:off x="609600" y="704298"/>
            <a:ext cx="10972800" cy="4906963"/>
          </a:xfrm>
        </p:spPr>
        <p:txBody>
          <a:bodyPr/>
          <a:lstStyle/>
          <a:p>
            <a:pPr algn="just"/>
            <a:r>
              <a:rPr lang="en-IN" b="1" dirty="0">
                <a:solidFill>
                  <a:schemeClr val="tx1"/>
                </a:solidFill>
                <a:latin typeface="Times New Roman" panose="02020603050405020304" pitchFamily="18" charset="0"/>
                <a:cs typeface="Times New Roman" panose="02020603050405020304" pitchFamily="18" charset="0"/>
              </a:rPr>
              <a:t>Saravanan, C., Subramanian, K., Krishnan, V.A. and Narayanan, R.S., (2015),’ Effect of particulate reinforced aluminium metal matrix composite–a review’, Mechanics and Mechanical Engineering, Vol.19, No.1, pp.23-30.</a:t>
            </a:r>
          </a:p>
          <a:p>
            <a:pPr algn="just"/>
            <a:endParaRPr lang="en-IN" b="1" dirty="0">
              <a:solidFill>
                <a:schemeClr val="tx1"/>
              </a:solidFill>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Stir casting or vortex technique as the least expensive method for particulate reinforcement.</a:t>
            </a:r>
          </a:p>
          <a:p>
            <a:pPr algn="just"/>
            <a:r>
              <a:rPr lang="en-US" dirty="0">
                <a:latin typeface="Times New Roman" panose="02020603050405020304" pitchFamily="18" charset="0"/>
                <a:cs typeface="Times New Roman" panose="02020603050405020304" pitchFamily="18" charset="0"/>
              </a:rPr>
              <a:t>Stir casting provides a fairly uniform distribution of particles</a:t>
            </a:r>
          </a:p>
          <a:p>
            <a:pPr algn="just"/>
            <a:r>
              <a:rPr lang="en-US" dirty="0">
                <a:latin typeface="Times New Roman" panose="02020603050405020304" pitchFamily="18" charset="0"/>
                <a:cs typeface="Times New Roman" panose="02020603050405020304" pitchFamily="18" charset="0"/>
              </a:rPr>
              <a:t>This method is applicable for large scale production of aluminium based composites</a:t>
            </a:r>
          </a:p>
          <a:p>
            <a:pPr algn="just"/>
            <a:r>
              <a:rPr lang="en-US" dirty="0">
                <a:latin typeface="Times New Roman" panose="02020603050405020304" pitchFamily="18" charset="0"/>
                <a:cs typeface="Times New Roman" panose="02020603050405020304" pitchFamily="18" charset="0"/>
              </a:rPr>
              <a:t>Density of the composite increases with the addition of the hard ceramic reinforcement into the matrix material.</a:t>
            </a:r>
          </a:p>
          <a:p>
            <a:pPr marL="0" indent="0" algn="just">
              <a:buNone/>
            </a:pPr>
            <a:endParaRPr lang="en-IN" b="1" dirty="0">
              <a:solidFill>
                <a:schemeClr val="tx1"/>
              </a:solidFill>
              <a:latin typeface="Times New Roman" panose="02020603050405020304" pitchFamily="18" charset="0"/>
              <a:cs typeface="Times New Roman" panose="02020603050405020304" pitchFamily="18" charset="0"/>
            </a:endParaRPr>
          </a:p>
        </p:txBody>
      </p:sp>
      <p:pic>
        <p:nvPicPr>
          <p:cNvPr id="2" name="Audio 1">
            <a:hlinkClick r:id="" action="ppaction://media"/>
            <a:extLst>
              <a:ext uri="{FF2B5EF4-FFF2-40B4-BE49-F238E27FC236}">
                <a16:creationId xmlns:a16="http://schemas.microsoft.com/office/drawing/2014/main" id="{0E580FAA-E2E3-48F5-B552-C6A5F293BC4A}"/>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1785407110"/>
      </p:ext>
    </p:extLst>
  </p:cSld>
  <p:clrMapOvr>
    <a:masterClrMapping/>
  </p:clrMapOvr>
  <p:transition advTm="28043">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C8B2ED-34A1-42DC-AD37-B01BA35CE5F3}"/>
              </a:ext>
            </a:extLst>
          </p:cNvPr>
          <p:cNvSpPr>
            <a:spLocks noGrp="1"/>
          </p:cNvSpPr>
          <p:nvPr>
            <p:ph idx="1"/>
          </p:nvPr>
        </p:nvSpPr>
        <p:spPr>
          <a:xfrm>
            <a:off x="609600" y="695420"/>
            <a:ext cx="10972800" cy="4906963"/>
          </a:xfrm>
        </p:spPr>
        <p:txBody>
          <a:bodyPr/>
          <a:lstStyle/>
          <a:p>
            <a:pPr algn="just"/>
            <a:r>
              <a:rPr lang="en-US" b="1" dirty="0" err="1">
                <a:solidFill>
                  <a:schemeClr val="tx1"/>
                </a:solidFill>
                <a:latin typeface="Times New Roman" panose="02020603050405020304" pitchFamily="18" charset="0"/>
                <a:cs typeface="Times New Roman" panose="02020603050405020304" pitchFamily="18" charset="0"/>
              </a:rPr>
              <a:t>A.Fathy</a:t>
            </a:r>
            <a:r>
              <a:rPr lang="en-US" b="1" dirty="0">
                <a:solidFill>
                  <a:schemeClr val="tx1"/>
                </a:solidFill>
                <a:latin typeface="Times New Roman" panose="02020603050405020304" pitchFamily="18" charset="0"/>
                <a:cs typeface="Times New Roman" panose="02020603050405020304" pitchFamily="18" charset="0"/>
              </a:rPr>
              <a:t>, </a:t>
            </a:r>
            <a:r>
              <a:rPr lang="en-US" b="1" dirty="0" err="1">
                <a:solidFill>
                  <a:schemeClr val="tx1"/>
                </a:solidFill>
                <a:latin typeface="Times New Roman" panose="02020603050405020304" pitchFamily="18" charset="0"/>
                <a:cs typeface="Times New Roman" panose="02020603050405020304" pitchFamily="18" charset="0"/>
              </a:rPr>
              <a:t>M.Abdellhameed</a:t>
            </a:r>
            <a:r>
              <a:rPr lang="en-US" b="1" dirty="0">
                <a:solidFill>
                  <a:schemeClr val="tx1"/>
                </a:solidFill>
                <a:latin typeface="Times New Roman" panose="02020603050405020304" pitchFamily="18" charset="0"/>
                <a:cs typeface="Times New Roman" panose="02020603050405020304" pitchFamily="18" charset="0"/>
              </a:rPr>
              <a:t>, </a:t>
            </a:r>
            <a:r>
              <a:rPr lang="en-US" b="1" dirty="0" err="1">
                <a:solidFill>
                  <a:schemeClr val="tx1"/>
                </a:solidFill>
                <a:latin typeface="Times New Roman" panose="02020603050405020304" pitchFamily="18" charset="0"/>
                <a:cs typeface="Times New Roman" panose="02020603050405020304" pitchFamily="18" charset="0"/>
              </a:rPr>
              <a:t>F.shehata</a:t>
            </a:r>
            <a:r>
              <a:rPr lang="en-US" b="1" dirty="0">
                <a:solidFill>
                  <a:schemeClr val="tx1"/>
                </a:solidFill>
                <a:latin typeface="Times New Roman" panose="02020603050405020304" pitchFamily="18" charset="0"/>
                <a:cs typeface="Times New Roman" panose="02020603050405020304" pitchFamily="18" charset="0"/>
              </a:rPr>
              <a:t>, (2012), “Effect of some Manufacturing parameters on machining of extruded Al-Al2O3 composites” , International Scholarly Research Notices, vol.2012, Article ID 748734.</a:t>
            </a:r>
          </a:p>
          <a:p>
            <a:pPr algn="just"/>
            <a:endParaRPr lang="en-US" b="1" dirty="0">
              <a:solidFill>
                <a:schemeClr val="tx1"/>
              </a:solidFill>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Coated tools showed 5% decrease in flank wear size compared to uncoated tools</a:t>
            </a:r>
            <a:r>
              <a:rPr lang="en-US" dirty="0">
                <a:solidFill>
                  <a:schemeClr val="tx1"/>
                </a:solidFill>
                <a:latin typeface="Times New Roman" panose="02020603050405020304" pitchFamily="18" charset="0"/>
                <a:cs typeface="Times New Roman" panose="02020603050405020304" pitchFamily="18" charset="0"/>
              </a:rPr>
              <a:t>.</a:t>
            </a:r>
            <a:endParaRPr lang="en-US" b="1" dirty="0">
              <a:solidFill>
                <a:schemeClr val="tx1"/>
              </a:solidFill>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Tool wear in carbide coated tool was significantly lesser than HSS and had better surface finish.</a:t>
            </a:r>
          </a:p>
          <a:p>
            <a:pPr algn="just"/>
            <a:r>
              <a:rPr lang="en-US" dirty="0">
                <a:latin typeface="Times New Roman" panose="02020603050405020304" pitchFamily="18" charset="0"/>
                <a:cs typeface="Times New Roman" panose="02020603050405020304" pitchFamily="18" charset="0"/>
              </a:rPr>
              <a:t>Tool wear observed in carbide coated tools was comparatively higher than that of PCD tools thus, making it suitable for observation of tool wear.</a:t>
            </a:r>
          </a:p>
          <a:p>
            <a:pPr algn="just"/>
            <a:endParaRPr lang="en-US" b="1" dirty="0">
              <a:solidFill>
                <a:schemeClr val="tx1"/>
              </a:solidFill>
              <a:latin typeface="Times New Roman" panose="02020603050405020304" pitchFamily="18" charset="0"/>
              <a:cs typeface="Times New Roman" panose="02020603050405020304" pitchFamily="18" charset="0"/>
            </a:endParaRPr>
          </a:p>
          <a:p>
            <a:pPr algn="just"/>
            <a:endParaRPr lang="en-IN" b="1" dirty="0">
              <a:solidFill>
                <a:schemeClr val="tx1"/>
              </a:solidFill>
              <a:latin typeface="Times New Roman" panose="02020603050405020304" pitchFamily="18" charset="0"/>
              <a:cs typeface="Times New Roman" panose="02020603050405020304" pitchFamily="18" charset="0"/>
            </a:endParaRPr>
          </a:p>
        </p:txBody>
      </p:sp>
      <p:pic>
        <p:nvPicPr>
          <p:cNvPr id="2" name="Audio 1">
            <a:hlinkClick r:id="" action="ppaction://media"/>
            <a:extLst>
              <a:ext uri="{FF2B5EF4-FFF2-40B4-BE49-F238E27FC236}">
                <a16:creationId xmlns:a16="http://schemas.microsoft.com/office/drawing/2014/main" id="{3FBC9EF7-2F01-4D58-93CD-01257DEAD76B}"/>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2998542013"/>
      </p:ext>
    </p:extLst>
  </p:cSld>
  <p:clrMapOvr>
    <a:masterClrMapping/>
  </p:clrMapOvr>
  <p:transition advTm="32372">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F6700E-E54D-434D-9306-F766CE76DDE1}"/>
              </a:ext>
            </a:extLst>
          </p:cNvPr>
          <p:cNvSpPr>
            <a:spLocks noGrp="1"/>
          </p:cNvSpPr>
          <p:nvPr>
            <p:ph idx="1"/>
          </p:nvPr>
        </p:nvSpPr>
        <p:spPr>
          <a:xfrm>
            <a:off x="609600" y="677665"/>
            <a:ext cx="10972800" cy="4906963"/>
          </a:xfrm>
        </p:spPr>
        <p:txBody>
          <a:bodyPr/>
          <a:lstStyle/>
          <a:p>
            <a:pPr algn="just"/>
            <a:r>
              <a:rPr lang="en-IN" b="1" dirty="0">
                <a:solidFill>
                  <a:schemeClr val="tx1"/>
                </a:solidFill>
                <a:latin typeface="Times New Roman" panose="02020603050405020304" pitchFamily="18" charset="0"/>
                <a:cs typeface="Times New Roman" panose="02020603050405020304" pitchFamily="18" charset="0"/>
              </a:rPr>
              <a:t>Lin, JT, Bhattacharyya D and Lane C, (1995). “Machinability of a silicon carbide reinforced aluminium metal matrix composite. Wear”, Vol.181, pp.883-888</a:t>
            </a:r>
          </a:p>
          <a:p>
            <a:pPr algn="just"/>
            <a:endParaRPr lang="en-IN" b="1" dirty="0">
              <a:solidFill>
                <a:schemeClr val="tx1"/>
              </a:solidFill>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time required to reach the tool wear limit decreased with increases of speed and feed. </a:t>
            </a:r>
          </a:p>
          <a:p>
            <a:pPr algn="just"/>
            <a:r>
              <a:rPr lang="en-US" dirty="0">
                <a:latin typeface="Times New Roman" panose="02020603050405020304" pitchFamily="18" charset="0"/>
                <a:cs typeface="Times New Roman" panose="02020603050405020304" pitchFamily="18" charset="0"/>
              </a:rPr>
              <a:t>The volume of material removed before reaching the wear limit increased with the higher feed rate.</a:t>
            </a:r>
          </a:p>
          <a:p>
            <a:pPr algn="just"/>
            <a:r>
              <a:rPr lang="en-US" dirty="0">
                <a:latin typeface="Times New Roman" panose="02020603050405020304" pitchFamily="18" charset="0"/>
                <a:cs typeface="Times New Roman" panose="02020603050405020304" pitchFamily="18" charset="0"/>
              </a:rPr>
              <a:t>Built up edge was formed at low cutting speed.</a:t>
            </a:r>
          </a:p>
          <a:p>
            <a:pPr algn="just"/>
            <a:r>
              <a:rPr lang="en-US" dirty="0">
                <a:latin typeface="Times New Roman" panose="02020603050405020304" pitchFamily="18" charset="0"/>
                <a:cs typeface="Times New Roman" panose="02020603050405020304" pitchFamily="18" charset="0"/>
              </a:rPr>
              <a:t>Generation of voids were observed around the reinforced particles at high cutting speed which led to the crack formation. </a:t>
            </a:r>
            <a:endParaRPr lang="en-IN" b="1" dirty="0">
              <a:solidFill>
                <a:schemeClr val="tx1"/>
              </a:solidFill>
              <a:latin typeface="Times New Roman" panose="02020603050405020304" pitchFamily="18" charset="0"/>
              <a:cs typeface="Times New Roman" panose="02020603050405020304" pitchFamily="18" charset="0"/>
            </a:endParaRPr>
          </a:p>
        </p:txBody>
      </p:sp>
      <p:pic>
        <p:nvPicPr>
          <p:cNvPr id="2" name="Audio 1">
            <a:hlinkClick r:id="" action="ppaction://media"/>
            <a:extLst>
              <a:ext uri="{FF2B5EF4-FFF2-40B4-BE49-F238E27FC236}">
                <a16:creationId xmlns:a16="http://schemas.microsoft.com/office/drawing/2014/main" id="{C4C9DC98-B5A3-4DA5-B3DC-284CBDF6CEC3}"/>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2079744688"/>
      </p:ext>
    </p:extLst>
  </p:cSld>
  <p:clrMapOvr>
    <a:masterClrMapping/>
  </p:clrMapOvr>
  <p:transition advTm="26520">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METHODOLOGY</a:t>
            </a:r>
            <a:endParaRPr lang="en-US" dirty="0"/>
          </a:p>
        </p:txBody>
      </p:sp>
      <p:sp>
        <p:nvSpPr>
          <p:cNvPr id="4" name="Rounded Rectangle 3"/>
          <p:cNvSpPr/>
          <p:nvPr/>
        </p:nvSpPr>
        <p:spPr>
          <a:xfrm>
            <a:off x="1297846" y="1797771"/>
            <a:ext cx="2546252" cy="132236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lvl="0"/>
            <a:r>
              <a:rPr lang="en-IN" sz="2800" dirty="0">
                <a:solidFill>
                  <a:srgbClr val="0000FF"/>
                </a:solidFill>
                <a:latin typeface="Times New Roman" panose="02020603050405020304" pitchFamily="18" charset="0"/>
                <a:cs typeface="Times New Roman" panose="02020603050405020304" pitchFamily="18" charset="0"/>
              </a:rPr>
              <a:t>Preparation of composite</a:t>
            </a:r>
          </a:p>
        </p:txBody>
      </p:sp>
      <p:sp>
        <p:nvSpPr>
          <p:cNvPr id="5" name="Rounded Rectangle 4"/>
          <p:cNvSpPr/>
          <p:nvPr/>
        </p:nvSpPr>
        <p:spPr>
          <a:xfrm>
            <a:off x="4323040" y="1765423"/>
            <a:ext cx="1931337" cy="1338777"/>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lvl="0"/>
            <a:r>
              <a:rPr lang="en-IN" sz="2800" dirty="0">
                <a:solidFill>
                  <a:srgbClr val="0000FF"/>
                </a:solidFill>
                <a:latin typeface="Times New Roman" panose="02020603050405020304" pitchFamily="18" charset="0"/>
                <a:cs typeface="Times New Roman" panose="02020603050405020304" pitchFamily="18" charset="0"/>
              </a:rPr>
              <a:t>Machining</a:t>
            </a:r>
          </a:p>
          <a:p>
            <a:pPr lvl="0"/>
            <a:r>
              <a:rPr lang="en-IN" sz="2800" dirty="0">
                <a:solidFill>
                  <a:srgbClr val="0000FF"/>
                </a:solidFill>
                <a:latin typeface="Times New Roman" panose="02020603050405020304" pitchFamily="18" charset="0"/>
                <a:cs typeface="Times New Roman" panose="02020603050405020304" pitchFamily="18" charset="0"/>
              </a:rPr>
              <a:t>(Milling)</a:t>
            </a:r>
          </a:p>
        </p:txBody>
      </p:sp>
      <p:sp>
        <p:nvSpPr>
          <p:cNvPr id="6" name="Rounded Rectangle 5"/>
          <p:cNvSpPr/>
          <p:nvPr/>
        </p:nvSpPr>
        <p:spPr>
          <a:xfrm>
            <a:off x="4232417" y="3523992"/>
            <a:ext cx="2112585" cy="1655007"/>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lvl="0"/>
            <a:r>
              <a:rPr lang="en-IN" sz="2800" dirty="0">
                <a:solidFill>
                  <a:srgbClr val="0000FF"/>
                </a:solidFill>
                <a:latin typeface="Times New Roman" panose="02020603050405020304" pitchFamily="18" charset="0"/>
                <a:cs typeface="Times New Roman" panose="02020603050405020304" pitchFamily="18" charset="0"/>
              </a:rPr>
              <a:t>Observation of milling parameters</a:t>
            </a:r>
          </a:p>
        </p:txBody>
      </p:sp>
      <p:sp>
        <p:nvSpPr>
          <p:cNvPr id="7" name="Rounded Rectangle 6"/>
          <p:cNvSpPr/>
          <p:nvPr/>
        </p:nvSpPr>
        <p:spPr>
          <a:xfrm>
            <a:off x="6779094" y="3724310"/>
            <a:ext cx="1615067" cy="125436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lvl="0" algn="ctr"/>
            <a:r>
              <a:rPr lang="en-IN" sz="2800" dirty="0">
                <a:solidFill>
                  <a:srgbClr val="0000FF"/>
                </a:solidFill>
                <a:latin typeface="Times New Roman" pitchFamily="18" charset="0"/>
                <a:cs typeface="Times New Roman" pitchFamily="18" charset="0"/>
              </a:rPr>
              <a:t>Analysis</a:t>
            </a:r>
          </a:p>
        </p:txBody>
      </p:sp>
      <p:sp>
        <p:nvSpPr>
          <p:cNvPr id="8" name="Rounded Rectangle 7"/>
          <p:cNvSpPr/>
          <p:nvPr/>
        </p:nvSpPr>
        <p:spPr>
          <a:xfrm>
            <a:off x="8828253" y="3778410"/>
            <a:ext cx="1615067" cy="11097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lvl="0" algn="ctr"/>
            <a:r>
              <a:rPr lang="en-IN" sz="2800" dirty="0">
                <a:solidFill>
                  <a:srgbClr val="0000FF"/>
                </a:solidFill>
                <a:latin typeface="Times New Roman" pitchFamily="18" charset="0"/>
                <a:cs typeface="Times New Roman" pitchFamily="18" charset="0"/>
              </a:rPr>
              <a:t>Results</a:t>
            </a:r>
          </a:p>
        </p:txBody>
      </p:sp>
      <p:sp>
        <p:nvSpPr>
          <p:cNvPr id="9" name="Right Arrow 8"/>
          <p:cNvSpPr/>
          <p:nvPr/>
        </p:nvSpPr>
        <p:spPr>
          <a:xfrm>
            <a:off x="3844098" y="2237863"/>
            <a:ext cx="450167" cy="3938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Down Arrow 10"/>
          <p:cNvSpPr/>
          <p:nvPr/>
        </p:nvSpPr>
        <p:spPr>
          <a:xfrm>
            <a:off x="5077053" y="3116029"/>
            <a:ext cx="365760" cy="4079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own Arrow 11"/>
          <p:cNvSpPr/>
          <p:nvPr/>
        </p:nvSpPr>
        <p:spPr>
          <a:xfrm rot="16200000">
            <a:off x="8406223" y="4161579"/>
            <a:ext cx="422030" cy="42203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p:cNvSpPr/>
          <p:nvPr/>
        </p:nvSpPr>
        <p:spPr>
          <a:xfrm>
            <a:off x="6369124" y="4161580"/>
            <a:ext cx="436099" cy="37982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Audio 2">
            <a:hlinkClick r:id="" action="ppaction://media"/>
            <a:extLst>
              <a:ext uri="{FF2B5EF4-FFF2-40B4-BE49-F238E27FC236}">
                <a16:creationId xmlns:a16="http://schemas.microsoft.com/office/drawing/2014/main" id="{9E252ADB-D119-4AF6-9656-89433F0E3DDD}"/>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3395381748"/>
      </p:ext>
    </p:extLst>
  </p:cSld>
  <p:clrMapOvr>
    <a:masterClrMapping/>
  </p:clrMapOvr>
  <p:transition advTm="10243">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D06DB-06C9-4DFE-B7AD-32B9E56BE3A3}"/>
              </a:ext>
            </a:extLst>
          </p:cNvPr>
          <p:cNvSpPr>
            <a:spLocks noGrp="1"/>
          </p:cNvSpPr>
          <p:nvPr>
            <p:ph type="title"/>
          </p:nvPr>
        </p:nvSpPr>
        <p:spPr/>
        <p:txBody>
          <a:bodyPr/>
          <a:lstStyle/>
          <a:p>
            <a:r>
              <a:rPr lang="en-US" b="1" dirty="0"/>
              <a:t>PREPARATION OF MATRIX</a:t>
            </a:r>
            <a:endParaRPr lang="en-IN" b="1" dirty="0"/>
          </a:p>
        </p:txBody>
      </p:sp>
      <p:graphicFrame>
        <p:nvGraphicFramePr>
          <p:cNvPr id="4" name="Content Placeholder 3">
            <a:extLst>
              <a:ext uri="{FF2B5EF4-FFF2-40B4-BE49-F238E27FC236}">
                <a16:creationId xmlns:a16="http://schemas.microsoft.com/office/drawing/2014/main" id="{DF1EA878-9731-4525-8C30-1945D1D9BDC8}"/>
              </a:ext>
            </a:extLst>
          </p:cNvPr>
          <p:cNvGraphicFramePr>
            <a:graphicFrameLocks noGrp="1"/>
          </p:cNvGraphicFramePr>
          <p:nvPr>
            <p:ph idx="1"/>
            <p:extLst>
              <p:ext uri="{D42A27DB-BD31-4B8C-83A1-F6EECF244321}">
                <p14:modId xmlns:p14="http://schemas.microsoft.com/office/powerpoint/2010/main" val="1202614457"/>
              </p:ext>
            </p:extLst>
          </p:nvPr>
        </p:nvGraphicFramePr>
        <p:xfrm>
          <a:off x="609600" y="1066802"/>
          <a:ext cx="5382827" cy="2990065"/>
        </p:xfrm>
        <a:graphic>
          <a:graphicData uri="http://schemas.openxmlformats.org/drawingml/2006/table">
            <a:tbl>
              <a:tblPr firstRow="1" firstCol="1" bandRow="1">
                <a:tableStyleId>{5C22544A-7EE6-4342-B048-85BDC9FD1C3A}</a:tableStyleId>
              </a:tblPr>
              <a:tblGrid>
                <a:gridCol w="2551111">
                  <a:extLst>
                    <a:ext uri="{9D8B030D-6E8A-4147-A177-3AD203B41FA5}">
                      <a16:colId xmlns:a16="http://schemas.microsoft.com/office/drawing/2014/main" val="876307772"/>
                    </a:ext>
                  </a:extLst>
                </a:gridCol>
                <a:gridCol w="2831716">
                  <a:extLst>
                    <a:ext uri="{9D8B030D-6E8A-4147-A177-3AD203B41FA5}">
                      <a16:colId xmlns:a16="http://schemas.microsoft.com/office/drawing/2014/main" val="2428943759"/>
                    </a:ext>
                  </a:extLst>
                </a:gridCol>
              </a:tblGrid>
              <a:tr h="168819">
                <a:tc>
                  <a:txBody>
                    <a:bodyPr/>
                    <a:lstStyle/>
                    <a:p>
                      <a:pPr marL="104140">
                        <a:lnSpc>
                          <a:spcPts val="1455"/>
                        </a:lnSpc>
                      </a:pPr>
                      <a:r>
                        <a:rPr lang="en-US" sz="1300">
                          <a:solidFill>
                            <a:schemeClr val="tx1"/>
                          </a:solidFill>
                          <a:effectLst/>
                        </a:rPr>
                        <a:t>Conventional alloy</a:t>
                      </a:r>
                      <a:endParaRPr lang="en-IN" sz="1100">
                        <a:solidFill>
                          <a:schemeClr val="tx1"/>
                        </a:solidFill>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L="160020">
                        <a:lnSpc>
                          <a:spcPts val="1455"/>
                        </a:lnSpc>
                      </a:pPr>
                      <a:r>
                        <a:rPr lang="en-US" sz="1300">
                          <a:solidFill>
                            <a:schemeClr val="tx1"/>
                          </a:solidFill>
                          <a:effectLst/>
                        </a:rPr>
                        <a:t>Al6061</a:t>
                      </a:r>
                      <a:endParaRPr lang="en-IN" sz="1100">
                        <a:solidFill>
                          <a:schemeClr val="tx1"/>
                        </a:solidFill>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2407037838"/>
                  </a:ext>
                </a:extLst>
              </a:tr>
              <a:tr h="1510007">
                <a:tc>
                  <a:txBody>
                    <a:bodyPr/>
                    <a:lstStyle/>
                    <a:p>
                      <a:pPr marL="104140">
                        <a:spcBef>
                          <a:spcPts val="345"/>
                        </a:spcBef>
                        <a:spcAft>
                          <a:spcPts val="0"/>
                        </a:spcAft>
                      </a:pPr>
                      <a:r>
                        <a:rPr lang="en-US" sz="1300">
                          <a:solidFill>
                            <a:schemeClr val="tx1"/>
                          </a:solidFill>
                          <a:effectLst/>
                        </a:rPr>
                        <a:t>MMC material</a:t>
                      </a:r>
                      <a:endParaRPr lang="en-IN" sz="1100">
                        <a:solidFill>
                          <a:schemeClr val="tx1"/>
                        </a:solidFill>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L="160020" marR="758825">
                        <a:lnSpc>
                          <a:spcPct val="150000"/>
                        </a:lnSpc>
                        <a:spcBef>
                          <a:spcPts val="345"/>
                        </a:spcBef>
                        <a:spcAft>
                          <a:spcPts val="0"/>
                        </a:spcAft>
                      </a:pPr>
                      <a:r>
                        <a:rPr lang="en-US" sz="1300" dirty="0">
                          <a:solidFill>
                            <a:schemeClr val="tx1"/>
                          </a:solidFill>
                          <a:effectLst/>
                        </a:rPr>
                        <a:t>Matrix = Al6061 </a:t>
                      </a:r>
                      <a:endParaRPr lang="en-IN" sz="1100" dirty="0">
                        <a:solidFill>
                          <a:schemeClr val="tx1"/>
                        </a:solidFill>
                        <a:effectLst/>
                      </a:endParaRPr>
                    </a:p>
                    <a:p>
                      <a:pPr marL="160020" marR="758825">
                        <a:lnSpc>
                          <a:spcPct val="150000"/>
                        </a:lnSpc>
                        <a:spcBef>
                          <a:spcPts val="345"/>
                        </a:spcBef>
                        <a:spcAft>
                          <a:spcPts val="0"/>
                        </a:spcAft>
                      </a:pPr>
                      <a:r>
                        <a:rPr lang="en-US" sz="1300" dirty="0">
                          <a:solidFill>
                            <a:schemeClr val="tx1"/>
                          </a:solidFill>
                          <a:effectLst/>
                        </a:rPr>
                        <a:t>Reinforcement = </a:t>
                      </a:r>
                      <a:r>
                        <a:rPr lang="en-US" sz="1300" dirty="0" err="1">
                          <a:solidFill>
                            <a:schemeClr val="tx1"/>
                          </a:solidFill>
                          <a:effectLst/>
                        </a:rPr>
                        <a:t>SiC</a:t>
                      </a:r>
                      <a:endParaRPr lang="en-IN" sz="1100" dirty="0">
                        <a:solidFill>
                          <a:schemeClr val="tx1"/>
                        </a:solidFill>
                        <a:effectLst/>
                      </a:endParaRPr>
                    </a:p>
                    <a:p>
                      <a:pPr marL="160020">
                        <a:lnSpc>
                          <a:spcPct val="150000"/>
                        </a:lnSpc>
                        <a:spcBef>
                          <a:spcPts val="5"/>
                        </a:spcBef>
                        <a:spcAft>
                          <a:spcPts val="0"/>
                        </a:spcAft>
                      </a:pPr>
                      <a:r>
                        <a:rPr lang="en-US" sz="1300" dirty="0">
                          <a:solidFill>
                            <a:schemeClr val="tx1"/>
                          </a:solidFill>
                          <a:effectLst/>
                        </a:rPr>
                        <a:t>Particulate size = 70µm</a:t>
                      </a:r>
                      <a:endParaRPr lang="en-IN" sz="1100" dirty="0">
                        <a:solidFill>
                          <a:schemeClr val="tx1"/>
                        </a:solidFill>
                        <a:effectLst/>
                      </a:endParaRPr>
                    </a:p>
                    <a:p>
                      <a:pPr>
                        <a:lnSpc>
                          <a:spcPct val="150000"/>
                        </a:lnSpc>
                        <a:spcBef>
                          <a:spcPts val="5"/>
                        </a:spcBef>
                      </a:pPr>
                      <a:r>
                        <a:rPr lang="en-US" sz="1300" dirty="0">
                          <a:solidFill>
                            <a:schemeClr val="tx1"/>
                          </a:solidFill>
                          <a:effectLst/>
                        </a:rPr>
                        <a:t>   Weight percentage= 3.75% &amp; 5%</a:t>
                      </a:r>
                      <a:endParaRPr lang="en-IN" sz="1100" dirty="0">
                        <a:solidFill>
                          <a:schemeClr val="tx1"/>
                        </a:solidFill>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1748378330"/>
                  </a:ext>
                </a:extLst>
              </a:tr>
              <a:tr h="233758">
                <a:tc>
                  <a:txBody>
                    <a:bodyPr/>
                    <a:lstStyle/>
                    <a:p>
                      <a:pPr marL="104140">
                        <a:spcBef>
                          <a:spcPts val="340"/>
                        </a:spcBef>
                        <a:spcAft>
                          <a:spcPts val="0"/>
                        </a:spcAft>
                      </a:pPr>
                      <a:r>
                        <a:rPr lang="en-US" sz="1300">
                          <a:solidFill>
                            <a:schemeClr val="tx1"/>
                          </a:solidFill>
                          <a:effectLst/>
                        </a:rPr>
                        <a:t>Method of fabrication</a:t>
                      </a:r>
                      <a:endParaRPr lang="en-IN" sz="1100">
                        <a:solidFill>
                          <a:schemeClr val="tx1"/>
                        </a:solidFill>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L="160020">
                        <a:lnSpc>
                          <a:spcPct val="150000"/>
                        </a:lnSpc>
                        <a:spcBef>
                          <a:spcPts val="340"/>
                        </a:spcBef>
                        <a:spcAft>
                          <a:spcPts val="0"/>
                        </a:spcAft>
                      </a:pPr>
                      <a:r>
                        <a:rPr lang="en-US" sz="1300">
                          <a:solidFill>
                            <a:schemeClr val="tx1"/>
                          </a:solidFill>
                          <a:effectLst/>
                        </a:rPr>
                        <a:t>Stir casting technique</a:t>
                      </a:r>
                      <a:endParaRPr lang="en-IN" sz="1100">
                        <a:solidFill>
                          <a:schemeClr val="tx1"/>
                        </a:solidFill>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2623731138"/>
                  </a:ext>
                </a:extLst>
              </a:tr>
              <a:tr h="760472">
                <a:tc>
                  <a:txBody>
                    <a:bodyPr/>
                    <a:lstStyle/>
                    <a:p>
                      <a:pPr marL="104140">
                        <a:spcBef>
                          <a:spcPts val="345"/>
                        </a:spcBef>
                        <a:spcAft>
                          <a:spcPts val="0"/>
                        </a:spcAft>
                      </a:pPr>
                      <a:r>
                        <a:rPr lang="en-US" sz="1300" dirty="0">
                          <a:solidFill>
                            <a:schemeClr val="tx1"/>
                          </a:solidFill>
                          <a:effectLst/>
                        </a:rPr>
                        <a:t>Specification</a:t>
                      </a:r>
                      <a:endParaRPr lang="en-IN" sz="1100" dirty="0">
                        <a:solidFill>
                          <a:schemeClr val="tx1"/>
                        </a:solidFill>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L="160020">
                        <a:lnSpc>
                          <a:spcPct val="150000"/>
                        </a:lnSpc>
                        <a:spcBef>
                          <a:spcPts val="345"/>
                        </a:spcBef>
                        <a:spcAft>
                          <a:spcPts val="0"/>
                        </a:spcAft>
                      </a:pPr>
                      <a:r>
                        <a:rPr lang="en-US" sz="1300" dirty="0">
                          <a:solidFill>
                            <a:schemeClr val="tx1"/>
                          </a:solidFill>
                          <a:effectLst/>
                        </a:rPr>
                        <a:t>Length= 150 mm</a:t>
                      </a:r>
                      <a:endParaRPr lang="en-IN" sz="1100" dirty="0">
                        <a:solidFill>
                          <a:schemeClr val="tx1"/>
                        </a:solidFill>
                        <a:effectLst/>
                      </a:endParaRPr>
                    </a:p>
                    <a:p>
                      <a:pPr marR="772795">
                        <a:lnSpc>
                          <a:spcPct val="150000"/>
                        </a:lnSpc>
                      </a:pPr>
                      <a:r>
                        <a:rPr lang="en-US" sz="1300" dirty="0">
                          <a:solidFill>
                            <a:schemeClr val="tx1"/>
                          </a:solidFill>
                          <a:effectLst/>
                        </a:rPr>
                        <a:t>   Thickness= 10 mm </a:t>
                      </a:r>
                      <a:endParaRPr lang="en-IN" sz="1100" dirty="0">
                        <a:solidFill>
                          <a:schemeClr val="tx1"/>
                        </a:solidFill>
                        <a:effectLst/>
                      </a:endParaRPr>
                    </a:p>
                    <a:p>
                      <a:pPr marR="772795">
                        <a:lnSpc>
                          <a:spcPct val="150000"/>
                        </a:lnSpc>
                      </a:pPr>
                      <a:r>
                        <a:rPr lang="en-US" sz="1300" dirty="0">
                          <a:solidFill>
                            <a:schemeClr val="tx1"/>
                          </a:solidFill>
                          <a:effectLst/>
                        </a:rPr>
                        <a:t>   Width = 100 mm</a:t>
                      </a:r>
                      <a:endParaRPr lang="en-IN" sz="1100" dirty="0">
                        <a:solidFill>
                          <a:schemeClr val="tx1"/>
                        </a:solidFill>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1918540268"/>
                  </a:ext>
                </a:extLst>
              </a:tr>
              <a:tr h="148561">
                <a:tc>
                  <a:txBody>
                    <a:bodyPr/>
                    <a:lstStyle/>
                    <a:p>
                      <a:pPr marL="104140">
                        <a:spcBef>
                          <a:spcPts val="345"/>
                        </a:spcBef>
                        <a:spcAft>
                          <a:spcPts val="0"/>
                        </a:spcAft>
                      </a:pP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L="160020">
                        <a:spcBef>
                          <a:spcPts val="345"/>
                        </a:spcBef>
                        <a:spcAft>
                          <a:spcPts val="0"/>
                        </a:spcAft>
                      </a:pP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4210848610"/>
                  </a:ext>
                </a:extLst>
              </a:tr>
            </a:tbl>
          </a:graphicData>
        </a:graphic>
      </p:graphicFrame>
      <p:sp>
        <p:nvSpPr>
          <p:cNvPr id="5" name="TextBox 4">
            <a:extLst>
              <a:ext uri="{FF2B5EF4-FFF2-40B4-BE49-F238E27FC236}">
                <a16:creationId xmlns:a16="http://schemas.microsoft.com/office/drawing/2014/main" id="{936D583F-CB7C-415C-BFB6-0F255AE085AC}"/>
              </a:ext>
            </a:extLst>
          </p:cNvPr>
          <p:cNvSpPr txBox="1"/>
          <p:nvPr/>
        </p:nvSpPr>
        <p:spPr>
          <a:xfrm>
            <a:off x="506027" y="4119124"/>
            <a:ext cx="10972800" cy="2086725"/>
          </a:xfrm>
          <a:prstGeom prst="rect">
            <a:avLst/>
          </a:prstGeom>
          <a:noFill/>
        </p:spPr>
        <p:txBody>
          <a:bodyPr wrap="square" rtlCol="0">
            <a:spAutoFit/>
          </a:bodyPr>
          <a:lstStyle/>
          <a:p>
            <a:pPr marL="342900" indent="-342900" algn="just" fontAlgn="base">
              <a:spcBef>
                <a:spcPct val="20000"/>
              </a:spcBef>
              <a:spcAft>
                <a:spcPct val="0"/>
              </a:spcAft>
              <a:buFont typeface="Arial" panose="020B0604020202020204" pitchFamily="34" charset="0"/>
              <a:buChar char="•"/>
            </a:pPr>
            <a:r>
              <a:rPr lang="en-US" sz="2400" dirty="0">
                <a:solidFill>
                  <a:srgbClr val="0000FF"/>
                </a:solidFill>
                <a:latin typeface="Times New Roman" panose="02020603050405020304" pitchFamily="18" charset="0"/>
                <a:cs typeface="Times New Roman" panose="02020603050405020304" pitchFamily="18" charset="0"/>
              </a:rPr>
              <a:t>The MMC was fabricated using Stir casting technique. </a:t>
            </a:r>
          </a:p>
          <a:p>
            <a:pPr marL="342900" indent="-342900" algn="just" fontAlgn="base">
              <a:spcBef>
                <a:spcPct val="20000"/>
              </a:spcBef>
              <a:spcAft>
                <a:spcPct val="0"/>
              </a:spcAft>
              <a:buFont typeface="Arial" panose="020B0604020202020204" pitchFamily="34" charset="0"/>
              <a:buChar char="•"/>
            </a:pPr>
            <a:r>
              <a:rPr lang="en-US" sz="2400" dirty="0">
                <a:solidFill>
                  <a:srgbClr val="0000FF"/>
                </a:solidFill>
                <a:latin typeface="Times New Roman" panose="02020603050405020304" pitchFamily="18" charset="0"/>
                <a:cs typeface="Times New Roman" panose="02020603050405020304" pitchFamily="18" charset="0"/>
              </a:rPr>
              <a:t>Initially the Al6061 was melted , then Sic particles  (which were preheated in oven at 300 degree Celsius) were added and the stirrer was made to run.</a:t>
            </a:r>
          </a:p>
          <a:p>
            <a:pPr marL="342900" indent="-342900" algn="just" fontAlgn="base">
              <a:spcBef>
                <a:spcPct val="20000"/>
              </a:spcBef>
              <a:spcAft>
                <a:spcPct val="0"/>
              </a:spcAft>
              <a:buFont typeface="Arial" panose="020B0604020202020204" pitchFamily="34" charset="0"/>
              <a:buChar char="•"/>
            </a:pPr>
            <a:r>
              <a:rPr lang="en-US" sz="2400" dirty="0">
                <a:solidFill>
                  <a:srgbClr val="0000FF"/>
                </a:solidFill>
                <a:latin typeface="Times New Roman" panose="02020603050405020304" pitchFamily="18" charset="0"/>
                <a:cs typeface="Times New Roman" panose="02020603050405020304" pitchFamily="18" charset="0"/>
              </a:rPr>
              <a:t>The prepared melt was then poured into the mould . After the cool down the plates were obtained.</a:t>
            </a:r>
            <a:endParaRPr lang="en-IN" sz="2400" dirty="0">
              <a:solidFill>
                <a:srgbClr val="0000FF"/>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28CD67B-D571-499E-957F-66E1B9FDC785}"/>
              </a:ext>
            </a:extLst>
          </p:cNvPr>
          <p:cNvPicPr>
            <a:picLocks noChangeAspect="1"/>
          </p:cNvPicPr>
          <p:nvPr/>
        </p:nvPicPr>
        <p:blipFill>
          <a:blip r:embed="rId4"/>
          <a:stretch>
            <a:fillRect/>
          </a:stretch>
        </p:blipFill>
        <p:spPr>
          <a:xfrm>
            <a:off x="9538733" y="1395594"/>
            <a:ext cx="1483551" cy="2637424"/>
          </a:xfrm>
          <a:prstGeom prst="rect">
            <a:avLst/>
          </a:prstGeom>
        </p:spPr>
      </p:pic>
      <p:pic>
        <p:nvPicPr>
          <p:cNvPr id="8" name="Picture 7">
            <a:extLst>
              <a:ext uri="{FF2B5EF4-FFF2-40B4-BE49-F238E27FC236}">
                <a16:creationId xmlns:a16="http://schemas.microsoft.com/office/drawing/2014/main" id="{5C97BF92-1D6B-40F4-A93F-A222A3985757}"/>
              </a:ext>
            </a:extLst>
          </p:cNvPr>
          <p:cNvPicPr>
            <a:picLocks noChangeAspect="1"/>
          </p:cNvPicPr>
          <p:nvPr/>
        </p:nvPicPr>
        <p:blipFill>
          <a:blip r:embed="rId5"/>
          <a:stretch>
            <a:fillRect/>
          </a:stretch>
        </p:blipFill>
        <p:spPr>
          <a:xfrm>
            <a:off x="6199575" y="1367979"/>
            <a:ext cx="2815878" cy="2751145"/>
          </a:xfrm>
          <a:prstGeom prst="rect">
            <a:avLst/>
          </a:prstGeom>
        </p:spPr>
      </p:pic>
      <p:pic>
        <p:nvPicPr>
          <p:cNvPr id="3" name="Audio 2">
            <a:hlinkClick r:id="" action="ppaction://media"/>
            <a:extLst>
              <a:ext uri="{FF2B5EF4-FFF2-40B4-BE49-F238E27FC236}">
                <a16:creationId xmlns:a16="http://schemas.microsoft.com/office/drawing/2014/main" id="{08F4320C-E7B0-42CB-9E76-A89F3D97ABF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1177291083"/>
      </p:ext>
    </p:extLst>
  </p:cSld>
  <p:clrMapOvr>
    <a:masterClrMapping/>
  </p:clrMapOvr>
  <p:transition advTm="49740">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C73B0-6461-4B65-B5CE-8306C987D816}"/>
              </a:ext>
            </a:extLst>
          </p:cNvPr>
          <p:cNvSpPr>
            <a:spLocks noGrp="1"/>
          </p:cNvSpPr>
          <p:nvPr>
            <p:ph type="title"/>
          </p:nvPr>
        </p:nvSpPr>
        <p:spPr/>
        <p:txBody>
          <a:bodyPr/>
          <a:lstStyle/>
          <a:p>
            <a:r>
              <a:rPr lang="en-US" b="1" dirty="0"/>
              <a:t>MACHINING </a:t>
            </a:r>
            <a:endParaRPr lang="en-IN" b="1" dirty="0"/>
          </a:p>
        </p:txBody>
      </p:sp>
      <p:pic>
        <p:nvPicPr>
          <p:cNvPr id="4" name="Content Placeholder 3">
            <a:extLst>
              <a:ext uri="{FF2B5EF4-FFF2-40B4-BE49-F238E27FC236}">
                <a16:creationId xmlns:a16="http://schemas.microsoft.com/office/drawing/2014/main" id="{D364DDC8-AEE1-4881-9812-90FA7952F164}"/>
              </a:ext>
            </a:extLst>
          </p:cNvPr>
          <p:cNvPicPr>
            <a:picLocks noGrp="1" noChangeAspect="1"/>
          </p:cNvPicPr>
          <p:nvPr>
            <p:ph idx="1"/>
          </p:nvPr>
        </p:nvPicPr>
        <p:blipFill>
          <a:blip r:embed="rId4"/>
          <a:stretch>
            <a:fillRect/>
          </a:stretch>
        </p:blipFill>
        <p:spPr>
          <a:xfrm>
            <a:off x="689500" y="1329770"/>
            <a:ext cx="3530037" cy="2408129"/>
          </a:xfrm>
          <a:prstGeom prst="rect">
            <a:avLst/>
          </a:prstGeom>
        </p:spPr>
      </p:pic>
      <p:pic>
        <p:nvPicPr>
          <p:cNvPr id="5" name="Picture 4">
            <a:extLst>
              <a:ext uri="{FF2B5EF4-FFF2-40B4-BE49-F238E27FC236}">
                <a16:creationId xmlns:a16="http://schemas.microsoft.com/office/drawing/2014/main" id="{059F7190-8949-4432-BEDE-C527770CE43E}"/>
              </a:ext>
            </a:extLst>
          </p:cNvPr>
          <p:cNvPicPr>
            <a:picLocks noChangeAspect="1"/>
          </p:cNvPicPr>
          <p:nvPr/>
        </p:nvPicPr>
        <p:blipFill>
          <a:blip r:embed="rId5"/>
          <a:stretch>
            <a:fillRect/>
          </a:stretch>
        </p:blipFill>
        <p:spPr>
          <a:xfrm>
            <a:off x="4355441" y="1342346"/>
            <a:ext cx="3481118" cy="2408129"/>
          </a:xfrm>
          <a:prstGeom prst="rect">
            <a:avLst/>
          </a:prstGeom>
        </p:spPr>
      </p:pic>
      <p:sp>
        <p:nvSpPr>
          <p:cNvPr id="7" name="TextBox 6">
            <a:extLst>
              <a:ext uri="{FF2B5EF4-FFF2-40B4-BE49-F238E27FC236}">
                <a16:creationId xmlns:a16="http://schemas.microsoft.com/office/drawing/2014/main" id="{7918E9D1-5261-49A3-BBD8-B4C0762564EB}"/>
              </a:ext>
            </a:extLst>
          </p:cNvPr>
          <p:cNvSpPr txBox="1"/>
          <p:nvPr/>
        </p:nvSpPr>
        <p:spPr>
          <a:xfrm>
            <a:off x="586865" y="3980153"/>
            <a:ext cx="10758797" cy="2529923"/>
          </a:xfrm>
          <a:prstGeom prst="rect">
            <a:avLst/>
          </a:prstGeom>
          <a:noFill/>
        </p:spPr>
        <p:txBody>
          <a:bodyPr wrap="square" rtlCol="0">
            <a:spAutoFit/>
          </a:bodyPr>
          <a:lstStyle/>
          <a:p>
            <a:pPr marL="342900" indent="-342900" algn="just" fontAlgn="base">
              <a:spcBef>
                <a:spcPct val="20000"/>
              </a:spcBef>
              <a:spcAft>
                <a:spcPct val="0"/>
              </a:spcAft>
              <a:buFont typeface="Arial" panose="020B0604020202020204" pitchFamily="34" charset="0"/>
              <a:buChar char="•"/>
            </a:pPr>
            <a:r>
              <a:rPr lang="en-US" sz="2400" dirty="0">
                <a:solidFill>
                  <a:srgbClr val="0000FF"/>
                </a:solidFill>
                <a:latin typeface="Times New Roman" panose="02020603050405020304" pitchFamily="18" charset="0"/>
                <a:cs typeface="Times New Roman" panose="02020603050405020304" pitchFamily="18" charset="0"/>
              </a:rPr>
              <a:t>The machining was done using vertical milling machine with an end mill cutter of 12 mm  diameter.</a:t>
            </a:r>
          </a:p>
          <a:p>
            <a:pPr marL="342900" indent="-342900" algn="just" fontAlgn="base">
              <a:spcBef>
                <a:spcPct val="20000"/>
              </a:spcBef>
              <a:spcAft>
                <a:spcPct val="0"/>
              </a:spcAft>
              <a:buFont typeface="Arial" panose="020B0604020202020204" pitchFamily="34" charset="0"/>
              <a:buChar char="•"/>
            </a:pPr>
            <a:r>
              <a:rPr lang="en-US" sz="2400" dirty="0">
                <a:solidFill>
                  <a:srgbClr val="0000FF"/>
                </a:solidFill>
                <a:latin typeface="Times New Roman" panose="02020603050405020304" pitchFamily="18" charset="0"/>
                <a:cs typeface="Times New Roman" panose="02020603050405020304" pitchFamily="18" charset="0"/>
              </a:rPr>
              <a:t>The machining was done at 3 different speeds and 3 different feed for each speed.</a:t>
            </a:r>
          </a:p>
          <a:p>
            <a:pPr marL="342900" indent="-342900" algn="just" fontAlgn="base">
              <a:spcBef>
                <a:spcPct val="20000"/>
              </a:spcBef>
              <a:spcAft>
                <a:spcPct val="0"/>
              </a:spcAft>
              <a:buFont typeface="Arial" panose="020B0604020202020204" pitchFamily="34" charset="0"/>
              <a:buChar char="•"/>
            </a:pPr>
            <a:r>
              <a:rPr lang="en-US" sz="2400" dirty="0">
                <a:solidFill>
                  <a:srgbClr val="0000FF"/>
                </a:solidFill>
                <a:latin typeface="Times New Roman" panose="02020603050405020304" pitchFamily="18" charset="0"/>
                <a:cs typeface="Times New Roman" panose="02020603050405020304" pitchFamily="18" charset="0"/>
              </a:rPr>
              <a:t>The plates were mounted on the dynamometer which recorded and displayed the values of force.</a:t>
            </a:r>
          </a:p>
          <a:p>
            <a:pPr algn="just" fontAlgn="base">
              <a:spcBef>
                <a:spcPct val="20000"/>
              </a:spcBef>
              <a:spcAft>
                <a:spcPct val="0"/>
              </a:spcAft>
            </a:pPr>
            <a:endParaRPr lang="en-US" sz="2400" dirty="0">
              <a:solidFill>
                <a:srgbClr val="0000FF"/>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A4C90E09-1776-498F-BFB4-AEA6820342D2}"/>
              </a:ext>
            </a:extLst>
          </p:cNvPr>
          <p:cNvPicPr>
            <a:picLocks noChangeAspect="1"/>
          </p:cNvPicPr>
          <p:nvPr/>
        </p:nvPicPr>
        <p:blipFill>
          <a:blip r:embed="rId6"/>
          <a:stretch>
            <a:fillRect/>
          </a:stretch>
        </p:blipFill>
        <p:spPr>
          <a:xfrm>
            <a:off x="8089089" y="1342346"/>
            <a:ext cx="3493311" cy="2408129"/>
          </a:xfrm>
          <a:prstGeom prst="rect">
            <a:avLst/>
          </a:prstGeom>
        </p:spPr>
      </p:pic>
      <p:pic>
        <p:nvPicPr>
          <p:cNvPr id="3" name="Audio 2">
            <a:hlinkClick r:id="" action="ppaction://media"/>
            <a:extLst>
              <a:ext uri="{FF2B5EF4-FFF2-40B4-BE49-F238E27FC236}">
                <a16:creationId xmlns:a16="http://schemas.microsoft.com/office/drawing/2014/main" id="{2F3B1A37-05C7-4704-A5BF-692AC100843F}"/>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2110561158"/>
      </p:ext>
    </p:extLst>
  </p:cSld>
  <p:clrMapOvr>
    <a:masterClrMapping/>
  </p:clrMapOvr>
  <p:transition advTm="24523">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85D3E-B64B-454D-BBE2-16A3FDECB049}"/>
              </a:ext>
            </a:extLst>
          </p:cNvPr>
          <p:cNvSpPr>
            <a:spLocks noGrp="1"/>
          </p:cNvSpPr>
          <p:nvPr>
            <p:ph type="title"/>
          </p:nvPr>
        </p:nvSpPr>
        <p:spPr/>
        <p:txBody>
          <a:bodyPr/>
          <a:lstStyle/>
          <a:p>
            <a:r>
              <a:rPr lang="en-US" b="1" dirty="0"/>
              <a:t>OBSERVATION</a:t>
            </a:r>
            <a:endParaRPr lang="en-IN" b="1" dirty="0"/>
          </a:p>
        </p:txBody>
      </p:sp>
      <p:pic>
        <p:nvPicPr>
          <p:cNvPr id="5" name="Content Placeholder 4">
            <a:extLst>
              <a:ext uri="{FF2B5EF4-FFF2-40B4-BE49-F238E27FC236}">
                <a16:creationId xmlns:a16="http://schemas.microsoft.com/office/drawing/2014/main" id="{78EB26BD-3AF4-4BD3-9D63-2304E8150637}"/>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701336" y="1217350"/>
            <a:ext cx="2953784" cy="2209800"/>
          </a:xfrm>
        </p:spPr>
      </p:pic>
      <p:pic>
        <p:nvPicPr>
          <p:cNvPr id="7" name="Picture 6">
            <a:extLst>
              <a:ext uri="{FF2B5EF4-FFF2-40B4-BE49-F238E27FC236}">
                <a16:creationId xmlns:a16="http://schemas.microsoft.com/office/drawing/2014/main" id="{60B3AE28-4753-47EF-A1BF-589195A3C0E7}"/>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23804" b="16582"/>
          <a:stretch/>
        </p:blipFill>
        <p:spPr>
          <a:xfrm>
            <a:off x="3851245" y="1217350"/>
            <a:ext cx="2843578" cy="2209800"/>
          </a:xfrm>
          <a:prstGeom prst="rect">
            <a:avLst/>
          </a:prstGeom>
        </p:spPr>
      </p:pic>
      <p:pic>
        <p:nvPicPr>
          <p:cNvPr id="8" name="Picture 7">
            <a:extLst>
              <a:ext uri="{FF2B5EF4-FFF2-40B4-BE49-F238E27FC236}">
                <a16:creationId xmlns:a16="http://schemas.microsoft.com/office/drawing/2014/main" id="{4AD75DA0-4C32-4418-B8F4-5A24D957F203}"/>
              </a:ext>
            </a:extLst>
          </p:cNvPr>
          <p:cNvPicPr>
            <a:picLocks noChangeAspect="1"/>
          </p:cNvPicPr>
          <p:nvPr/>
        </p:nvPicPr>
        <p:blipFill>
          <a:blip r:embed="rId6"/>
          <a:stretch>
            <a:fillRect/>
          </a:stretch>
        </p:blipFill>
        <p:spPr>
          <a:xfrm>
            <a:off x="8940630" y="1098611"/>
            <a:ext cx="2843578" cy="4135885"/>
          </a:xfrm>
          <a:prstGeom prst="rect">
            <a:avLst/>
          </a:prstGeom>
        </p:spPr>
      </p:pic>
      <p:sp>
        <p:nvSpPr>
          <p:cNvPr id="9" name="TextBox 8">
            <a:extLst>
              <a:ext uri="{FF2B5EF4-FFF2-40B4-BE49-F238E27FC236}">
                <a16:creationId xmlns:a16="http://schemas.microsoft.com/office/drawing/2014/main" id="{3C6B7C2E-1A1A-4BD8-A4D0-7A82DF56FF4A}"/>
              </a:ext>
            </a:extLst>
          </p:cNvPr>
          <p:cNvSpPr txBox="1"/>
          <p:nvPr/>
        </p:nvSpPr>
        <p:spPr>
          <a:xfrm>
            <a:off x="701336" y="3648722"/>
            <a:ext cx="8069802" cy="2456057"/>
          </a:xfrm>
          <a:prstGeom prst="rect">
            <a:avLst/>
          </a:prstGeom>
          <a:noFill/>
        </p:spPr>
        <p:txBody>
          <a:bodyPr wrap="square" rtlCol="0">
            <a:spAutoFit/>
          </a:bodyPr>
          <a:lstStyle/>
          <a:p>
            <a:pPr marL="342900" indent="-342900" algn="just" fontAlgn="base">
              <a:spcBef>
                <a:spcPct val="20000"/>
              </a:spcBef>
              <a:spcAft>
                <a:spcPct val="0"/>
              </a:spcAft>
              <a:buFont typeface="Arial" panose="020B0604020202020204" pitchFamily="34" charset="0"/>
              <a:buChar char="•"/>
            </a:pPr>
            <a:r>
              <a:rPr lang="en-US" sz="2400" dirty="0">
                <a:solidFill>
                  <a:srgbClr val="0000FF"/>
                </a:solidFill>
                <a:latin typeface="Times New Roman" panose="02020603050405020304" pitchFamily="18" charset="0"/>
                <a:cs typeface="Times New Roman" panose="02020603050405020304" pitchFamily="18" charset="0"/>
              </a:rPr>
              <a:t>After machining the average surface roughness was measured using profilometer.</a:t>
            </a:r>
          </a:p>
          <a:p>
            <a:pPr marL="342900" indent="-342900" algn="just" fontAlgn="base">
              <a:spcBef>
                <a:spcPct val="20000"/>
              </a:spcBef>
              <a:spcAft>
                <a:spcPct val="0"/>
              </a:spcAft>
              <a:buFont typeface="Arial" panose="020B0604020202020204" pitchFamily="34" charset="0"/>
              <a:buChar char="•"/>
            </a:pPr>
            <a:r>
              <a:rPr lang="en-US" sz="2400" dirty="0">
                <a:solidFill>
                  <a:srgbClr val="0000FF"/>
                </a:solidFill>
                <a:latin typeface="Times New Roman" panose="02020603050405020304" pitchFamily="18" charset="0"/>
                <a:cs typeface="Times New Roman" panose="02020603050405020304" pitchFamily="18" charset="0"/>
              </a:rPr>
              <a:t>The chips formed during machining was taken to measure average thickness using micrometer.</a:t>
            </a:r>
          </a:p>
          <a:p>
            <a:pPr marL="342900" indent="-342900" algn="just" fontAlgn="base">
              <a:spcBef>
                <a:spcPct val="20000"/>
              </a:spcBef>
              <a:spcAft>
                <a:spcPct val="0"/>
              </a:spcAft>
              <a:buFont typeface="Arial" panose="020B0604020202020204" pitchFamily="34" charset="0"/>
              <a:buChar char="•"/>
            </a:pPr>
            <a:r>
              <a:rPr lang="en-IN" sz="2400" dirty="0">
                <a:solidFill>
                  <a:srgbClr val="0000FF"/>
                </a:solidFill>
                <a:latin typeface="Times New Roman" panose="02020603050405020304" pitchFamily="18" charset="0"/>
                <a:cs typeface="Times New Roman" panose="02020603050405020304" pitchFamily="18" charset="0"/>
              </a:rPr>
              <a:t>The end mill cutter was also viewed under magnification to view the wear caused due to machining.</a:t>
            </a:r>
            <a:endParaRPr lang="en-US" sz="2400" dirty="0">
              <a:solidFill>
                <a:srgbClr val="0000FF"/>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F3D04123-02D3-4B46-A7E8-5253B664854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16200000">
            <a:off x="6698465" y="1588731"/>
            <a:ext cx="2209799" cy="1467035"/>
          </a:xfrm>
          <a:prstGeom prst="rect">
            <a:avLst/>
          </a:prstGeom>
        </p:spPr>
      </p:pic>
      <p:pic>
        <p:nvPicPr>
          <p:cNvPr id="3" name="Audio 2">
            <a:hlinkClick r:id="" action="ppaction://media"/>
            <a:extLst>
              <a:ext uri="{FF2B5EF4-FFF2-40B4-BE49-F238E27FC236}">
                <a16:creationId xmlns:a16="http://schemas.microsoft.com/office/drawing/2014/main" id="{97B91D16-99BE-4E73-A60C-16AEF2C829F9}"/>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2613425187"/>
      </p:ext>
    </p:extLst>
  </p:cSld>
  <p:clrMapOvr>
    <a:masterClrMapping/>
  </p:clrMapOvr>
  <p:transition advTm="25220">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48005"/>
            <a:ext cx="10972800" cy="792162"/>
          </a:xfrm>
        </p:spPr>
        <p:txBody>
          <a:bodyPr/>
          <a:lstStyle/>
          <a:p>
            <a:r>
              <a:rPr lang="en-IN" b="1" dirty="0">
                <a:latin typeface="Times New Roman" panose="02020603050405020304" pitchFamily="18" charset="0"/>
                <a:cs typeface="Times New Roman" panose="02020603050405020304" pitchFamily="18" charset="0"/>
              </a:rPr>
              <a:t>NUMERICAL WORK</a:t>
            </a:r>
          </a:p>
        </p:txBody>
      </p:sp>
      <p:sp>
        <p:nvSpPr>
          <p:cNvPr id="3" name="Content Placeholder 2"/>
          <p:cNvSpPr>
            <a:spLocks noGrp="1"/>
          </p:cNvSpPr>
          <p:nvPr>
            <p:ph idx="1"/>
          </p:nvPr>
        </p:nvSpPr>
        <p:spPr/>
        <p:txBody>
          <a:bodyPr/>
          <a:lstStyle/>
          <a:p>
            <a:pPr marL="0" indent="0" algn="ctr">
              <a:buNone/>
            </a:pPr>
            <a:r>
              <a:rPr lang="en-IN" sz="2800" b="1" dirty="0">
                <a:latin typeface="Times New Roman" panose="02020603050405020304" pitchFamily="18" charset="0"/>
                <a:cs typeface="Times New Roman" panose="02020603050405020304" pitchFamily="18" charset="0"/>
              </a:rPr>
              <a:t>  For 5% Sic</a:t>
            </a:r>
          </a:p>
          <a:p>
            <a:pPr marL="0" indent="0">
              <a:buNone/>
            </a:pPr>
            <a:endParaRPr lang="en-IN" b="1"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758348308"/>
              </p:ext>
            </p:extLst>
          </p:nvPr>
        </p:nvGraphicFramePr>
        <p:xfrm>
          <a:off x="2112136" y="2240799"/>
          <a:ext cx="5434884" cy="3072117"/>
        </p:xfrm>
        <a:graphic>
          <a:graphicData uri="http://schemas.openxmlformats.org/drawingml/2006/table">
            <a:tbl>
              <a:tblPr>
                <a:tableStyleId>{5C22544A-7EE6-4342-B048-85BDC9FD1C3A}</a:tableStyleId>
              </a:tblPr>
              <a:tblGrid>
                <a:gridCol w="810169">
                  <a:extLst>
                    <a:ext uri="{9D8B030D-6E8A-4147-A177-3AD203B41FA5}">
                      <a16:colId xmlns:a16="http://schemas.microsoft.com/office/drawing/2014/main" val="20000"/>
                    </a:ext>
                  </a:extLst>
                </a:gridCol>
                <a:gridCol w="810169">
                  <a:extLst>
                    <a:ext uri="{9D8B030D-6E8A-4147-A177-3AD203B41FA5}">
                      <a16:colId xmlns:a16="http://schemas.microsoft.com/office/drawing/2014/main" val="20001"/>
                    </a:ext>
                  </a:extLst>
                </a:gridCol>
                <a:gridCol w="1384039">
                  <a:extLst>
                    <a:ext uri="{9D8B030D-6E8A-4147-A177-3AD203B41FA5}">
                      <a16:colId xmlns:a16="http://schemas.microsoft.com/office/drawing/2014/main" val="20002"/>
                    </a:ext>
                  </a:extLst>
                </a:gridCol>
                <a:gridCol w="810169">
                  <a:extLst>
                    <a:ext uri="{9D8B030D-6E8A-4147-A177-3AD203B41FA5}">
                      <a16:colId xmlns:a16="http://schemas.microsoft.com/office/drawing/2014/main" val="20003"/>
                    </a:ext>
                  </a:extLst>
                </a:gridCol>
                <a:gridCol w="810169">
                  <a:extLst>
                    <a:ext uri="{9D8B030D-6E8A-4147-A177-3AD203B41FA5}">
                      <a16:colId xmlns:a16="http://schemas.microsoft.com/office/drawing/2014/main" val="20004"/>
                    </a:ext>
                  </a:extLst>
                </a:gridCol>
                <a:gridCol w="810169">
                  <a:extLst>
                    <a:ext uri="{9D8B030D-6E8A-4147-A177-3AD203B41FA5}">
                      <a16:colId xmlns:a16="http://schemas.microsoft.com/office/drawing/2014/main" val="20005"/>
                    </a:ext>
                  </a:extLst>
                </a:gridCol>
              </a:tblGrid>
              <a:tr h="269168">
                <a:tc>
                  <a:txBody>
                    <a:bodyPr/>
                    <a:lstStyle/>
                    <a:p>
                      <a:pPr algn="ctr" fontAlgn="b"/>
                      <a:r>
                        <a:rPr lang="en-IN" sz="1400" b="1" u="none" strike="noStrike" dirty="0">
                          <a:effectLst/>
                          <a:latin typeface="Times New Roman" panose="02020603050405020304" pitchFamily="18" charset="0"/>
                          <a:cs typeface="Times New Roman" panose="02020603050405020304" pitchFamily="18" charset="0"/>
                        </a:rPr>
                        <a:t>S.no</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400" b="1" u="none" strike="noStrike" dirty="0">
                          <a:effectLst/>
                          <a:latin typeface="Times New Roman" panose="02020603050405020304" pitchFamily="18" charset="0"/>
                          <a:cs typeface="Times New Roman" panose="02020603050405020304" pitchFamily="18" charset="0"/>
                        </a:rPr>
                        <a:t>Spindle</a:t>
                      </a:r>
                      <a:r>
                        <a:rPr lang="en-IN" sz="1400" b="1" u="none" strike="noStrike" baseline="0" dirty="0">
                          <a:effectLst/>
                          <a:latin typeface="Times New Roman" panose="02020603050405020304" pitchFamily="18" charset="0"/>
                          <a:cs typeface="Times New Roman" panose="02020603050405020304" pitchFamily="18" charset="0"/>
                        </a:rPr>
                        <a:t> Speed (</a:t>
                      </a:r>
                      <a:r>
                        <a:rPr lang="en-IN" sz="1400" b="1" u="none" strike="noStrike" dirty="0">
                          <a:effectLst/>
                          <a:latin typeface="Times New Roman" panose="02020603050405020304" pitchFamily="18" charset="0"/>
                          <a:cs typeface="Times New Roman" panose="02020603050405020304" pitchFamily="18" charset="0"/>
                        </a:rPr>
                        <a:t>rpm)</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400" b="1" u="none" strike="noStrike" dirty="0">
                          <a:effectLst/>
                          <a:latin typeface="Times New Roman" panose="02020603050405020304" pitchFamily="18" charset="0"/>
                          <a:cs typeface="Times New Roman" panose="02020603050405020304" pitchFamily="18" charset="0"/>
                        </a:rPr>
                        <a:t>Cutting speed (m/min)</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400" b="1" u="none" strike="noStrike" dirty="0">
                          <a:effectLst/>
                          <a:latin typeface="Times New Roman" panose="02020603050405020304" pitchFamily="18" charset="0"/>
                          <a:cs typeface="Times New Roman" panose="02020603050405020304" pitchFamily="18" charset="0"/>
                        </a:rPr>
                        <a:t>Feed</a:t>
                      </a:r>
                    </a:p>
                    <a:p>
                      <a:pPr algn="ctr" fontAlgn="b"/>
                      <a:r>
                        <a:rPr lang="en-IN" sz="1400" b="1" u="none" strike="noStrike" dirty="0">
                          <a:effectLst/>
                          <a:latin typeface="Times New Roman" panose="02020603050405020304" pitchFamily="18" charset="0"/>
                          <a:cs typeface="Times New Roman" panose="02020603050405020304" pitchFamily="18" charset="0"/>
                        </a:rPr>
                        <a:t>(mm/min)</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400" b="1" i="0" u="none" strike="noStrike" dirty="0" err="1">
                          <a:solidFill>
                            <a:srgbClr val="000000"/>
                          </a:solidFill>
                          <a:effectLst/>
                          <a:latin typeface="Times New Roman" panose="02020603050405020304" pitchFamily="18" charset="0"/>
                          <a:cs typeface="Times New Roman" panose="02020603050405020304" pitchFamily="18" charset="0"/>
                        </a:rPr>
                        <a:t>Fx</a:t>
                      </a:r>
                      <a:r>
                        <a:rPr lang="en-IN" sz="1400" b="1" i="0" u="none" strike="noStrike" dirty="0">
                          <a:solidFill>
                            <a:srgbClr val="000000"/>
                          </a:solidFill>
                          <a:effectLst/>
                          <a:latin typeface="Times New Roman" panose="02020603050405020304" pitchFamily="18" charset="0"/>
                          <a:cs typeface="Times New Roman" panose="02020603050405020304" pitchFamily="18" charset="0"/>
                        </a:rPr>
                        <a:t> (N)</a:t>
                      </a:r>
                    </a:p>
                  </a:txBody>
                  <a:tcPr marL="9525" marR="9525" marT="9525" marB="0" anchor="b"/>
                </a:tc>
                <a:tc>
                  <a:txBody>
                    <a:bodyPr/>
                    <a:lstStyle/>
                    <a:p>
                      <a:pPr algn="ctr" fontAlgn="b"/>
                      <a:r>
                        <a:rPr lang="en-IN" sz="1400" b="1" u="none" strike="noStrike" dirty="0" err="1">
                          <a:effectLst/>
                          <a:latin typeface="Times New Roman" panose="02020603050405020304" pitchFamily="18" charset="0"/>
                          <a:cs typeface="Times New Roman" panose="02020603050405020304" pitchFamily="18" charset="0"/>
                        </a:rPr>
                        <a:t>Fy</a:t>
                      </a:r>
                      <a:r>
                        <a:rPr lang="en-IN" sz="1400" b="1" u="none" strike="noStrike" dirty="0">
                          <a:effectLst/>
                          <a:latin typeface="Times New Roman" panose="02020603050405020304" pitchFamily="18" charset="0"/>
                          <a:cs typeface="Times New Roman" panose="02020603050405020304" pitchFamily="18" charset="0"/>
                        </a:rPr>
                        <a:t>(N)</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0"/>
                  </a:ext>
                </a:extLst>
              </a:tr>
              <a:tr h="269168">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1</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350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13</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20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250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140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1"/>
                  </a:ext>
                </a:extLst>
              </a:tr>
              <a:tr h="269168">
                <a:tc>
                  <a:txBody>
                    <a:bodyPr/>
                    <a:lstStyle/>
                    <a:p>
                      <a:pPr algn="ctr" fontAlgn="b"/>
                      <a:r>
                        <a:rPr lang="en-IN" sz="1200" u="none" strike="noStrike">
                          <a:effectLst/>
                          <a:latin typeface="Times New Roman" panose="02020603050405020304" pitchFamily="18" charset="0"/>
                          <a:cs typeface="Times New Roman" panose="02020603050405020304" pitchFamily="18" charset="0"/>
                        </a:rPr>
                        <a:t>2</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470</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18</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20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70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30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2"/>
                  </a:ext>
                </a:extLst>
              </a:tr>
              <a:tr h="269168">
                <a:tc>
                  <a:txBody>
                    <a:bodyPr/>
                    <a:lstStyle/>
                    <a:p>
                      <a:pPr algn="ctr" fontAlgn="b"/>
                      <a:r>
                        <a:rPr lang="en-IN" sz="1200" u="none" strike="noStrike">
                          <a:effectLst/>
                          <a:latin typeface="Times New Roman" panose="02020603050405020304" pitchFamily="18" charset="0"/>
                          <a:cs typeface="Times New Roman" panose="02020603050405020304" pitchFamily="18" charset="0"/>
                        </a:rPr>
                        <a:t>3</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660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25</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20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140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90</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3"/>
                  </a:ext>
                </a:extLst>
              </a:tr>
              <a:tr h="269168">
                <a:tc>
                  <a:txBody>
                    <a:bodyPr/>
                    <a:lstStyle/>
                    <a:p>
                      <a:pPr algn="ctr" fontAlgn="b"/>
                      <a:r>
                        <a:rPr lang="en-IN" sz="1200" u="none" strike="noStrike">
                          <a:effectLst/>
                          <a:latin typeface="Times New Roman" panose="02020603050405020304" pitchFamily="18" charset="0"/>
                          <a:cs typeface="Times New Roman" panose="02020603050405020304" pitchFamily="18" charset="0"/>
                        </a:rPr>
                        <a:t>4</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350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13</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50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360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190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4"/>
                  </a:ext>
                </a:extLst>
              </a:tr>
              <a:tr h="269168">
                <a:tc>
                  <a:txBody>
                    <a:bodyPr/>
                    <a:lstStyle/>
                    <a:p>
                      <a:pPr algn="ctr" fontAlgn="b"/>
                      <a:r>
                        <a:rPr lang="en-IN" sz="1200" u="none" strike="noStrike">
                          <a:effectLst/>
                          <a:latin typeface="Times New Roman" panose="02020603050405020304" pitchFamily="18" charset="0"/>
                          <a:cs typeface="Times New Roman" panose="02020603050405020304" pitchFamily="18" charset="0"/>
                        </a:rPr>
                        <a:t>5</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470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18</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50</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340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150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5"/>
                  </a:ext>
                </a:extLst>
              </a:tr>
              <a:tr h="269168">
                <a:tc>
                  <a:txBody>
                    <a:bodyPr/>
                    <a:lstStyle/>
                    <a:p>
                      <a:pPr algn="ctr" fontAlgn="b"/>
                      <a:r>
                        <a:rPr lang="en-IN" sz="1200" u="none" strike="noStrike">
                          <a:effectLst/>
                          <a:latin typeface="Times New Roman" panose="02020603050405020304" pitchFamily="18" charset="0"/>
                          <a:cs typeface="Times New Roman" panose="02020603050405020304" pitchFamily="18" charset="0"/>
                        </a:rPr>
                        <a:t>6</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660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25</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50</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470</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160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6"/>
                  </a:ext>
                </a:extLst>
              </a:tr>
              <a:tr h="269168">
                <a:tc>
                  <a:txBody>
                    <a:bodyPr/>
                    <a:lstStyle/>
                    <a:p>
                      <a:pPr algn="ctr" fontAlgn="b"/>
                      <a:r>
                        <a:rPr lang="en-IN" sz="1200" u="none" strike="noStrike">
                          <a:effectLst/>
                          <a:latin typeface="Times New Roman" panose="02020603050405020304" pitchFamily="18" charset="0"/>
                          <a:cs typeface="Times New Roman" panose="02020603050405020304" pitchFamily="18" charset="0"/>
                        </a:rPr>
                        <a:t>7</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350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13</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176</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220</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110</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7"/>
                  </a:ext>
                </a:extLst>
              </a:tr>
              <a:tr h="269168">
                <a:tc>
                  <a:txBody>
                    <a:bodyPr/>
                    <a:lstStyle/>
                    <a:p>
                      <a:pPr algn="ctr" fontAlgn="b"/>
                      <a:r>
                        <a:rPr lang="en-IN" sz="1200" u="none" strike="noStrike">
                          <a:effectLst/>
                          <a:latin typeface="Times New Roman" panose="02020603050405020304" pitchFamily="18" charset="0"/>
                          <a:cs typeface="Times New Roman" panose="02020603050405020304" pitchFamily="18" charset="0"/>
                        </a:rPr>
                        <a:t>8</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470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18</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176</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60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30</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8"/>
                  </a:ext>
                </a:extLst>
              </a:tr>
              <a:tr h="269168">
                <a:tc>
                  <a:txBody>
                    <a:bodyPr/>
                    <a:lstStyle/>
                    <a:p>
                      <a:pPr algn="ctr" fontAlgn="b"/>
                      <a:r>
                        <a:rPr lang="en-IN" sz="1200" u="none" strike="noStrike">
                          <a:effectLst/>
                          <a:latin typeface="Times New Roman" panose="02020603050405020304" pitchFamily="18" charset="0"/>
                          <a:cs typeface="Times New Roman" panose="02020603050405020304" pitchFamily="18" charset="0"/>
                        </a:rPr>
                        <a:t>9</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660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25</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176</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20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10</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9"/>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33297143"/>
              </p:ext>
            </p:extLst>
          </p:nvPr>
        </p:nvGraphicFramePr>
        <p:xfrm>
          <a:off x="7547020" y="2270754"/>
          <a:ext cx="1184856" cy="3042162"/>
        </p:xfrm>
        <a:graphic>
          <a:graphicData uri="http://schemas.openxmlformats.org/drawingml/2006/table">
            <a:tbl>
              <a:tblPr>
                <a:tableStyleId>{5C22544A-7EE6-4342-B048-85BDC9FD1C3A}</a:tableStyleId>
              </a:tblPr>
              <a:tblGrid>
                <a:gridCol w="1184856">
                  <a:extLst>
                    <a:ext uri="{9D8B030D-6E8A-4147-A177-3AD203B41FA5}">
                      <a16:colId xmlns:a16="http://schemas.microsoft.com/office/drawing/2014/main" val="20000"/>
                    </a:ext>
                  </a:extLst>
                </a:gridCol>
              </a:tblGrid>
              <a:tr h="511659">
                <a:tc>
                  <a:txBody>
                    <a:bodyPr/>
                    <a:lstStyle/>
                    <a:p>
                      <a:pPr algn="ctr" fontAlgn="b"/>
                      <a:r>
                        <a:rPr lang="en-IN" sz="1200" b="1" u="none" strike="noStrike" dirty="0">
                          <a:effectLst/>
                          <a:latin typeface="Times New Roman" panose="02020603050405020304" pitchFamily="18" charset="0"/>
                          <a:cs typeface="Times New Roman" panose="02020603050405020304" pitchFamily="18" charset="0"/>
                        </a:rPr>
                        <a:t>AVG Roughness (micro m)</a:t>
                      </a:r>
                      <a:endParaRPr lang="en-IN"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0"/>
                  </a:ext>
                </a:extLst>
              </a:tr>
              <a:tr h="281167">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9.2895</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1"/>
                  </a:ext>
                </a:extLst>
              </a:tr>
              <a:tr h="281167">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5.483</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2"/>
                  </a:ext>
                </a:extLst>
              </a:tr>
              <a:tr h="281167">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7.136</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3"/>
                  </a:ext>
                </a:extLst>
              </a:tr>
              <a:tr h="281167">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11.55925</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4"/>
                  </a:ext>
                </a:extLst>
              </a:tr>
              <a:tr h="281167">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9.439</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5"/>
                  </a:ext>
                </a:extLst>
              </a:tr>
              <a:tr h="281167">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13.215</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6"/>
                  </a:ext>
                </a:extLst>
              </a:tr>
              <a:tr h="281167">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10.25025</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7"/>
                  </a:ext>
                </a:extLst>
              </a:tr>
              <a:tr h="281167">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8.019</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8"/>
                  </a:ext>
                </a:extLst>
              </a:tr>
              <a:tr h="281167">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6.19675</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9"/>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916057714"/>
              </p:ext>
            </p:extLst>
          </p:nvPr>
        </p:nvGraphicFramePr>
        <p:xfrm>
          <a:off x="8731876" y="2263589"/>
          <a:ext cx="1094705" cy="3026535"/>
        </p:xfrm>
        <a:graphic>
          <a:graphicData uri="http://schemas.openxmlformats.org/drawingml/2006/table">
            <a:tbl>
              <a:tblPr>
                <a:tableStyleId>{5C22544A-7EE6-4342-B048-85BDC9FD1C3A}</a:tableStyleId>
              </a:tblPr>
              <a:tblGrid>
                <a:gridCol w="1094705">
                  <a:extLst>
                    <a:ext uri="{9D8B030D-6E8A-4147-A177-3AD203B41FA5}">
                      <a16:colId xmlns:a16="http://schemas.microsoft.com/office/drawing/2014/main" val="20000"/>
                    </a:ext>
                  </a:extLst>
                </a:gridCol>
              </a:tblGrid>
              <a:tr h="690252">
                <a:tc>
                  <a:txBody>
                    <a:bodyPr/>
                    <a:lstStyle/>
                    <a:p>
                      <a:pPr algn="ctr" fontAlgn="b"/>
                      <a:r>
                        <a:rPr lang="en-IN" sz="1400" b="1" i="0" u="none" strike="noStrike" dirty="0">
                          <a:solidFill>
                            <a:srgbClr val="000000"/>
                          </a:solidFill>
                          <a:effectLst/>
                          <a:latin typeface="Times New Roman" panose="02020603050405020304" pitchFamily="18" charset="0"/>
                          <a:cs typeface="Times New Roman" panose="02020603050405020304" pitchFamily="18" charset="0"/>
                        </a:rPr>
                        <a:t>Chip Thickness (mm)</a:t>
                      </a:r>
                    </a:p>
                  </a:txBody>
                  <a:tcPr marL="9525" marR="9525" marT="9525" marB="0" anchor="b"/>
                </a:tc>
                <a:extLst>
                  <a:ext uri="{0D108BD9-81ED-4DB2-BD59-A6C34878D82A}">
                    <a16:rowId xmlns:a16="http://schemas.microsoft.com/office/drawing/2014/main" val="10000"/>
                  </a:ext>
                </a:extLst>
              </a:tr>
              <a:tr h="259587">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0.72</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1"/>
                  </a:ext>
                </a:extLst>
              </a:tr>
              <a:tr h="259587">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0.88</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2"/>
                  </a:ext>
                </a:extLst>
              </a:tr>
              <a:tr h="259587">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0.84</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3"/>
                  </a:ext>
                </a:extLst>
              </a:tr>
              <a:tr h="259587">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0.76</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4"/>
                  </a:ext>
                </a:extLst>
              </a:tr>
              <a:tr h="259587">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0.73</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5"/>
                  </a:ext>
                </a:extLst>
              </a:tr>
              <a:tr h="259587">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0.3</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6"/>
                  </a:ext>
                </a:extLst>
              </a:tr>
              <a:tr h="259587">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1</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7"/>
                  </a:ext>
                </a:extLst>
              </a:tr>
              <a:tr h="259587">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0.9</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8"/>
                  </a:ext>
                </a:extLst>
              </a:tr>
              <a:tr h="259587">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0.54</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9"/>
                  </a:ext>
                </a:extLst>
              </a:tr>
            </a:tbl>
          </a:graphicData>
        </a:graphic>
      </p:graphicFrame>
      <p:pic>
        <p:nvPicPr>
          <p:cNvPr id="7" name="Audio 6">
            <a:hlinkClick r:id="" action="ppaction://media"/>
            <a:extLst>
              <a:ext uri="{FF2B5EF4-FFF2-40B4-BE49-F238E27FC236}">
                <a16:creationId xmlns:a16="http://schemas.microsoft.com/office/drawing/2014/main" id="{AEE46DB6-4E4D-41E1-9FFB-1D1B219FBE5A}"/>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3593504896"/>
      </p:ext>
    </p:extLst>
  </p:cSld>
  <p:clrMapOvr>
    <a:masterClrMapping/>
  </p:clrMapOvr>
  <p:transition advTm="19150">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NUMERICAL WORK AND OBSERVATION</a:t>
            </a:r>
            <a:endParaRPr lang="en-IN" dirty="0"/>
          </a:p>
        </p:txBody>
      </p:sp>
      <p:sp>
        <p:nvSpPr>
          <p:cNvPr id="3" name="Content Placeholder 2"/>
          <p:cNvSpPr>
            <a:spLocks noGrp="1"/>
          </p:cNvSpPr>
          <p:nvPr>
            <p:ph idx="1"/>
          </p:nvPr>
        </p:nvSpPr>
        <p:spPr/>
        <p:txBody>
          <a:bodyPr/>
          <a:lstStyle/>
          <a:p>
            <a:pPr marL="0" indent="0" algn="ctr">
              <a:buNone/>
            </a:pPr>
            <a:r>
              <a:rPr lang="en-IN" sz="2800" dirty="0">
                <a:latin typeface="Times New Roman" panose="02020603050405020304" pitchFamily="18" charset="0"/>
                <a:cs typeface="Times New Roman" panose="02020603050405020304" pitchFamily="18" charset="0"/>
              </a:rPr>
              <a:t>For 3.75% Sic</a:t>
            </a:r>
          </a:p>
          <a:p>
            <a:pPr marL="0" indent="0">
              <a:buNone/>
            </a:pP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1320146784"/>
              </p:ext>
            </p:extLst>
          </p:nvPr>
        </p:nvGraphicFramePr>
        <p:xfrm>
          <a:off x="2300934" y="2118016"/>
          <a:ext cx="4732987" cy="3381699"/>
        </p:xfrm>
        <a:graphic>
          <a:graphicData uri="http://schemas.openxmlformats.org/drawingml/2006/table">
            <a:tbl>
              <a:tblPr>
                <a:tableStyleId>{5C22544A-7EE6-4342-B048-85BDC9FD1C3A}</a:tableStyleId>
              </a:tblPr>
              <a:tblGrid>
                <a:gridCol w="728152">
                  <a:extLst>
                    <a:ext uri="{9D8B030D-6E8A-4147-A177-3AD203B41FA5}">
                      <a16:colId xmlns:a16="http://schemas.microsoft.com/office/drawing/2014/main" val="20000"/>
                    </a:ext>
                  </a:extLst>
                </a:gridCol>
                <a:gridCol w="728152">
                  <a:extLst>
                    <a:ext uri="{9D8B030D-6E8A-4147-A177-3AD203B41FA5}">
                      <a16:colId xmlns:a16="http://schemas.microsoft.com/office/drawing/2014/main" val="20001"/>
                    </a:ext>
                  </a:extLst>
                </a:gridCol>
                <a:gridCol w="1092227">
                  <a:extLst>
                    <a:ext uri="{9D8B030D-6E8A-4147-A177-3AD203B41FA5}">
                      <a16:colId xmlns:a16="http://schemas.microsoft.com/office/drawing/2014/main" val="20002"/>
                    </a:ext>
                  </a:extLst>
                </a:gridCol>
                <a:gridCol w="804206">
                  <a:extLst>
                    <a:ext uri="{9D8B030D-6E8A-4147-A177-3AD203B41FA5}">
                      <a16:colId xmlns:a16="http://schemas.microsoft.com/office/drawing/2014/main" val="20003"/>
                    </a:ext>
                  </a:extLst>
                </a:gridCol>
                <a:gridCol w="652098">
                  <a:extLst>
                    <a:ext uri="{9D8B030D-6E8A-4147-A177-3AD203B41FA5}">
                      <a16:colId xmlns:a16="http://schemas.microsoft.com/office/drawing/2014/main" val="20004"/>
                    </a:ext>
                  </a:extLst>
                </a:gridCol>
                <a:gridCol w="728152">
                  <a:extLst>
                    <a:ext uri="{9D8B030D-6E8A-4147-A177-3AD203B41FA5}">
                      <a16:colId xmlns:a16="http://schemas.microsoft.com/office/drawing/2014/main" val="20005"/>
                    </a:ext>
                  </a:extLst>
                </a:gridCol>
              </a:tblGrid>
              <a:tr h="303566">
                <a:tc>
                  <a:txBody>
                    <a:bodyPr/>
                    <a:lstStyle/>
                    <a:p>
                      <a:pPr algn="ctr" fontAlgn="b"/>
                      <a:r>
                        <a:rPr lang="en-IN" sz="1400" b="1" u="none" strike="noStrike" dirty="0">
                          <a:effectLst/>
                          <a:latin typeface="Times New Roman" panose="02020603050405020304" pitchFamily="18" charset="0"/>
                          <a:cs typeface="Times New Roman" panose="02020603050405020304" pitchFamily="18" charset="0"/>
                        </a:rPr>
                        <a:t>S.no</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400" b="1" u="none" strike="noStrike" dirty="0">
                          <a:effectLst/>
                          <a:latin typeface="Times New Roman" panose="02020603050405020304" pitchFamily="18" charset="0"/>
                          <a:cs typeface="Times New Roman" panose="02020603050405020304" pitchFamily="18" charset="0"/>
                        </a:rPr>
                        <a:t>Spindle</a:t>
                      </a:r>
                      <a:r>
                        <a:rPr lang="en-IN" sz="1400" b="1" u="none" strike="noStrike" baseline="0" dirty="0">
                          <a:effectLst/>
                          <a:latin typeface="Times New Roman" panose="02020603050405020304" pitchFamily="18" charset="0"/>
                          <a:cs typeface="Times New Roman" panose="02020603050405020304" pitchFamily="18" charset="0"/>
                        </a:rPr>
                        <a:t> Speed</a:t>
                      </a:r>
                      <a:r>
                        <a:rPr lang="en-IN" sz="1400" b="1" u="none" strike="noStrike" dirty="0">
                          <a:effectLst/>
                          <a:latin typeface="Times New Roman" panose="02020603050405020304" pitchFamily="18" charset="0"/>
                          <a:cs typeface="Times New Roman" panose="02020603050405020304" pitchFamily="18" charset="0"/>
                        </a:rPr>
                        <a:t> (rpm)</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400" b="1" u="none" strike="noStrike" dirty="0">
                          <a:effectLst/>
                          <a:latin typeface="Times New Roman" panose="02020603050405020304" pitchFamily="18" charset="0"/>
                          <a:cs typeface="Times New Roman" panose="02020603050405020304" pitchFamily="18" charset="0"/>
                        </a:rPr>
                        <a:t>Cutting speed (m/min)</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400" b="1" u="none" strike="noStrike" dirty="0">
                          <a:effectLst/>
                          <a:latin typeface="Times New Roman" panose="02020603050405020304" pitchFamily="18" charset="0"/>
                          <a:cs typeface="Times New Roman" panose="02020603050405020304" pitchFamily="18" charset="0"/>
                        </a:rPr>
                        <a:t>Feed (mm/min)</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400" b="1" u="none" strike="noStrike" dirty="0" err="1">
                          <a:effectLst/>
                          <a:latin typeface="Times New Roman" panose="02020603050405020304" pitchFamily="18" charset="0"/>
                          <a:cs typeface="Times New Roman" panose="02020603050405020304" pitchFamily="18" charset="0"/>
                        </a:rPr>
                        <a:t>Fx</a:t>
                      </a:r>
                      <a:r>
                        <a:rPr lang="en-IN" sz="1400" b="1" u="none" strike="noStrike" dirty="0">
                          <a:effectLst/>
                          <a:latin typeface="Times New Roman" panose="02020603050405020304" pitchFamily="18" charset="0"/>
                          <a:cs typeface="Times New Roman" panose="02020603050405020304" pitchFamily="18" charset="0"/>
                        </a:rPr>
                        <a:t>(N)</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400" b="1" u="none" strike="noStrike" dirty="0" err="1">
                          <a:effectLst/>
                          <a:latin typeface="Times New Roman" panose="02020603050405020304" pitchFamily="18" charset="0"/>
                          <a:cs typeface="Times New Roman" panose="02020603050405020304" pitchFamily="18" charset="0"/>
                        </a:rPr>
                        <a:t>Fy</a:t>
                      </a:r>
                      <a:r>
                        <a:rPr lang="en-IN" sz="1400" b="1" u="none" strike="noStrike" dirty="0">
                          <a:effectLst/>
                          <a:latin typeface="Times New Roman" panose="02020603050405020304" pitchFamily="18" charset="0"/>
                          <a:cs typeface="Times New Roman" panose="02020603050405020304" pitchFamily="18" charset="0"/>
                        </a:rPr>
                        <a:t>(N)</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0"/>
                  </a:ext>
                </a:extLst>
              </a:tr>
              <a:tr h="303566">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1</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350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13</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20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100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20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1"/>
                  </a:ext>
                </a:extLst>
              </a:tr>
              <a:tr h="303566">
                <a:tc>
                  <a:txBody>
                    <a:bodyPr/>
                    <a:lstStyle/>
                    <a:p>
                      <a:pPr algn="ctr" fontAlgn="b"/>
                      <a:r>
                        <a:rPr lang="en-IN"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470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18</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20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140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20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2"/>
                  </a:ext>
                </a:extLst>
              </a:tr>
              <a:tr h="303566">
                <a:tc>
                  <a:txBody>
                    <a:bodyPr/>
                    <a:lstStyle/>
                    <a:p>
                      <a:pPr algn="ctr" fontAlgn="b"/>
                      <a:r>
                        <a:rPr lang="en-IN" sz="1200" b="0" i="0" u="none" strike="noStrike" dirty="0">
                          <a:solidFill>
                            <a:schemeClr val="dk1"/>
                          </a:solidFill>
                          <a:effectLst/>
                          <a:latin typeface="Times New Roman" panose="02020603050405020304" pitchFamily="18" charset="0"/>
                          <a:cs typeface="Times New Roman" panose="02020603050405020304" pitchFamily="18" charset="0"/>
                        </a:rPr>
                        <a:t>3</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660</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25</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20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90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10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3"/>
                  </a:ext>
                </a:extLst>
              </a:tr>
              <a:tr h="303566">
                <a:tc>
                  <a:txBody>
                    <a:bodyPr/>
                    <a:lstStyle/>
                    <a:p>
                      <a:pPr algn="ctr" fontAlgn="b"/>
                      <a:r>
                        <a:rPr lang="en-IN" sz="1200" b="0" i="0" u="none" strike="noStrike" dirty="0">
                          <a:solidFill>
                            <a:schemeClr val="dk1"/>
                          </a:solidFill>
                          <a:effectLst/>
                          <a:latin typeface="Times New Roman" panose="02020603050405020304" pitchFamily="18" charset="0"/>
                          <a:cs typeface="Times New Roman" panose="02020603050405020304" pitchFamily="18" charset="0"/>
                        </a:rPr>
                        <a:t>4</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350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13</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50</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230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60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4"/>
                  </a:ext>
                </a:extLst>
              </a:tr>
              <a:tr h="303566">
                <a:tc>
                  <a:txBody>
                    <a:bodyPr/>
                    <a:lstStyle/>
                    <a:p>
                      <a:pPr algn="ctr" fontAlgn="b"/>
                      <a:r>
                        <a:rPr lang="en-IN" sz="1200" b="0" i="0" u="none" strike="noStrike" dirty="0">
                          <a:solidFill>
                            <a:schemeClr val="dk1"/>
                          </a:solidFill>
                          <a:effectLst/>
                          <a:latin typeface="Times New Roman" panose="02020603050405020304" pitchFamily="18" charset="0"/>
                          <a:cs typeface="Times New Roman" panose="02020603050405020304" pitchFamily="18" charset="0"/>
                        </a:rPr>
                        <a:t>5</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470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18</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50</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110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30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5"/>
                  </a:ext>
                </a:extLst>
              </a:tr>
              <a:tr h="303566">
                <a:tc>
                  <a:txBody>
                    <a:bodyPr/>
                    <a:lstStyle/>
                    <a:p>
                      <a:pPr algn="ctr" fontAlgn="b"/>
                      <a:r>
                        <a:rPr lang="en-IN" sz="1200" b="0" i="0" u="none" strike="noStrike" dirty="0">
                          <a:solidFill>
                            <a:schemeClr val="dk1"/>
                          </a:solidFill>
                          <a:effectLst/>
                          <a:latin typeface="Times New Roman" panose="02020603050405020304" pitchFamily="18" charset="0"/>
                          <a:cs typeface="Times New Roman" panose="02020603050405020304" pitchFamily="18" charset="0"/>
                        </a:rPr>
                        <a:t>6</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660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25</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50</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70</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20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6"/>
                  </a:ext>
                </a:extLst>
              </a:tr>
              <a:tr h="303566">
                <a:tc>
                  <a:txBody>
                    <a:bodyPr/>
                    <a:lstStyle/>
                    <a:p>
                      <a:pPr algn="ctr" fontAlgn="b"/>
                      <a:r>
                        <a:rPr lang="en-IN" sz="1200" b="0" i="0" u="none" strike="noStrike" dirty="0">
                          <a:solidFill>
                            <a:schemeClr val="dk1"/>
                          </a:solidFill>
                          <a:effectLst/>
                          <a:latin typeface="Times New Roman" panose="02020603050405020304" pitchFamily="18" charset="0"/>
                          <a:cs typeface="Times New Roman" panose="02020603050405020304" pitchFamily="18" charset="0"/>
                        </a:rPr>
                        <a:t>7</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350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13</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176</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240</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80</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7"/>
                  </a:ext>
                </a:extLst>
              </a:tr>
              <a:tr h="303566">
                <a:tc>
                  <a:txBody>
                    <a:bodyPr/>
                    <a:lstStyle/>
                    <a:p>
                      <a:pPr algn="ctr" fontAlgn="b"/>
                      <a:r>
                        <a:rPr lang="en-IN" sz="1200" b="0" i="0" u="none" strike="noStrike" dirty="0">
                          <a:solidFill>
                            <a:schemeClr val="dk1"/>
                          </a:solidFill>
                          <a:effectLst/>
                          <a:latin typeface="Times New Roman" panose="02020603050405020304" pitchFamily="18" charset="0"/>
                          <a:cs typeface="Times New Roman" panose="02020603050405020304" pitchFamily="18" charset="0"/>
                        </a:rPr>
                        <a:t>8</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470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18</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176</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160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60</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8"/>
                  </a:ext>
                </a:extLst>
              </a:tr>
              <a:tr h="303566">
                <a:tc>
                  <a:txBody>
                    <a:bodyPr/>
                    <a:lstStyle/>
                    <a:p>
                      <a:pPr algn="ctr" fontAlgn="b"/>
                      <a:r>
                        <a:rPr lang="en-IN" sz="1200" b="0" i="0" u="none" strike="noStrike" dirty="0">
                          <a:solidFill>
                            <a:schemeClr val="dk1"/>
                          </a:solidFill>
                          <a:effectLst/>
                          <a:latin typeface="Times New Roman" panose="02020603050405020304" pitchFamily="18" charset="0"/>
                          <a:cs typeface="Times New Roman" panose="02020603050405020304" pitchFamily="18" charset="0"/>
                        </a:rPr>
                        <a:t>9</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660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25</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176</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a:effectLst/>
                          <a:latin typeface="Times New Roman" panose="02020603050405020304" pitchFamily="18" charset="0"/>
                          <a:cs typeface="Times New Roman" panose="02020603050405020304" pitchFamily="18" charset="0"/>
                        </a:rPr>
                        <a:t>160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50</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9"/>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180483537"/>
              </p:ext>
            </p:extLst>
          </p:nvPr>
        </p:nvGraphicFramePr>
        <p:xfrm>
          <a:off x="7033921" y="2099690"/>
          <a:ext cx="1077622" cy="3400025"/>
        </p:xfrm>
        <a:graphic>
          <a:graphicData uri="http://schemas.openxmlformats.org/drawingml/2006/table">
            <a:tbl>
              <a:tblPr>
                <a:tableStyleId>{5C22544A-7EE6-4342-B048-85BDC9FD1C3A}</a:tableStyleId>
              </a:tblPr>
              <a:tblGrid>
                <a:gridCol w="1077622">
                  <a:extLst>
                    <a:ext uri="{9D8B030D-6E8A-4147-A177-3AD203B41FA5}">
                      <a16:colId xmlns:a16="http://schemas.microsoft.com/office/drawing/2014/main" val="20000"/>
                    </a:ext>
                  </a:extLst>
                </a:gridCol>
              </a:tblGrid>
              <a:tr h="569291">
                <a:tc>
                  <a:txBody>
                    <a:bodyPr/>
                    <a:lstStyle/>
                    <a:p>
                      <a:pPr algn="ctr" fontAlgn="b"/>
                      <a:r>
                        <a:rPr lang="en-IN" sz="1200" b="1" u="none" strike="noStrike" dirty="0" err="1">
                          <a:effectLst/>
                          <a:latin typeface="Times New Roman" panose="02020603050405020304" pitchFamily="18" charset="0"/>
                          <a:cs typeface="Times New Roman" panose="02020603050405020304" pitchFamily="18" charset="0"/>
                        </a:rPr>
                        <a:t>Avg</a:t>
                      </a:r>
                      <a:r>
                        <a:rPr lang="en-IN" sz="1200" b="1" u="none" strike="noStrike" baseline="0" dirty="0">
                          <a:effectLst/>
                          <a:latin typeface="Times New Roman" panose="02020603050405020304" pitchFamily="18" charset="0"/>
                          <a:cs typeface="Times New Roman" panose="02020603050405020304" pitchFamily="18" charset="0"/>
                        </a:rPr>
                        <a:t> R</a:t>
                      </a:r>
                      <a:r>
                        <a:rPr lang="en-IN" sz="1200" b="1" u="none" strike="noStrike" dirty="0">
                          <a:effectLst/>
                          <a:latin typeface="Times New Roman" panose="02020603050405020304" pitchFamily="18" charset="0"/>
                          <a:cs typeface="Times New Roman" panose="02020603050405020304" pitchFamily="18" charset="0"/>
                        </a:rPr>
                        <a:t>oughness</a:t>
                      </a:r>
                    </a:p>
                    <a:p>
                      <a:pPr algn="ctr" fontAlgn="b"/>
                      <a:r>
                        <a:rPr lang="en-IN" sz="1200" b="1" u="none" strike="noStrike" dirty="0">
                          <a:effectLst/>
                          <a:latin typeface="Times New Roman" panose="02020603050405020304" pitchFamily="18" charset="0"/>
                          <a:cs typeface="Times New Roman" panose="02020603050405020304" pitchFamily="18" charset="0"/>
                        </a:rPr>
                        <a:t>(micro m)</a:t>
                      </a:r>
                      <a:endParaRPr lang="en-IN"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0"/>
                  </a:ext>
                </a:extLst>
              </a:tr>
              <a:tr h="314526">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5.4658</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1"/>
                  </a:ext>
                </a:extLst>
              </a:tr>
              <a:tr h="314526">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4.7794</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2"/>
                  </a:ext>
                </a:extLst>
              </a:tr>
              <a:tr h="314526">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3.664</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3"/>
                  </a:ext>
                </a:extLst>
              </a:tr>
              <a:tr h="314526">
                <a:tc>
                  <a:txBody>
                    <a:bodyPr/>
                    <a:lstStyle/>
                    <a:p>
                      <a:pPr algn="ctr" fontAlgn="b"/>
                      <a:r>
                        <a:rPr lang="en-IN" sz="1200" u="none" strike="noStrike">
                          <a:effectLst/>
                          <a:latin typeface="Times New Roman" panose="02020603050405020304" pitchFamily="18" charset="0"/>
                          <a:cs typeface="Times New Roman" panose="02020603050405020304" pitchFamily="18" charset="0"/>
                        </a:rPr>
                        <a:t>6.738</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4"/>
                  </a:ext>
                </a:extLst>
              </a:tr>
              <a:tr h="314526">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4.2976</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5"/>
                  </a:ext>
                </a:extLst>
              </a:tr>
              <a:tr h="314526">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3.959</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6"/>
                  </a:ext>
                </a:extLst>
              </a:tr>
              <a:tr h="314526">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4.8472</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7"/>
                  </a:ext>
                </a:extLst>
              </a:tr>
              <a:tr h="314526">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6.5754</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8"/>
                  </a:ext>
                </a:extLst>
              </a:tr>
              <a:tr h="314526">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5.2938</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9"/>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142866229"/>
              </p:ext>
            </p:extLst>
          </p:nvPr>
        </p:nvGraphicFramePr>
        <p:xfrm>
          <a:off x="8111543" y="2116596"/>
          <a:ext cx="1219200" cy="339387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0000"/>
                    </a:ext>
                  </a:extLst>
                </a:gridCol>
              </a:tblGrid>
              <a:tr h="328490">
                <a:tc>
                  <a:txBody>
                    <a:bodyPr/>
                    <a:lstStyle/>
                    <a:p>
                      <a:pPr algn="ctr" fontAlgn="b"/>
                      <a:r>
                        <a:rPr lang="en-IN" sz="1400" b="1" i="0" u="none" strike="noStrike" dirty="0">
                          <a:solidFill>
                            <a:srgbClr val="000000"/>
                          </a:solidFill>
                          <a:effectLst/>
                          <a:latin typeface="Times New Roman" panose="02020603050405020304" pitchFamily="18" charset="0"/>
                          <a:cs typeface="Times New Roman" panose="02020603050405020304" pitchFamily="18" charset="0"/>
                        </a:rPr>
                        <a:t>Chip Thickness (mm)</a:t>
                      </a:r>
                    </a:p>
                  </a:txBody>
                  <a:tcPr marL="9525" marR="9525" marT="9525" marB="0" anchor="b"/>
                </a:tc>
                <a:extLst>
                  <a:ext uri="{0D108BD9-81ED-4DB2-BD59-A6C34878D82A}">
                    <a16:rowId xmlns:a16="http://schemas.microsoft.com/office/drawing/2014/main" val="10000"/>
                  </a:ext>
                </a:extLst>
              </a:tr>
              <a:tr h="328625">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0.54</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1"/>
                  </a:ext>
                </a:extLst>
              </a:tr>
              <a:tr h="328625">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0.64</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2"/>
                  </a:ext>
                </a:extLst>
              </a:tr>
              <a:tr h="328625">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0.56</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3"/>
                  </a:ext>
                </a:extLst>
              </a:tr>
              <a:tr h="328625">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1.03</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4"/>
                  </a:ext>
                </a:extLst>
              </a:tr>
              <a:tr h="328625">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0.45</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5"/>
                  </a:ext>
                </a:extLst>
              </a:tr>
              <a:tr h="328625">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0.97</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6"/>
                  </a:ext>
                </a:extLst>
              </a:tr>
              <a:tr h="328625">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0.91</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7"/>
                  </a:ext>
                </a:extLst>
              </a:tr>
              <a:tr h="328625">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0.56</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8"/>
                  </a:ext>
                </a:extLst>
              </a:tr>
              <a:tr h="328625">
                <a:tc>
                  <a:txBody>
                    <a:bodyPr/>
                    <a:lstStyle/>
                    <a:p>
                      <a:pPr algn="ctr" fontAlgn="b"/>
                      <a:r>
                        <a:rPr lang="en-IN" sz="1200" u="none" strike="noStrike" dirty="0">
                          <a:effectLst/>
                          <a:latin typeface="Times New Roman" panose="02020603050405020304" pitchFamily="18" charset="0"/>
                          <a:cs typeface="Times New Roman" panose="02020603050405020304" pitchFamily="18" charset="0"/>
                        </a:rPr>
                        <a:t>0.8</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9"/>
                  </a:ext>
                </a:extLst>
              </a:tr>
            </a:tbl>
          </a:graphicData>
        </a:graphic>
      </p:graphicFrame>
      <p:pic>
        <p:nvPicPr>
          <p:cNvPr id="7" name="Audio 6">
            <a:hlinkClick r:id="" action="ppaction://media"/>
            <a:extLst>
              <a:ext uri="{FF2B5EF4-FFF2-40B4-BE49-F238E27FC236}">
                <a16:creationId xmlns:a16="http://schemas.microsoft.com/office/drawing/2014/main" id="{12511396-C545-467A-8315-5572523BBACC}"/>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2137162049"/>
      </p:ext>
    </p:extLst>
  </p:cSld>
  <p:clrMapOvr>
    <a:masterClrMapping/>
  </p:clrMapOvr>
  <p:transition advTm="3997">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33961"/>
            <a:ext cx="10972800" cy="792162"/>
          </a:xfrm>
        </p:spPr>
        <p:txBody>
          <a:bodyPr/>
          <a:lstStyle/>
          <a:p>
            <a:r>
              <a:rPr lang="en-IN" sz="2800" b="1" dirty="0">
                <a:latin typeface="Times New Roman" panose="02020603050405020304" pitchFamily="18" charset="0"/>
                <a:cs typeface="Times New Roman" panose="02020603050405020304" pitchFamily="18" charset="0"/>
              </a:rPr>
              <a:t>COMPARISON GRAPHS (CONSTANT FEED)</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Cutting force (N) Vs Cutting Speed (m/min) </a:t>
            </a:r>
          </a:p>
        </p:txBody>
      </p:sp>
      <p:graphicFrame>
        <p:nvGraphicFramePr>
          <p:cNvPr id="5" name="Chart 4">
            <a:extLst>
              <a:ext uri="{FF2B5EF4-FFF2-40B4-BE49-F238E27FC236}">
                <a16:creationId xmlns:a16="http://schemas.microsoft.com/office/drawing/2014/main" id="{3DE191F8-AADB-4310-99F6-D9166B31BAB5}"/>
              </a:ext>
            </a:extLst>
          </p:cNvPr>
          <p:cNvGraphicFramePr>
            <a:graphicFrameLocks/>
          </p:cNvGraphicFramePr>
          <p:nvPr>
            <p:extLst>
              <p:ext uri="{D42A27DB-BD31-4B8C-83A1-F6EECF244321}">
                <p14:modId xmlns:p14="http://schemas.microsoft.com/office/powerpoint/2010/main" val="4090379682"/>
              </p:ext>
            </p:extLst>
          </p:nvPr>
        </p:nvGraphicFramePr>
        <p:xfrm>
          <a:off x="6349285" y="1066800"/>
          <a:ext cx="4925616" cy="297415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5">
            <a:extLst>
              <a:ext uri="{FF2B5EF4-FFF2-40B4-BE49-F238E27FC236}">
                <a16:creationId xmlns:a16="http://schemas.microsoft.com/office/drawing/2014/main" id="{6CD0B5BF-E1E6-432C-8C5A-10B819781684}"/>
              </a:ext>
            </a:extLst>
          </p:cNvPr>
          <p:cNvGraphicFramePr>
            <a:graphicFrameLocks/>
          </p:cNvGraphicFramePr>
          <p:nvPr>
            <p:extLst>
              <p:ext uri="{D42A27DB-BD31-4B8C-83A1-F6EECF244321}">
                <p14:modId xmlns:p14="http://schemas.microsoft.com/office/powerpoint/2010/main" val="1404415629"/>
              </p:ext>
            </p:extLst>
          </p:nvPr>
        </p:nvGraphicFramePr>
        <p:xfrm>
          <a:off x="3591466" y="3841267"/>
          <a:ext cx="4085432" cy="273647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8" name="Content Placeholder 7">
            <a:extLst>
              <a:ext uri="{FF2B5EF4-FFF2-40B4-BE49-F238E27FC236}">
                <a16:creationId xmlns:a16="http://schemas.microsoft.com/office/drawing/2014/main" id="{00000000-0008-0000-0000-00000C000000}"/>
              </a:ext>
            </a:extLst>
          </p:cNvPr>
          <p:cNvGraphicFramePr>
            <a:graphicFrameLocks noGrp="1"/>
          </p:cNvGraphicFramePr>
          <p:nvPr>
            <p:ph idx="1"/>
            <p:extLst>
              <p:ext uri="{D42A27DB-BD31-4B8C-83A1-F6EECF244321}">
                <p14:modId xmlns:p14="http://schemas.microsoft.com/office/powerpoint/2010/main" val="3326173286"/>
              </p:ext>
            </p:extLst>
          </p:nvPr>
        </p:nvGraphicFramePr>
        <p:xfrm>
          <a:off x="609600" y="1163782"/>
          <a:ext cx="5024582" cy="2632363"/>
        </p:xfrm>
        <a:graphic>
          <a:graphicData uri="http://schemas.openxmlformats.org/drawingml/2006/chart">
            <c:chart xmlns:c="http://schemas.openxmlformats.org/drawingml/2006/chart" xmlns:r="http://schemas.openxmlformats.org/officeDocument/2006/relationships" r:id="rId6"/>
          </a:graphicData>
        </a:graphic>
      </p:graphicFrame>
      <p:sp>
        <p:nvSpPr>
          <p:cNvPr id="3" name="TextBox 2"/>
          <p:cNvSpPr txBox="1"/>
          <p:nvPr/>
        </p:nvSpPr>
        <p:spPr>
          <a:xfrm>
            <a:off x="386366" y="1648496"/>
            <a:ext cx="396262" cy="369332"/>
          </a:xfrm>
          <a:prstGeom prst="rect">
            <a:avLst/>
          </a:prstGeom>
          <a:noFill/>
        </p:spPr>
        <p:txBody>
          <a:bodyPr wrap="none" rtlCol="0">
            <a:spAutoFit/>
          </a:bodyPr>
          <a:lstStyle/>
          <a:p>
            <a:r>
              <a:rPr lang="en-IN" dirty="0"/>
              <a:t>I)</a:t>
            </a:r>
          </a:p>
        </p:txBody>
      </p:sp>
      <p:sp>
        <p:nvSpPr>
          <p:cNvPr id="4" name="TextBox 3"/>
          <p:cNvSpPr txBox="1"/>
          <p:nvPr/>
        </p:nvSpPr>
        <p:spPr>
          <a:xfrm>
            <a:off x="5962918" y="1648496"/>
            <a:ext cx="522900" cy="369332"/>
          </a:xfrm>
          <a:prstGeom prst="rect">
            <a:avLst/>
          </a:prstGeom>
          <a:noFill/>
        </p:spPr>
        <p:txBody>
          <a:bodyPr wrap="none" rtlCol="0">
            <a:spAutoFit/>
          </a:bodyPr>
          <a:lstStyle/>
          <a:p>
            <a:r>
              <a:rPr lang="en-IN" dirty="0"/>
              <a:t>II)</a:t>
            </a:r>
          </a:p>
        </p:txBody>
      </p:sp>
      <p:sp>
        <p:nvSpPr>
          <p:cNvPr id="7" name="TextBox 6"/>
          <p:cNvSpPr txBox="1"/>
          <p:nvPr/>
        </p:nvSpPr>
        <p:spPr>
          <a:xfrm>
            <a:off x="2949262" y="4108361"/>
            <a:ext cx="649537" cy="369332"/>
          </a:xfrm>
          <a:prstGeom prst="rect">
            <a:avLst/>
          </a:prstGeom>
          <a:noFill/>
        </p:spPr>
        <p:txBody>
          <a:bodyPr wrap="none" rtlCol="0">
            <a:spAutoFit/>
          </a:bodyPr>
          <a:lstStyle/>
          <a:p>
            <a:r>
              <a:rPr lang="en-IN" dirty="0"/>
              <a:t>III)</a:t>
            </a:r>
          </a:p>
        </p:txBody>
      </p:sp>
      <p:pic>
        <p:nvPicPr>
          <p:cNvPr id="9" name="Audio 8">
            <a:hlinkClick r:id="" action="ppaction://media"/>
            <a:extLst>
              <a:ext uri="{FF2B5EF4-FFF2-40B4-BE49-F238E27FC236}">
                <a16:creationId xmlns:a16="http://schemas.microsoft.com/office/drawing/2014/main" id="{3E1E816B-0669-426B-A70C-E5C3876E5828}"/>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2415239555"/>
      </p:ext>
    </p:extLst>
  </p:cSld>
  <p:clrMapOvr>
    <a:masterClrMapping/>
  </p:clrMapOvr>
  <p:transition advTm="20261">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GRAPH INTERPRETATION</a:t>
            </a:r>
          </a:p>
        </p:txBody>
      </p:sp>
      <p:sp>
        <p:nvSpPr>
          <p:cNvPr id="3" name="Content Placeholder 2"/>
          <p:cNvSpPr>
            <a:spLocks noGrp="1"/>
          </p:cNvSpPr>
          <p:nvPr>
            <p:ph idx="1"/>
          </p:nvPr>
        </p:nvSpPr>
        <p:spPr/>
        <p:txBody>
          <a:bodyPr/>
          <a:lstStyle/>
          <a:p>
            <a:pPr algn="just">
              <a:buFont typeface="Arial" panose="020B0604020202020204" pitchFamily="34" charset="0"/>
              <a:buChar char="•"/>
            </a:pPr>
            <a:r>
              <a:rPr lang="en-IN" kern="1200" dirty="0">
                <a:latin typeface="Times New Roman" panose="02020603050405020304" pitchFamily="18" charset="0"/>
                <a:cs typeface="Times New Roman" panose="02020603050405020304" pitchFamily="18" charset="0"/>
              </a:rPr>
              <a:t>Traditionally we could say that, for aluminium, as the cutting speed increases consequently cutting forces decreases.</a:t>
            </a:r>
          </a:p>
          <a:p>
            <a:pPr algn="just">
              <a:buFont typeface="Arial" panose="020B0604020202020204" pitchFamily="34" charset="0"/>
              <a:buChar char="•"/>
            </a:pPr>
            <a:r>
              <a:rPr lang="en-IN" kern="1200" dirty="0">
                <a:latin typeface="Times New Roman" panose="02020603050405020304" pitchFamily="18" charset="0"/>
                <a:cs typeface="Times New Roman" panose="02020603050405020304" pitchFamily="18" charset="0"/>
              </a:rPr>
              <a:t>From the graphs it is clear that, for 5% composition of </a:t>
            </a:r>
            <a:r>
              <a:rPr lang="en-IN" kern="1200" dirty="0" err="1">
                <a:latin typeface="Times New Roman" panose="02020603050405020304" pitchFamily="18" charset="0"/>
                <a:cs typeface="Times New Roman" panose="02020603050405020304" pitchFamily="18" charset="0"/>
              </a:rPr>
              <a:t>SiC</a:t>
            </a:r>
            <a:r>
              <a:rPr lang="en-IN" kern="1200" dirty="0">
                <a:latin typeface="Times New Roman" panose="02020603050405020304" pitchFamily="18" charset="0"/>
                <a:cs typeface="Times New Roman" panose="02020603050405020304" pitchFamily="18" charset="0"/>
              </a:rPr>
              <a:t> plate the pattern almost follows the traditional trend.</a:t>
            </a:r>
          </a:p>
          <a:p>
            <a:pPr algn="just">
              <a:buFont typeface="Arial" panose="020B0604020202020204" pitchFamily="34" charset="0"/>
              <a:buChar char="•"/>
            </a:pPr>
            <a:r>
              <a:rPr lang="en-IN" kern="1200" dirty="0">
                <a:latin typeface="Times New Roman" panose="02020603050405020304" pitchFamily="18" charset="0"/>
                <a:cs typeface="Times New Roman" panose="02020603050405020304" pitchFamily="18" charset="0"/>
              </a:rPr>
              <a:t>But for the 3.75% composition of </a:t>
            </a:r>
            <a:r>
              <a:rPr lang="en-IN" kern="1200" dirty="0" err="1">
                <a:latin typeface="Times New Roman" panose="02020603050405020304" pitchFamily="18" charset="0"/>
                <a:cs typeface="Times New Roman" panose="02020603050405020304" pitchFamily="18" charset="0"/>
              </a:rPr>
              <a:t>SiC</a:t>
            </a:r>
            <a:r>
              <a:rPr lang="en-IN" kern="1200" dirty="0">
                <a:latin typeface="Times New Roman" panose="02020603050405020304" pitchFamily="18" charset="0"/>
                <a:cs typeface="Times New Roman" panose="02020603050405020304" pitchFamily="18" charset="0"/>
              </a:rPr>
              <a:t> plate, the pattern is irregular and unpredictable.</a:t>
            </a:r>
          </a:p>
          <a:p>
            <a:pPr algn="just">
              <a:buFont typeface="Arial" panose="020B0604020202020204" pitchFamily="34" charset="0"/>
              <a:buChar char="•"/>
            </a:pPr>
            <a:r>
              <a:rPr lang="en-IN" kern="1200" dirty="0">
                <a:latin typeface="Times New Roman" panose="02020603050405020304" pitchFamily="18" charset="0"/>
                <a:cs typeface="Times New Roman" panose="02020603050405020304" pitchFamily="18" charset="0"/>
              </a:rPr>
              <a:t>The reason may be due to the presence of </a:t>
            </a:r>
            <a:r>
              <a:rPr lang="en-IN" kern="1200" dirty="0" err="1">
                <a:latin typeface="Times New Roman" panose="02020603050405020304" pitchFamily="18" charset="0"/>
                <a:cs typeface="Times New Roman" panose="02020603050405020304" pitchFamily="18" charset="0"/>
              </a:rPr>
              <a:t>SiC</a:t>
            </a:r>
            <a:r>
              <a:rPr lang="en-IN" kern="1200" dirty="0">
                <a:latin typeface="Times New Roman" panose="02020603050405020304" pitchFamily="18" charset="0"/>
                <a:cs typeface="Times New Roman" panose="02020603050405020304" pitchFamily="18" charset="0"/>
              </a:rPr>
              <a:t> particles at the tool and work piece interface which lead to the spike of cutting forces at that point.</a:t>
            </a:r>
          </a:p>
          <a:p>
            <a:pPr marL="0" indent="0" algn="just">
              <a:buNone/>
            </a:pPr>
            <a:endParaRPr lang="en-IN" sz="2800" dirty="0">
              <a:latin typeface="Times New Roman" panose="02020603050405020304" pitchFamily="18" charset="0"/>
              <a:cs typeface="Times New Roman" panose="02020603050405020304" pitchFamily="18" charset="0"/>
            </a:endParaRPr>
          </a:p>
        </p:txBody>
      </p:sp>
      <p:pic>
        <p:nvPicPr>
          <p:cNvPr id="4" name="Audio 3">
            <a:hlinkClick r:id="" action="ppaction://media"/>
            <a:extLst>
              <a:ext uri="{FF2B5EF4-FFF2-40B4-BE49-F238E27FC236}">
                <a16:creationId xmlns:a16="http://schemas.microsoft.com/office/drawing/2014/main" id="{B1E7ED59-FEDE-4237-B156-9F0AAC0EBE1D}"/>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3032971874"/>
      </p:ext>
    </p:extLst>
  </p:cSld>
  <p:clrMapOvr>
    <a:masterClrMapping/>
  </p:clrMapOvr>
  <p:transition advTm="32070">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232"/>
            <a:ext cx="10972800" cy="792162"/>
          </a:xfrm>
        </p:spPr>
        <p:txBody>
          <a:bodyPr/>
          <a:lstStyle/>
          <a:p>
            <a:r>
              <a:rPr lang="en-IN" sz="2800" b="1" dirty="0">
                <a:latin typeface="Times New Roman" panose="02020603050405020304" pitchFamily="18" charset="0"/>
                <a:cs typeface="Times New Roman" panose="02020603050405020304" pitchFamily="18" charset="0"/>
              </a:rPr>
              <a:t>COMPARISON GRAPHS (CONSTANT FEED)</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Cutting force(N) Vs Cutting Speed (m/min) </a:t>
            </a:r>
            <a:endParaRPr lang="en-IN" sz="2800" dirty="0"/>
          </a:p>
        </p:txBody>
      </p:sp>
      <p:graphicFrame>
        <p:nvGraphicFramePr>
          <p:cNvPr id="9" name="Chart 8">
            <a:extLst>
              <a:ext uri="{FF2B5EF4-FFF2-40B4-BE49-F238E27FC236}">
                <a16:creationId xmlns:a16="http://schemas.microsoft.com/office/drawing/2014/main" id="{00000000-0008-0000-0000-00000D000000}"/>
              </a:ext>
            </a:extLst>
          </p:cNvPr>
          <p:cNvGraphicFramePr>
            <a:graphicFrameLocks/>
          </p:cNvGraphicFramePr>
          <p:nvPr>
            <p:extLst>
              <p:ext uri="{D42A27DB-BD31-4B8C-83A1-F6EECF244321}">
                <p14:modId xmlns:p14="http://schemas.microsoft.com/office/powerpoint/2010/main" val="2829984954"/>
              </p:ext>
            </p:extLst>
          </p:nvPr>
        </p:nvGraphicFramePr>
        <p:xfrm>
          <a:off x="6593983" y="1093536"/>
          <a:ext cx="4892638" cy="270820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Content Placeholder 14">
            <a:extLst>
              <a:ext uri="{FF2B5EF4-FFF2-40B4-BE49-F238E27FC236}">
                <a16:creationId xmlns:a16="http://schemas.microsoft.com/office/drawing/2014/main" id="{00000000-0008-0000-0000-00000B000000}"/>
              </a:ext>
            </a:extLst>
          </p:cNvPr>
          <p:cNvGraphicFramePr>
            <a:graphicFrameLocks noGrp="1"/>
          </p:cNvGraphicFramePr>
          <p:nvPr>
            <p:ph idx="1"/>
            <p:extLst>
              <p:ext uri="{D42A27DB-BD31-4B8C-83A1-F6EECF244321}">
                <p14:modId xmlns:p14="http://schemas.microsoft.com/office/powerpoint/2010/main" val="1274712214"/>
              </p:ext>
            </p:extLst>
          </p:nvPr>
        </p:nvGraphicFramePr>
        <p:xfrm>
          <a:off x="609600" y="1093536"/>
          <a:ext cx="4773769" cy="305359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6" name="Chart 15">
            <a:extLst>
              <a:ext uri="{FF2B5EF4-FFF2-40B4-BE49-F238E27FC236}">
                <a16:creationId xmlns:a16="http://schemas.microsoft.com/office/drawing/2014/main" id="{00000000-0008-0000-0000-000014000000}"/>
              </a:ext>
            </a:extLst>
          </p:cNvPr>
          <p:cNvGraphicFramePr>
            <a:graphicFrameLocks/>
          </p:cNvGraphicFramePr>
          <p:nvPr>
            <p:extLst>
              <p:ext uri="{D42A27DB-BD31-4B8C-83A1-F6EECF244321}">
                <p14:modId xmlns:p14="http://schemas.microsoft.com/office/powerpoint/2010/main" val="3067102507"/>
              </p:ext>
            </p:extLst>
          </p:nvPr>
        </p:nvGraphicFramePr>
        <p:xfrm>
          <a:off x="3528731" y="3801737"/>
          <a:ext cx="4670184" cy="2541675"/>
        </p:xfrm>
        <a:graphic>
          <a:graphicData uri="http://schemas.openxmlformats.org/drawingml/2006/chart">
            <c:chart xmlns:c="http://schemas.openxmlformats.org/drawingml/2006/chart" xmlns:r="http://schemas.openxmlformats.org/officeDocument/2006/relationships" r:id="rId6"/>
          </a:graphicData>
        </a:graphic>
      </p:graphicFrame>
      <p:sp>
        <p:nvSpPr>
          <p:cNvPr id="3" name="TextBox 2"/>
          <p:cNvSpPr txBox="1"/>
          <p:nvPr/>
        </p:nvSpPr>
        <p:spPr>
          <a:xfrm>
            <a:off x="386366" y="1880315"/>
            <a:ext cx="396262" cy="369332"/>
          </a:xfrm>
          <a:prstGeom prst="rect">
            <a:avLst/>
          </a:prstGeom>
          <a:noFill/>
        </p:spPr>
        <p:txBody>
          <a:bodyPr wrap="none" rtlCol="0">
            <a:spAutoFit/>
          </a:bodyPr>
          <a:lstStyle/>
          <a:p>
            <a:r>
              <a:rPr lang="en-IN" dirty="0"/>
              <a:t>I)</a:t>
            </a:r>
          </a:p>
        </p:txBody>
      </p:sp>
      <p:sp>
        <p:nvSpPr>
          <p:cNvPr id="4" name="TextBox 3"/>
          <p:cNvSpPr txBox="1"/>
          <p:nvPr/>
        </p:nvSpPr>
        <p:spPr>
          <a:xfrm>
            <a:off x="5975796" y="1880315"/>
            <a:ext cx="522900" cy="369332"/>
          </a:xfrm>
          <a:prstGeom prst="rect">
            <a:avLst/>
          </a:prstGeom>
          <a:noFill/>
        </p:spPr>
        <p:txBody>
          <a:bodyPr wrap="none" rtlCol="0">
            <a:spAutoFit/>
          </a:bodyPr>
          <a:lstStyle/>
          <a:p>
            <a:r>
              <a:rPr lang="en-IN" dirty="0"/>
              <a:t>II)</a:t>
            </a:r>
          </a:p>
        </p:txBody>
      </p:sp>
      <p:sp>
        <p:nvSpPr>
          <p:cNvPr id="5" name="TextBox 4"/>
          <p:cNvSpPr txBox="1"/>
          <p:nvPr/>
        </p:nvSpPr>
        <p:spPr>
          <a:xfrm>
            <a:off x="2807594" y="4597758"/>
            <a:ext cx="649537" cy="369332"/>
          </a:xfrm>
          <a:prstGeom prst="rect">
            <a:avLst/>
          </a:prstGeom>
          <a:noFill/>
        </p:spPr>
        <p:txBody>
          <a:bodyPr wrap="none" rtlCol="0">
            <a:spAutoFit/>
          </a:bodyPr>
          <a:lstStyle/>
          <a:p>
            <a:r>
              <a:rPr lang="en-IN" dirty="0"/>
              <a:t>III)</a:t>
            </a:r>
          </a:p>
        </p:txBody>
      </p:sp>
      <p:pic>
        <p:nvPicPr>
          <p:cNvPr id="6" name="Audio 5">
            <a:hlinkClick r:id="" action="ppaction://media"/>
            <a:extLst>
              <a:ext uri="{FF2B5EF4-FFF2-40B4-BE49-F238E27FC236}">
                <a16:creationId xmlns:a16="http://schemas.microsoft.com/office/drawing/2014/main" id="{9E72A8AB-91BB-45D8-93AC-588CA5DB19A6}"/>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3628541725"/>
      </p:ext>
    </p:extLst>
  </p:cSld>
  <p:clrMapOvr>
    <a:masterClrMapping/>
  </p:clrMapOvr>
  <p:transition advTm="26172">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GRAPH INTERPRETATION</a:t>
            </a:r>
            <a:endParaRPr lang="en-IN" dirty="0"/>
          </a:p>
        </p:txBody>
      </p:sp>
      <p:sp>
        <p:nvSpPr>
          <p:cNvPr id="3" name="Content Placeholder 2"/>
          <p:cNvSpPr>
            <a:spLocks noGrp="1"/>
          </p:cNvSpPr>
          <p:nvPr>
            <p:ph idx="1"/>
          </p:nvPr>
        </p:nvSpPr>
        <p:spPr>
          <a:xfrm>
            <a:off x="275208" y="1219204"/>
            <a:ext cx="11505460" cy="4790980"/>
          </a:xfrm>
        </p:spPr>
        <p:txBody>
          <a:bodyPr/>
          <a:lstStyle/>
          <a:p>
            <a:pPr algn="just"/>
            <a:r>
              <a:rPr lang="en-IN" dirty="0">
                <a:latin typeface="Times New Roman" panose="02020603050405020304" pitchFamily="18" charset="0"/>
                <a:cs typeface="Times New Roman" panose="02020603050405020304" pitchFamily="18" charset="0"/>
              </a:rPr>
              <a:t>These graphs represent the Y component of the cutting force </a:t>
            </a:r>
            <a:r>
              <a:rPr lang="en-IN" dirty="0" err="1">
                <a:latin typeface="Times New Roman" panose="02020603050405020304" pitchFamily="18" charset="0"/>
                <a:cs typeface="Times New Roman" panose="02020603050405020304" pitchFamily="18" charset="0"/>
              </a:rPr>
              <a:t>ie</a:t>
            </a:r>
            <a:r>
              <a:rPr lang="en-IN" dirty="0">
                <a:latin typeface="Times New Roman" panose="02020603050405020304" pitchFamily="18" charset="0"/>
                <a:cs typeface="Times New Roman" panose="02020603050405020304" pitchFamily="18" charset="0"/>
              </a:rPr>
              <a:t> which is orthogonal to the rotation of the tool.</a:t>
            </a:r>
          </a:p>
          <a:p>
            <a:pPr algn="just"/>
            <a:r>
              <a:rPr lang="en-IN" dirty="0">
                <a:latin typeface="Times New Roman" panose="02020603050405020304" pitchFamily="18" charset="0"/>
                <a:cs typeface="Times New Roman" panose="02020603050405020304" pitchFamily="18" charset="0"/>
              </a:rPr>
              <a:t>We could interpret from the graphs that, as the cutting speed increases the orthogonal cutting force decreases except the graph 1.</a:t>
            </a:r>
          </a:p>
          <a:p>
            <a:pPr algn="just"/>
            <a:r>
              <a:rPr lang="en-IN" dirty="0">
                <a:latin typeface="Times New Roman" panose="02020603050405020304" pitchFamily="18" charset="0"/>
                <a:cs typeface="Times New Roman" panose="02020603050405020304" pitchFamily="18" charset="0"/>
              </a:rPr>
              <a:t>The sudden spike in the graph 1 for the 5% </a:t>
            </a:r>
            <a:r>
              <a:rPr lang="en-IN" dirty="0" err="1">
                <a:latin typeface="Times New Roman" panose="02020603050405020304" pitchFamily="18" charset="0"/>
                <a:cs typeface="Times New Roman" panose="02020603050405020304" pitchFamily="18" charset="0"/>
              </a:rPr>
              <a:t>SiC</a:t>
            </a:r>
            <a:r>
              <a:rPr lang="en-IN" dirty="0">
                <a:latin typeface="Times New Roman" panose="02020603050405020304" pitchFamily="18" charset="0"/>
                <a:cs typeface="Times New Roman" panose="02020603050405020304" pitchFamily="18" charset="0"/>
              </a:rPr>
              <a:t> plate is clearly due to the Sic particles at that point which subsequently increases the cutting force.</a:t>
            </a:r>
          </a:p>
          <a:p>
            <a:pPr algn="just"/>
            <a:r>
              <a:rPr lang="en-IN" dirty="0">
                <a:latin typeface="Times New Roman" panose="02020603050405020304" pitchFamily="18" charset="0"/>
                <a:cs typeface="Times New Roman" panose="02020603050405020304" pitchFamily="18" charset="0"/>
              </a:rPr>
              <a:t>So, from the X and Y component forces we could interpret that at the point of interface of tool with ceramic particles there is an increase in the cutting force. (</a:t>
            </a:r>
            <a:r>
              <a:rPr lang="en-IN" dirty="0" err="1">
                <a:latin typeface="Times New Roman" panose="02020603050405020304" pitchFamily="18" charset="0"/>
                <a:cs typeface="Times New Roman" panose="02020603050405020304" pitchFamily="18" charset="0"/>
              </a:rPr>
              <a:t>SiC</a:t>
            </a:r>
            <a:r>
              <a:rPr lang="en-IN" dirty="0">
                <a:latin typeface="Times New Roman" panose="02020603050405020304" pitchFamily="18" charset="0"/>
                <a:cs typeface="Times New Roman" panose="02020603050405020304" pitchFamily="18" charset="0"/>
              </a:rPr>
              <a:t> hardness &gt; Al hardness)</a:t>
            </a:r>
          </a:p>
        </p:txBody>
      </p:sp>
      <p:pic>
        <p:nvPicPr>
          <p:cNvPr id="4" name="Audio 3">
            <a:hlinkClick r:id="" action="ppaction://media"/>
            <a:extLst>
              <a:ext uri="{FF2B5EF4-FFF2-40B4-BE49-F238E27FC236}">
                <a16:creationId xmlns:a16="http://schemas.microsoft.com/office/drawing/2014/main" id="{F5DF311E-3481-4D9A-AE58-D6863AFDCA2A}"/>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2488947617"/>
      </p:ext>
    </p:extLst>
  </p:cSld>
  <p:clrMapOvr>
    <a:masterClrMapping/>
  </p:clrMapOvr>
  <p:transition advTm="30444">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48029"/>
            <a:ext cx="10972800" cy="792162"/>
          </a:xfrm>
        </p:spPr>
        <p:txBody>
          <a:bodyPr/>
          <a:lstStyle/>
          <a:p>
            <a:r>
              <a:rPr lang="en-IN" sz="2800" b="1" dirty="0">
                <a:latin typeface="Times New Roman" panose="02020603050405020304" pitchFamily="18" charset="0"/>
                <a:cs typeface="Times New Roman" panose="02020603050405020304" pitchFamily="18" charset="0"/>
              </a:rPr>
              <a:t>COMPARISON GRAPHS(FEED constant)</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Roughness (micro mm) Vs Cutting Speed (m/min) </a:t>
            </a:r>
            <a:endParaRPr lang="en-IN" sz="2800"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3FDDF7E1-00E1-43BF-B5ED-80FEE58F9D62}"/>
              </a:ext>
            </a:extLst>
          </p:cNvPr>
          <p:cNvGraphicFramePr>
            <a:graphicFrameLocks noGrp="1"/>
          </p:cNvGraphicFramePr>
          <p:nvPr>
            <p:ph idx="1"/>
            <p:extLst>
              <p:ext uri="{D42A27DB-BD31-4B8C-83A1-F6EECF244321}">
                <p14:modId xmlns:p14="http://schemas.microsoft.com/office/powerpoint/2010/main" val="2258511710"/>
              </p:ext>
            </p:extLst>
          </p:nvPr>
        </p:nvGraphicFramePr>
        <p:xfrm>
          <a:off x="609600" y="1219201"/>
          <a:ext cx="5186289" cy="24384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a:extLst>
              <a:ext uri="{FF2B5EF4-FFF2-40B4-BE49-F238E27FC236}">
                <a16:creationId xmlns:a16="http://schemas.microsoft.com/office/drawing/2014/main" id="{979CD856-C5F6-4643-AA0C-BA4663E9D554}"/>
              </a:ext>
            </a:extLst>
          </p:cNvPr>
          <p:cNvGraphicFramePr>
            <a:graphicFrameLocks/>
          </p:cNvGraphicFramePr>
          <p:nvPr>
            <p:extLst>
              <p:ext uri="{D42A27DB-BD31-4B8C-83A1-F6EECF244321}">
                <p14:modId xmlns:p14="http://schemas.microsoft.com/office/powerpoint/2010/main" val="897447697"/>
              </p:ext>
            </p:extLst>
          </p:nvPr>
        </p:nvGraphicFramePr>
        <p:xfrm>
          <a:off x="6096000" y="1163556"/>
          <a:ext cx="4764258" cy="262065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6" name="Chart 5">
            <a:extLst>
              <a:ext uri="{FF2B5EF4-FFF2-40B4-BE49-F238E27FC236}">
                <a16:creationId xmlns:a16="http://schemas.microsoft.com/office/drawing/2014/main" id="{9A965FDC-15A2-4A51-899C-55B6630715A3}"/>
              </a:ext>
            </a:extLst>
          </p:cNvPr>
          <p:cNvGraphicFramePr>
            <a:graphicFrameLocks/>
          </p:cNvGraphicFramePr>
          <p:nvPr>
            <p:extLst>
              <p:ext uri="{D42A27DB-BD31-4B8C-83A1-F6EECF244321}">
                <p14:modId xmlns:p14="http://schemas.microsoft.com/office/powerpoint/2010/main" val="1973140494"/>
              </p:ext>
            </p:extLst>
          </p:nvPr>
        </p:nvGraphicFramePr>
        <p:xfrm>
          <a:off x="3928679" y="3657602"/>
          <a:ext cx="4531590" cy="2766920"/>
        </p:xfrm>
        <a:graphic>
          <a:graphicData uri="http://schemas.openxmlformats.org/drawingml/2006/chart">
            <c:chart xmlns:c="http://schemas.openxmlformats.org/drawingml/2006/chart" xmlns:r="http://schemas.openxmlformats.org/officeDocument/2006/relationships" r:id="rId6"/>
          </a:graphicData>
        </a:graphic>
      </p:graphicFrame>
      <p:sp>
        <p:nvSpPr>
          <p:cNvPr id="3" name="TextBox 2"/>
          <p:cNvSpPr txBox="1"/>
          <p:nvPr/>
        </p:nvSpPr>
        <p:spPr>
          <a:xfrm>
            <a:off x="231820" y="1674254"/>
            <a:ext cx="396262" cy="369332"/>
          </a:xfrm>
          <a:prstGeom prst="rect">
            <a:avLst/>
          </a:prstGeom>
          <a:noFill/>
        </p:spPr>
        <p:txBody>
          <a:bodyPr wrap="none" rtlCol="0">
            <a:spAutoFit/>
          </a:bodyPr>
          <a:lstStyle/>
          <a:p>
            <a:r>
              <a:rPr lang="en-IN" dirty="0"/>
              <a:t>I)</a:t>
            </a:r>
          </a:p>
        </p:txBody>
      </p:sp>
      <p:sp>
        <p:nvSpPr>
          <p:cNvPr id="7" name="TextBox 6"/>
          <p:cNvSpPr txBox="1"/>
          <p:nvPr/>
        </p:nvSpPr>
        <p:spPr>
          <a:xfrm>
            <a:off x="5808372" y="1674254"/>
            <a:ext cx="522900" cy="369332"/>
          </a:xfrm>
          <a:prstGeom prst="rect">
            <a:avLst/>
          </a:prstGeom>
          <a:noFill/>
        </p:spPr>
        <p:txBody>
          <a:bodyPr wrap="none" rtlCol="0">
            <a:spAutoFit/>
          </a:bodyPr>
          <a:lstStyle/>
          <a:p>
            <a:r>
              <a:rPr lang="en-IN" dirty="0"/>
              <a:t>II)</a:t>
            </a:r>
          </a:p>
        </p:txBody>
      </p:sp>
      <p:sp>
        <p:nvSpPr>
          <p:cNvPr id="8" name="TextBox 7"/>
          <p:cNvSpPr txBox="1"/>
          <p:nvPr/>
        </p:nvSpPr>
        <p:spPr>
          <a:xfrm>
            <a:off x="3387144" y="4005330"/>
            <a:ext cx="649537" cy="369332"/>
          </a:xfrm>
          <a:prstGeom prst="rect">
            <a:avLst/>
          </a:prstGeom>
          <a:noFill/>
        </p:spPr>
        <p:txBody>
          <a:bodyPr wrap="none" rtlCol="0">
            <a:spAutoFit/>
          </a:bodyPr>
          <a:lstStyle/>
          <a:p>
            <a:r>
              <a:rPr lang="en-IN" dirty="0"/>
              <a:t>III)</a:t>
            </a:r>
          </a:p>
        </p:txBody>
      </p:sp>
      <p:pic>
        <p:nvPicPr>
          <p:cNvPr id="9" name="Audio 8">
            <a:hlinkClick r:id="" action="ppaction://media"/>
            <a:extLst>
              <a:ext uri="{FF2B5EF4-FFF2-40B4-BE49-F238E27FC236}">
                <a16:creationId xmlns:a16="http://schemas.microsoft.com/office/drawing/2014/main" id="{2DF6BBD3-0C9B-40ED-A2A4-2F66D317329F}"/>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3170384297"/>
      </p:ext>
    </p:extLst>
  </p:cSld>
  <p:clrMapOvr>
    <a:masterClrMapping/>
  </p:clrMapOvr>
  <p:transition advTm="10754">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GRAPH INTERPRETATION</a:t>
            </a:r>
            <a:endParaRPr lang="en-IN" dirty="0"/>
          </a:p>
        </p:txBody>
      </p:sp>
      <p:sp>
        <p:nvSpPr>
          <p:cNvPr id="3" name="Content Placeholder 2"/>
          <p:cNvSpPr>
            <a:spLocks noGrp="1"/>
          </p:cNvSpPr>
          <p:nvPr>
            <p:ph idx="1"/>
          </p:nvPr>
        </p:nvSpPr>
        <p:spPr/>
        <p:txBody>
          <a:bodyPr/>
          <a:lstStyle/>
          <a:p>
            <a:pPr algn="just"/>
            <a:r>
              <a:rPr lang="en-IN" dirty="0">
                <a:latin typeface="Times New Roman" panose="02020603050405020304" pitchFamily="18" charset="0"/>
                <a:cs typeface="Times New Roman" panose="02020603050405020304" pitchFamily="18" charset="0"/>
              </a:rPr>
              <a:t>Generally as the cutting speed increases, surface finish increases and hence the roughness decreases.</a:t>
            </a:r>
          </a:p>
          <a:p>
            <a:pPr algn="just"/>
            <a:r>
              <a:rPr lang="en-IN" dirty="0">
                <a:latin typeface="Times New Roman" panose="02020603050405020304" pitchFamily="18" charset="0"/>
                <a:cs typeface="Times New Roman" panose="02020603050405020304" pitchFamily="18" charset="0"/>
              </a:rPr>
              <a:t>Here, we could see that in most of the cases, as the cutting speed increases, surface roughness decreases.</a:t>
            </a:r>
          </a:p>
          <a:p>
            <a:pPr algn="just"/>
            <a:r>
              <a:rPr lang="en-IN" dirty="0">
                <a:latin typeface="Times New Roman" panose="02020603050405020304" pitchFamily="18" charset="0"/>
                <a:cs typeface="Times New Roman" panose="02020603050405020304" pitchFamily="18" charset="0"/>
              </a:rPr>
              <a:t>The sudden spike in the graph 1 and 2 is supposed to be due to the accumulation of particles at that point of tool work piece interface.</a:t>
            </a:r>
          </a:p>
          <a:p>
            <a:pPr marL="0" indent="0" algn="just">
              <a:buNone/>
            </a:pPr>
            <a:endParaRPr lang="en-IN" sz="3200" dirty="0">
              <a:latin typeface="Times New Roman" panose="02020603050405020304" pitchFamily="18" charset="0"/>
              <a:cs typeface="Times New Roman" panose="02020603050405020304" pitchFamily="18" charset="0"/>
            </a:endParaRPr>
          </a:p>
        </p:txBody>
      </p:sp>
      <p:pic>
        <p:nvPicPr>
          <p:cNvPr id="4" name="Audio 3">
            <a:hlinkClick r:id="" action="ppaction://media"/>
            <a:extLst>
              <a:ext uri="{FF2B5EF4-FFF2-40B4-BE49-F238E27FC236}">
                <a16:creationId xmlns:a16="http://schemas.microsoft.com/office/drawing/2014/main" id="{A2DAE79B-CE3E-457F-A327-29DBF3C509AC}"/>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3572690071"/>
      </p:ext>
    </p:extLst>
  </p:cSld>
  <p:clrMapOvr>
    <a:masterClrMapping/>
  </p:clrMapOvr>
  <p:transition advTm="22851">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81754-9831-41A8-AF9C-7D5B94B583E1}"/>
              </a:ext>
            </a:extLst>
          </p:cNvPr>
          <p:cNvSpPr>
            <a:spLocks noGrp="1"/>
          </p:cNvSpPr>
          <p:nvPr>
            <p:ph type="title"/>
          </p:nvPr>
        </p:nvSpPr>
        <p:spPr>
          <a:xfrm>
            <a:off x="610255" y="94334"/>
            <a:ext cx="10972800" cy="944562"/>
          </a:xfrm>
        </p:spPr>
        <p:txBody>
          <a:bodyPr/>
          <a:lstStyle/>
          <a:p>
            <a:r>
              <a:rPr lang="en-US" sz="2800" b="1" dirty="0">
                <a:latin typeface="Times New Roman" panose="02020603050405020304" pitchFamily="18" charset="0"/>
                <a:cs typeface="Times New Roman" panose="02020603050405020304" pitchFamily="18" charset="0"/>
              </a:rPr>
              <a:t>COMPARISON GRAPHS (feed constant)</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Chip thickness (micro m) Vs Cutting speed (m/min) </a:t>
            </a:r>
            <a:endParaRPr lang="en-IN" sz="2800"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00000000-0008-0000-0100-00000A000000}"/>
              </a:ext>
            </a:extLst>
          </p:cNvPr>
          <p:cNvGraphicFramePr>
            <a:graphicFrameLocks noGrp="1"/>
          </p:cNvGraphicFramePr>
          <p:nvPr>
            <p:ph idx="1"/>
            <p:extLst>
              <p:ext uri="{D42A27DB-BD31-4B8C-83A1-F6EECF244321}">
                <p14:modId xmlns:p14="http://schemas.microsoft.com/office/powerpoint/2010/main" val="3473569418"/>
              </p:ext>
            </p:extLst>
          </p:nvPr>
        </p:nvGraphicFramePr>
        <p:xfrm>
          <a:off x="609600" y="1219200"/>
          <a:ext cx="4553527" cy="228138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a:extLst>
              <a:ext uri="{FF2B5EF4-FFF2-40B4-BE49-F238E27FC236}">
                <a16:creationId xmlns:a16="http://schemas.microsoft.com/office/drawing/2014/main" id="{00000000-0008-0000-0100-00000B000000}"/>
              </a:ext>
            </a:extLst>
          </p:cNvPr>
          <p:cNvGraphicFramePr>
            <a:graphicFrameLocks/>
          </p:cNvGraphicFramePr>
          <p:nvPr>
            <p:extLst>
              <p:ext uri="{D42A27DB-BD31-4B8C-83A1-F6EECF244321}">
                <p14:modId xmlns:p14="http://schemas.microsoft.com/office/powerpoint/2010/main" val="1424663234"/>
              </p:ext>
            </p:extLst>
          </p:nvPr>
        </p:nvGraphicFramePr>
        <p:xfrm>
          <a:off x="5869854" y="1219200"/>
          <a:ext cx="4162788" cy="203915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6" name="Chart 5">
            <a:extLst>
              <a:ext uri="{FF2B5EF4-FFF2-40B4-BE49-F238E27FC236}">
                <a16:creationId xmlns:a16="http://schemas.microsoft.com/office/drawing/2014/main" id="{00000000-0008-0000-0100-00000C000000}"/>
              </a:ext>
            </a:extLst>
          </p:cNvPr>
          <p:cNvGraphicFramePr>
            <a:graphicFrameLocks/>
          </p:cNvGraphicFramePr>
          <p:nvPr>
            <p:extLst>
              <p:ext uri="{D42A27DB-BD31-4B8C-83A1-F6EECF244321}">
                <p14:modId xmlns:p14="http://schemas.microsoft.com/office/powerpoint/2010/main" val="1994835015"/>
              </p:ext>
            </p:extLst>
          </p:nvPr>
        </p:nvGraphicFramePr>
        <p:xfrm>
          <a:off x="3585921" y="3428998"/>
          <a:ext cx="4126444" cy="2662709"/>
        </p:xfrm>
        <a:graphic>
          <a:graphicData uri="http://schemas.openxmlformats.org/drawingml/2006/chart">
            <c:chart xmlns:c="http://schemas.openxmlformats.org/drawingml/2006/chart" xmlns:r="http://schemas.openxmlformats.org/officeDocument/2006/relationships" r:id="rId6"/>
          </a:graphicData>
        </a:graphic>
      </p:graphicFrame>
      <p:sp>
        <p:nvSpPr>
          <p:cNvPr id="3" name="TextBox 2"/>
          <p:cNvSpPr txBox="1"/>
          <p:nvPr/>
        </p:nvSpPr>
        <p:spPr>
          <a:xfrm>
            <a:off x="412124" y="1596980"/>
            <a:ext cx="396262" cy="369332"/>
          </a:xfrm>
          <a:prstGeom prst="rect">
            <a:avLst/>
          </a:prstGeom>
          <a:noFill/>
        </p:spPr>
        <p:txBody>
          <a:bodyPr wrap="none" rtlCol="0">
            <a:spAutoFit/>
          </a:bodyPr>
          <a:lstStyle/>
          <a:p>
            <a:r>
              <a:rPr lang="en-IN" dirty="0"/>
              <a:t>I)</a:t>
            </a:r>
          </a:p>
        </p:txBody>
      </p:sp>
      <p:sp>
        <p:nvSpPr>
          <p:cNvPr id="7" name="TextBox 6"/>
          <p:cNvSpPr txBox="1"/>
          <p:nvPr/>
        </p:nvSpPr>
        <p:spPr>
          <a:xfrm>
            <a:off x="5473521" y="1493949"/>
            <a:ext cx="522900" cy="369332"/>
          </a:xfrm>
          <a:prstGeom prst="rect">
            <a:avLst/>
          </a:prstGeom>
          <a:noFill/>
        </p:spPr>
        <p:txBody>
          <a:bodyPr wrap="none" rtlCol="0">
            <a:spAutoFit/>
          </a:bodyPr>
          <a:lstStyle/>
          <a:p>
            <a:r>
              <a:rPr lang="en-IN" dirty="0"/>
              <a:t>II)</a:t>
            </a:r>
          </a:p>
        </p:txBody>
      </p:sp>
      <p:sp>
        <p:nvSpPr>
          <p:cNvPr id="8" name="TextBox 7"/>
          <p:cNvSpPr txBox="1"/>
          <p:nvPr/>
        </p:nvSpPr>
        <p:spPr>
          <a:xfrm>
            <a:off x="2936383" y="3773510"/>
            <a:ext cx="649537" cy="369332"/>
          </a:xfrm>
          <a:prstGeom prst="rect">
            <a:avLst/>
          </a:prstGeom>
          <a:noFill/>
        </p:spPr>
        <p:txBody>
          <a:bodyPr wrap="none" rtlCol="0">
            <a:spAutoFit/>
          </a:bodyPr>
          <a:lstStyle/>
          <a:p>
            <a:r>
              <a:rPr lang="en-IN" dirty="0"/>
              <a:t>III)</a:t>
            </a:r>
          </a:p>
        </p:txBody>
      </p:sp>
      <p:pic>
        <p:nvPicPr>
          <p:cNvPr id="9" name="Audio 8">
            <a:hlinkClick r:id="" action="ppaction://media"/>
            <a:extLst>
              <a:ext uri="{FF2B5EF4-FFF2-40B4-BE49-F238E27FC236}">
                <a16:creationId xmlns:a16="http://schemas.microsoft.com/office/drawing/2014/main" id="{3A7387D9-3685-4F8E-A394-BC96461DEA47}"/>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495565757"/>
      </p:ext>
    </p:extLst>
  </p:cSld>
  <p:clrMapOvr>
    <a:masterClrMapping/>
  </p:clrMapOvr>
  <p:transition advTm="7526">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GRAPH INTERPRETATION</a:t>
            </a:r>
            <a:endParaRPr lang="en-IN" dirty="0"/>
          </a:p>
        </p:txBody>
      </p:sp>
      <p:sp>
        <p:nvSpPr>
          <p:cNvPr id="3" name="Content Placeholder 2"/>
          <p:cNvSpPr>
            <a:spLocks noGrp="1"/>
          </p:cNvSpPr>
          <p:nvPr>
            <p:ph idx="1"/>
          </p:nvPr>
        </p:nvSpPr>
        <p:spPr/>
        <p:txBody>
          <a:bodyPr/>
          <a:lstStyle/>
          <a:p>
            <a:pPr algn="just"/>
            <a:r>
              <a:rPr lang="en-IN" dirty="0">
                <a:latin typeface="Times New Roman" panose="02020603050405020304" pitchFamily="18" charset="0"/>
                <a:cs typeface="Times New Roman" panose="02020603050405020304" pitchFamily="18" charset="0"/>
              </a:rPr>
              <a:t>The chip thickness changes as the depth of cut changes. But here we have constant depth of cut and we have measured the approximate chip thickness.</a:t>
            </a:r>
          </a:p>
          <a:p>
            <a:pPr algn="just"/>
            <a:r>
              <a:rPr lang="en-IN" dirty="0">
                <a:latin typeface="Times New Roman" panose="02020603050405020304" pitchFamily="18" charset="0"/>
                <a:cs typeface="Times New Roman" panose="02020603050405020304" pitchFamily="18" charset="0"/>
              </a:rPr>
              <a:t>The chip thickness of 5% </a:t>
            </a:r>
            <a:r>
              <a:rPr lang="en-IN" dirty="0" err="1">
                <a:latin typeface="Times New Roman" panose="02020603050405020304" pitchFamily="18" charset="0"/>
                <a:cs typeface="Times New Roman" panose="02020603050405020304" pitchFamily="18" charset="0"/>
              </a:rPr>
              <a:t>SiC</a:t>
            </a:r>
            <a:r>
              <a:rPr lang="en-IN" dirty="0">
                <a:latin typeface="Times New Roman" panose="02020603050405020304" pitchFamily="18" charset="0"/>
                <a:cs typeface="Times New Roman" panose="02020603050405020304" pitchFamily="18" charset="0"/>
              </a:rPr>
              <a:t> plate is consistent in all the graphs which interprets that as the speed increases chip thickness decreases.</a:t>
            </a:r>
          </a:p>
          <a:p>
            <a:pPr algn="just"/>
            <a:r>
              <a:rPr lang="en-IN" dirty="0">
                <a:latin typeface="Times New Roman" panose="02020603050405020304" pitchFamily="18" charset="0"/>
                <a:cs typeface="Times New Roman" panose="02020603050405020304" pitchFamily="18" charset="0"/>
              </a:rPr>
              <a:t>The chip  thickness of 3.75% </a:t>
            </a:r>
            <a:r>
              <a:rPr lang="en-IN" dirty="0" err="1">
                <a:latin typeface="Times New Roman" panose="02020603050405020304" pitchFamily="18" charset="0"/>
                <a:cs typeface="Times New Roman" panose="02020603050405020304" pitchFamily="18" charset="0"/>
              </a:rPr>
              <a:t>SiC</a:t>
            </a:r>
            <a:r>
              <a:rPr lang="en-IN" dirty="0">
                <a:latin typeface="Times New Roman" panose="02020603050405020304" pitchFamily="18" charset="0"/>
                <a:cs typeface="Times New Roman" panose="02020603050405020304" pitchFamily="18" charset="0"/>
              </a:rPr>
              <a:t> plate is not in the trend and is assumed to be because of some irregularities in the plate and hence the particle distribution in the matrix.</a:t>
            </a:r>
          </a:p>
          <a:p>
            <a:pPr marL="0" indent="0" algn="just">
              <a:buNone/>
            </a:pPr>
            <a:endParaRPr lang="en-IN" sz="3200" dirty="0">
              <a:latin typeface="Times New Roman" panose="02020603050405020304" pitchFamily="18" charset="0"/>
              <a:cs typeface="Times New Roman" panose="02020603050405020304" pitchFamily="18" charset="0"/>
            </a:endParaRPr>
          </a:p>
        </p:txBody>
      </p:sp>
      <p:pic>
        <p:nvPicPr>
          <p:cNvPr id="4" name="Audio 3">
            <a:hlinkClick r:id="" action="ppaction://media"/>
            <a:extLst>
              <a:ext uri="{FF2B5EF4-FFF2-40B4-BE49-F238E27FC236}">
                <a16:creationId xmlns:a16="http://schemas.microsoft.com/office/drawing/2014/main" id="{86406C0B-CFAD-47F2-BCB7-9B15262FA2CA}"/>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1928797870"/>
      </p:ext>
    </p:extLst>
  </p:cSld>
  <p:clrMapOvr>
    <a:masterClrMapping/>
  </p:clrMapOvr>
  <p:transition advTm="38721">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F1DDC-F5EB-465C-A9FA-EA0687AF1FD4}"/>
              </a:ext>
            </a:extLst>
          </p:cNvPr>
          <p:cNvSpPr>
            <a:spLocks noGrp="1"/>
          </p:cNvSpPr>
          <p:nvPr>
            <p:ph type="title"/>
          </p:nvPr>
        </p:nvSpPr>
        <p:spPr>
          <a:xfrm>
            <a:off x="625931" y="145850"/>
            <a:ext cx="10972800" cy="842962"/>
          </a:xfrm>
        </p:spPr>
        <p:txBody>
          <a:bodyPr/>
          <a:lstStyle/>
          <a:p>
            <a:r>
              <a:rPr lang="en-US" sz="2800" b="1" dirty="0">
                <a:latin typeface="Times New Roman" panose="02020603050405020304" pitchFamily="18" charset="0"/>
                <a:cs typeface="Times New Roman" panose="02020603050405020304" pitchFamily="18" charset="0"/>
              </a:rPr>
              <a:t>COMPARISON GRAPHS (cutting speed constant)</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Chip thickness (mm) Vs Feed (m/min) </a:t>
            </a:r>
            <a:endParaRPr lang="en-IN" sz="2800"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00000000-0008-0000-0100-00000D000000}"/>
              </a:ext>
            </a:extLst>
          </p:cNvPr>
          <p:cNvGraphicFramePr>
            <a:graphicFrameLocks noGrp="1"/>
          </p:cNvGraphicFramePr>
          <p:nvPr>
            <p:ph idx="1"/>
            <p:extLst>
              <p:ext uri="{D42A27DB-BD31-4B8C-83A1-F6EECF244321}">
                <p14:modId xmlns:p14="http://schemas.microsoft.com/office/powerpoint/2010/main" val="2976320475"/>
              </p:ext>
            </p:extLst>
          </p:nvPr>
        </p:nvGraphicFramePr>
        <p:xfrm>
          <a:off x="517236" y="1256146"/>
          <a:ext cx="4932218" cy="235527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a:extLst>
              <a:ext uri="{FF2B5EF4-FFF2-40B4-BE49-F238E27FC236}">
                <a16:creationId xmlns:a16="http://schemas.microsoft.com/office/drawing/2014/main" id="{00000000-0008-0000-0100-00000E000000}"/>
              </a:ext>
            </a:extLst>
          </p:cNvPr>
          <p:cNvGraphicFramePr>
            <a:graphicFrameLocks/>
          </p:cNvGraphicFramePr>
          <p:nvPr>
            <p:extLst>
              <p:ext uri="{D42A27DB-BD31-4B8C-83A1-F6EECF244321}">
                <p14:modId xmlns:p14="http://schemas.microsoft.com/office/powerpoint/2010/main" val="1469134928"/>
              </p:ext>
            </p:extLst>
          </p:nvPr>
        </p:nvGraphicFramePr>
        <p:xfrm>
          <a:off x="6031345" y="1256147"/>
          <a:ext cx="4599709" cy="250305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6" name="Chart 5">
            <a:extLst>
              <a:ext uri="{FF2B5EF4-FFF2-40B4-BE49-F238E27FC236}">
                <a16:creationId xmlns:a16="http://schemas.microsoft.com/office/drawing/2014/main" id="{00000000-0008-0000-0100-00000F000000}"/>
              </a:ext>
            </a:extLst>
          </p:cNvPr>
          <p:cNvGraphicFramePr>
            <a:graphicFrameLocks/>
          </p:cNvGraphicFramePr>
          <p:nvPr>
            <p:extLst>
              <p:ext uri="{D42A27DB-BD31-4B8C-83A1-F6EECF244321}">
                <p14:modId xmlns:p14="http://schemas.microsoft.com/office/powerpoint/2010/main" val="808699302"/>
              </p:ext>
            </p:extLst>
          </p:nvPr>
        </p:nvGraphicFramePr>
        <p:xfrm>
          <a:off x="3278909" y="3611419"/>
          <a:ext cx="4599709" cy="2650259"/>
        </p:xfrm>
        <a:graphic>
          <a:graphicData uri="http://schemas.openxmlformats.org/drawingml/2006/chart">
            <c:chart xmlns:c="http://schemas.openxmlformats.org/drawingml/2006/chart" xmlns:r="http://schemas.openxmlformats.org/officeDocument/2006/relationships" r:id="rId6"/>
          </a:graphicData>
        </a:graphic>
      </p:graphicFrame>
      <p:sp>
        <p:nvSpPr>
          <p:cNvPr id="3" name="TextBox 2"/>
          <p:cNvSpPr txBox="1"/>
          <p:nvPr/>
        </p:nvSpPr>
        <p:spPr>
          <a:xfrm>
            <a:off x="309093" y="1584101"/>
            <a:ext cx="396262" cy="369332"/>
          </a:xfrm>
          <a:prstGeom prst="rect">
            <a:avLst/>
          </a:prstGeom>
          <a:noFill/>
        </p:spPr>
        <p:txBody>
          <a:bodyPr wrap="none" rtlCol="0">
            <a:spAutoFit/>
          </a:bodyPr>
          <a:lstStyle/>
          <a:p>
            <a:r>
              <a:rPr lang="en-IN" dirty="0"/>
              <a:t>I)</a:t>
            </a:r>
          </a:p>
        </p:txBody>
      </p:sp>
      <p:sp>
        <p:nvSpPr>
          <p:cNvPr id="7" name="TextBox 6"/>
          <p:cNvSpPr txBox="1"/>
          <p:nvPr/>
        </p:nvSpPr>
        <p:spPr>
          <a:xfrm>
            <a:off x="5589431" y="1622738"/>
            <a:ext cx="522900" cy="369332"/>
          </a:xfrm>
          <a:prstGeom prst="rect">
            <a:avLst/>
          </a:prstGeom>
          <a:noFill/>
        </p:spPr>
        <p:txBody>
          <a:bodyPr wrap="none" rtlCol="0">
            <a:spAutoFit/>
          </a:bodyPr>
          <a:lstStyle/>
          <a:p>
            <a:r>
              <a:rPr lang="en-IN" dirty="0"/>
              <a:t>II)</a:t>
            </a:r>
          </a:p>
        </p:txBody>
      </p:sp>
      <p:sp>
        <p:nvSpPr>
          <p:cNvPr id="8" name="TextBox 7"/>
          <p:cNvSpPr txBox="1"/>
          <p:nvPr/>
        </p:nvSpPr>
        <p:spPr>
          <a:xfrm>
            <a:off x="2614411" y="4185634"/>
            <a:ext cx="649537" cy="369332"/>
          </a:xfrm>
          <a:prstGeom prst="rect">
            <a:avLst/>
          </a:prstGeom>
          <a:noFill/>
        </p:spPr>
        <p:txBody>
          <a:bodyPr wrap="none" rtlCol="0">
            <a:spAutoFit/>
          </a:bodyPr>
          <a:lstStyle/>
          <a:p>
            <a:r>
              <a:rPr lang="en-IN" dirty="0"/>
              <a:t>III)</a:t>
            </a:r>
          </a:p>
        </p:txBody>
      </p:sp>
      <p:pic>
        <p:nvPicPr>
          <p:cNvPr id="9" name="Audio 8">
            <a:hlinkClick r:id="" action="ppaction://media"/>
            <a:extLst>
              <a:ext uri="{FF2B5EF4-FFF2-40B4-BE49-F238E27FC236}">
                <a16:creationId xmlns:a16="http://schemas.microsoft.com/office/drawing/2014/main" id="{6B8B19BD-F2E1-456F-A8BE-312084E59DBB}"/>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646363352"/>
      </p:ext>
    </p:extLst>
  </p:cSld>
  <p:clrMapOvr>
    <a:masterClrMapping/>
  </p:clrMapOvr>
  <p:transition advTm="18161">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GRAPH INTERPRETATION</a:t>
            </a:r>
            <a:endParaRPr lang="en-IN" dirty="0"/>
          </a:p>
        </p:txBody>
      </p:sp>
      <p:sp>
        <p:nvSpPr>
          <p:cNvPr id="3" name="Content Placeholder 2"/>
          <p:cNvSpPr>
            <a:spLocks noGrp="1"/>
          </p:cNvSpPr>
          <p:nvPr>
            <p:ph idx="1"/>
          </p:nvPr>
        </p:nvSpPr>
        <p:spPr/>
        <p:txBody>
          <a:bodyPr/>
          <a:lstStyle/>
          <a:p>
            <a:pPr algn="just"/>
            <a:r>
              <a:rPr lang="en-IN" dirty="0">
                <a:latin typeface="Times New Roman" panose="02020603050405020304" pitchFamily="18" charset="0"/>
                <a:cs typeface="Times New Roman" panose="02020603050405020304" pitchFamily="18" charset="0"/>
              </a:rPr>
              <a:t>When compared with cutting speed, feed has more impact on chip thickness than cutting speed.</a:t>
            </a:r>
          </a:p>
          <a:p>
            <a:pPr algn="just"/>
            <a:r>
              <a:rPr lang="en-IN" dirty="0">
                <a:latin typeface="Times New Roman" panose="02020603050405020304" pitchFamily="18" charset="0"/>
                <a:cs typeface="Times New Roman" panose="02020603050405020304" pitchFamily="18" charset="0"/>
              </a:rPr>
              <a:t>The pattern of 5% </a:t>
            </a:r>
            <a:r>
              <a:rPr lang="en-IN" dirty="0" err="1">
                <a:latin typeface="Times New Roman" panose="02020603050405020304" pitchFamily="18" charset="0"/>
                <a:cs typeface="Times New Roman" panose="02020603050405020304" pitchFamily="18" charset="0"/>
              </a:rPr>
              <a:t>SiC</a:t>
            </a:r>
            <a:r>
              <a:rPr lang="en-IN" dirty="0">
                <a:latin typeface="Times New Roman" panose="02020603050405020304" pitchFamily="18" charset="0"/>
                <a:cs typeface="Times New Roman" panose="02020603050405020304" pitchFamily="18" charset="0"/>
              </a:rPr>
              <a:t> plate is more consistent than the curve of 3.75% </a:t>
            </a:r>
            <a:r>
              <a:rPr lang="en-IN" dirty="0" err="1">
                <a:latin typeface="Times New Roman" panose="02020603050405020304" pitchFamily="18" charset="0"/>
                <a:cs typeface="Times New Roman" panose="02020603050405020304" pitchFamily="18" charset="0"/>
              </a:rPr>
              <a:t>SiC</a:t>
            </a:r>
            <a:r>
              <a:rPr lang="en-IN" dirty="0">
                <a:latin typeface="Times New Roman" panose="02020603050405020304" pitchFamily="18" charset="0"/>
                <a:cs typeface="Times New Roman" panose="02020603050405020304" pitchFamily="18" charset="0"/>
              </a:rPr>
              <a:t> plate.</a:t>
            </a:r>
          </a:p>
          <a:p>
            <a:pPr algn="just"/>
            <a:r>
              <a:rPr lang="en-IN" dirty="0">
                <a:latin typeface="Times New Roman" panose="02020603050405020304" pitchFamily="18" charset="0"/>
                <a:cs typeface="Times New Roman" panose="02020603050405020304" pitchFamily="18" charset="0"/>
              </a:rPr>
              <a:t>The chip thickness increases as the feed increases for the same cutting forces for 5% </a:t>
            </a:r>
            <a:r>
              <a:rPr lang="en-IN" dirty="0" err="1">
                <a:latin typeface="Times New Roman" panose="02020603050405020304" pitchFamily="18" charset="0"/>
                <a:cs typeface="Times New Roman" panose="02020603050405020304" pitchFamily="18" charset="0"/>
              </a:rPr>
              <a:t>SiC</a:t>
            </a:r>
            <a:r>
              <a:rPr lang="en-IN" dirty="0">
                <a:latin typeface="Times New Roman" panose="02020603050405020304" pitchFamily="18" charset="0"/>
                <a:cs typeface="Times New Roman" panose="02020603050405020304" pitchFamily="18" charset="0"/>
              </a:rPr>
              <a:t> plates which is opposite when interpreted from the graphs of 3.75% </a:t>
            </a:r>
            <a:r>
              <a:rPr lang="en-IN" dirty="0" err="1">
                <a:latin typeface="Times New Roman" panose="02020603050405020304" pitchFamily="18" charset="0"/>
                <a:cs typeface="Times New Roman" panose="02020603050405020304" pitchFamily="18" charset="0"/>
              </a:rPr>
              <a:t>SiC.</a:t>
            </a:r>
            <a:endParaRPr lang="en-IN" dirty="0">
              <a:latin typeface="Times New Roman" panose="02020603050405020304" pitchFamily="18" charset="0"/>
              <a:cs typeface="Times New Roman" panose="02020603050405020304" pitchFamily="18" charset="0"/>
            </a:endParaRPr>
          </a:p>
          <a:p>
            <a:pPr algn="just"/>
            <a:endParaRPr lang="en-IN" sz="3200" dirty="0">
              <a:latin typeface="Times New Roman" panose="02020603050405020304" pitchFamily="18" charset="0"/>
              <a:cs typeface="Times New Roman" panose="02020603050405020304" pitchFamily="18" charset="0"/>
            </a:endParaRPr>
          </a:p>
          <a:p>
            <a:pPr marL="0" indent="0" algn="just">
              <a:buNone/>
            </a:pPr>
            <a:endParaRPr lang="en-IN" sz="3200" dirty="0">
              <a:latin typeface="Times New Roman" panose="02020603050405020304" pitchFamily="18" charset="0"/>
              <a:cs typeface="Times New Roman" panose="02020603050405020304" pitchFamily="18" charset="0"/>
            </a:endParaRPr>
          </a:p>
        </p:txBody>
      </p:sp>
      <p:pic>
        <p:nvPicPr>
          <p:cNvPr id="4" name="Audio 3">
            <a:hlinkClick r:id="" action="ppaction://media"/>
            <a:extLst>
              <a:ext uri="{FF2B5EF4-FFF2-40B4-BE49-F238E27FC236}">
                <a16:creationId xmlns:a16="http://schemas.microsoft.com/office/drawing/2014/main" id="{4A6D6901-0E1F-4D7E-83F0-1FC54BD7657A}"/>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1005048090"/>
      </p:ext>
    </p:extLst>
  </p:cSld>
  <p:clrMapOvr>
    <a:masterClrMapping/>
  </p:clrMapOvr>
  <p:transition advTm="28192">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a:t>
            </a:r>
            <a:r>
              <a:rPr lang="en-IN" b="1" dirty="0">
                <a:latin typeface="Times New Roman" panose="02020603050405020304" pitchFamily="18" charset="0"/>
                <a:cs typeface="Times New Roman" panose="02020603050405020304" pitchFamily="18" charset="0"/>
              </a:rPr>
              <a:t>ONCLUSION</a:t>
            </a:r>
          </a:p>
        </p:txBody>
      </p:sp>
      <p:sp>
        <p:nvSpPr>
          <p:cNvPr id="3" name="Content Placeholder 2"/>
          <p:cNvSpPr>
            <a:spLocks noGrp="1"/>
          </p:cNvSpPr>
          <p:nvPr>
            <p:ph idx="1"/>
          </p:nvPr>
        </p:nvSpPr>
        <p:spPr>
          <a:xfrm>
            <a:off x="609600" y="1245837"/>
            <a:ext cx="10972800" cy="4906963"/>
          </a:xfrm>
        </p:spPr>
        <p:txBody>
          <a:bodyPr/>
          <a:lstStyle/>
          <a:p>
            <a:pPr algn="just"/>
            <a:r>
              <a:rPr lang="en-US" dirty="0">
                <a:latin typeface="Times New Roman" panose="02020603050405020304" pitchFamily="18" charset="0"/>
                <a:cs typeface="Times New Roman" panose="02020603050405020304" pitchFamily="18" charset="0"/>
              </a:rPr>
              <a:t>Variation of cutting force with cutting speed was observed and it is concluded that 3.75% variant of MMC is preferred or recommended when cutting force is kept as an important parameter as it exhibited less cutting force than 5% variant. </a:t>
            </a:r>
          </a:p>
          <a:p>
            <a:pPr algn="just"/>
            <a:r>
              <a:rPr lang="en-US" dirty="0">
                <a:latin typeface="Times New Roman" panose="02020603050405020304" pitchFamily="18" charset="0"/>
                <a:cs typeface="Times New Roman" panose="02020603050405020304" pitchFamily="18" charset="0"/>
              </a:rPr>
              <a:t>In general tool life depends on cutting force thus, when tool life is kept as deciding parameter, 3.75% MMC is preferred as its variation of cutting force in par with the traditional trend of variation cutting force with speed. Thus, for lesser power consumption and higher productivity, MMC with lower percentage reinforcement is recommended. </a:t>
            </a:r>
          </a:p>
          <a:p>
            <a:pPr algn="just"/>
            <a:r>
              <a:rPr lang="en-US" dirty="0">
                <a:latin typeface="Times New Roman" panose="02020603050405020304" pitchFamily="18" charset="0"/>
                <a:cs typeface="Times New Roman" panose="02020603050405020304" pitchFamily="18" charset="0"/>
              </a:rPr>
              <a:t>Variation of Surface roughness with percentage composition and cutting speed was observed and it is concluded that 3.75% MMC is recommended for high-speed surface finish processes with lower feed rate, as the surface roughness of 5% MMC exhibited higher values though it decreased with cutting speed. </a:t>
            </a:r>
          </a:p>
          <a:p>
            <a:pPr algn="just"/>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pic>
        <p:nvPicPr>
          <p:cNvPr id="4" name="Audio 3">
            <a:hlinkClick r:id="" action="ppaction://media"/>
            <a:extLst>
              <a:ext uri="{FF2B5EF4-FFF2-40B4-BE49-F238E27FC236}">
                <a16:creationId xmlns:a16="http://schemas.microsoft.com/office/drawing/2014/main" id="{52D163F7-18AE-4B0E-9150-340D0C80AE6D}"/>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2903118"/>
      </p:ext>
    </p:extLst>
  </p:cSld>
  <p:clrMapOvr>
    <a:masterClrMapping/>
  </p:clrMapOvr>
  <p:transition advTm="96505">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1A907-FF1F-4ED2-9975-25C924B9A40F}"/>
              </a:ext>
            </a:extLst>
          </p:cNvPr>
          <p:cNvSpPr>
            <a:spLocks noGrp="1"/>
          </p:cNvSpPr>
          <p:nvPr>
            <p:ph type="title"/>
          </p:nvPr>
        </p:nvSpPr>
        <p:spPr>
          <a:xfrm>
            <a:off x="609600" y="211466"/>
            <a:ext cx="10972800" cy="792162"/>
          </a:xfrm>
        </p:spPr>
        <p:txBody>
          <a:bodyPr/>
          <a:lstStyle/>
          <a:p>
            <a:r>
              <a:rPr lang="en-US" sz="2800" b="1" dirty="0">
                <a:latin typeface="Times New Roman" panose="02020603050405020304" pitchFamily="18" charset="0"/>
                <a:cs typeface="Times New Roman" panose="02020603050405020304" pitchFamily="18" charset="0"/>
              </a:rPr>
              <a:t>REFERENCES</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45A9CC2-8681-478B-AD0C-66001FE6E328}"/>
              </a:ext>
            </a:extLst>
          </p:cNvPr>
          <p:cNvSpPr>
            <a:spLocks noGrp="1"/>
          </p:cNvSpPr>
          <p:nvPr>
            <p:ph idx="1"/>
          </p:nvPr>
        </p:nvSpPr>
        <p:spPr>
          <a:xfrm>
            <a:off x="609600" y="1121549"/>
            <a:ext cx="10972800" cy="4906963"/>
          </a:xfrm>
        </p:spPr>
        <p:txBody>
          <a:bodyPr/>
          <a:lstStyle/>
          <a:p>
            <a:r>
              <a:rPr lang="en-IN" sz="2200" dirty="0">
                <a:latin typeface="Times New Roman" panose="02020603050405020304" pitchFamily="18" charset="0"/>
                <a:cs typeface="Times New Roman" panose="02020603050405020304" pitchFamily="18" charset="0"/>
              </a:rPr>
              <a:t>Jain PK., </a:t>
            </a:r>
            <a:r>
              <a:rPr lang="en-IN" sz="2200" dirty="0" err="1">
                <a:latin typeface="Times New Roman" panose="02020603050405020304" pitchFamily="18" charset="0"/>
                <a:cs typeface="Times New Roman" panose="02020603050405020304" pitchFamily="18" charset="0"/>
              </a:rPr>
              <a:t>Soni</a:t>
            </a:r>
            <a:r>
              <a:rPr lang="en-IN" sz="2200" dirty="0">
                <a:latin typeface="Times New Roman" panose="02020603050405020304" pitchFamily="18" charset="0"/>
                <a:cs typeface="Times New Roman" panose="02020603050405020304" pitchFamily="18" charset="0"/>
              </a:rPr>
              <a:t> S.C. and </a:t>
            </a:r>
            <a:r>
              <a:rPr lang="en-IN" sz="2200" dirty="0" err="1">
                <a:latin typeface="Times New Roman" panose="02020603050405020304" pitchFamily="18" charset="0"/>
                <a:cs typeface="Times New Roman" panose="02020603050405020304" pitchFamily="18" charset="0"/>
              </a:rPr>
              <a:t>Baredar,PV</a:t>
            </a:r>
            <a:r>
              <a:rPr lang="en-IN" sz="2200" dirty="0">
                <a:latin typeface="Times New Roman" panose="02020603050405020304" pitchFamily="18" charset="0"/>
                <a:cs typeface="Times New Roman" panose="02020603050405020304" pitchFamily="18" charset="0"/>
              </a:rPr>
              <a:t>., (2014). ‘Review on machining of aluminium metal matrix </a:t>
            </a:r>
            <a:r>
              <a:rPr lang="en-IN" sz="2200" dirty="0" err="1">
                <a:latin typeface="Times New Roman" panose="02020603050405020304" pitchFamily="18" charset="0"/>
                <a:cs typeface="Times New Roman" panose="02020603050405020304" pitchFamily="18" charset="0"/>
              </a:rPr>
              <a:t>composites’,Material</a:t>
            </a:r>
            <a:r>
              <a:rPr lang="en-IN" sz="2200" dirty="0">
                <a:latin typeface="Times New Roman" panose="02020603050405020304" pitchFamily="18" charset="0"/>
                <a:cs typeface="Times New Roman" panose="02020603050405020304" pitchFamily="18" charset="0"/>
              </a:rPr>
              <a:t> science research India, Vol.11,No.2, pp.114-120. </a:t>
            </a:r>
          </a:p>
          <a:p>
            <a:r>
              <a:rPr lang="en-IN" sz="2200" dirty="0" err="1">
                <a:latin typeface="Times New Roman" panose="02020603050405020304" pitchFamily="18" charset="0"/>
                <a:cs typeface="Times New Roman" panose="02020603050405020304" pitchFamily="18" charset="0"/>
              </a:rPr>
              <a:t>Sornakumar</a:t>
            </a:r>
            <a:r>
              <a:rPr lang="en-IN" sz="2200" dirty="0">
                <a:latin typeface="Times New Roman" panose="02020603050405020304" pitchFamily="18" charset="0"/>
                <a:cs typeface="Times New Roman" panose="02020603050405020304" pitchFamily="18" charset="0"/>
              </a:rPr>
              <a:t> T and </a:t>
            </a:r>
            <a:r>
              <a:rPr lang="en-IN" sz="2200" dirty="0" err="1">
                <a:latin typeface="Times New Roman" panose="02020603050405020304" pitchFamily="18" charset="0"/>
                <a:cs typeface="Times New Roman" panose="02020603050405020304" pitchFamily="18" charset="0"/>
              </a:rPr>
              <a:t>Kathiresan</a:t>
            </a:r>
            <a:r>
              <a:rPr lang="en-IN" sz="2200" dirty="0">
                <a:latin typeface="Times New Roman" panose="02020603050405020304" pitchFamily="18" charset="0"/>
                <a:cs typeface="Times New Roman" panose="02020603050405020304" pitchFamily="18" charset="0"/>
              </a:rPr>
              <a:t> M., (2010),’ Machining studies of die cast aluminium alloy-silicon carbide </a:t>
            </a:r>
            <a:r>
              <a:rPr lang="en-IN" sz="2200" dirty="0" err="1">
                <a:latin typeface="Times New Roman" panose="02020603050405020304" pitchFamily="18" charset="0"/>
                <a:cs typeface="Times New Roman" panose="02020603050405020304" pitchFamily="18" charset="0"/>
              </a:rPr>
              <a:t>composites,’International</a:t>
            </a:r>
            <a:r>
              <a:rPr lang="en-IN" sz="2200" dirty="0">
                <a:latin typeface="Times New Roman" panose="02020603050405020304" pitchFamily="18" charset="0"/>
                <a:cs typeface="Times New Roman" panose="02020603050405020304" pitchFamily="18" charset="0"/>
              </a:rPr>
              <a:t> Journal of Minerals, Metallurgy, and Materials, Vol.17, No.5, pp.648-653 </a:t>
            </a:r>
          </a:p>
          <a:p>
            <a:r>
              <a:rPr lang="en-IN" sz="2200" dirty="0" err="1">
                <a:latin typeface="Times New Roman" panose="02020603050405020304" pitchFamily="18" charset="0"/>
                <a:cs typeface="Times New Roman" panose="02020603050405020304" pitchFamily="18" charset="0"/>
              </a:rPr>
              <a:t>A.Fathy</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M.Abdellhameed</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F.shehata</a:t>
            </a:r>
            <a:r>
              <a:rPr lang="en-IN" sz="2200" dirty="0">
                <a:latin typeface="Times New Roman" panose="02020603050405020304" pitchFamily="18" charset="0"/>
                <a:cs typeface="Times New Roman" panose="02020603050405020304" pitchFamily="18" charset="0"/>
              </a:rPr>
              <a:t>, (2012), “Effect of some Manufacturing parameters on machining of extruded Al-Al2O3 composites” , International Scholarly Research Notices, vol.2012, Article ID 748734. </a:t>
            </a:r>
          </a:p>
          <a:p>
            <a:r>
              <a:rPr lang="en-IN" sz="2200" dirty="0">
                <a:latin typeface="Times New Roman" panose="02020603050405020304" pitchFamily="18" charset="0"/>
                <a:cs typeface="Times New Roman" panose="02020603050405020304" pitchFamily="18" charset="0"/>
              </a:rPr>
              <a:t>Suresh P, (2014), “Some studies on aluminium silicon Carbide graphite hybrid metal Matrix composites”, http://hdl.handle.net/10603/39751 </a:t>
            </a:r>
          </a:p>
          <a:p>
            <a:r>
              <a:rPr lang="en-IN" sz="2200" dirty="0">
                <a:latin typeface="Times New Roman" panose="02020603050405020304" pitchFamily="18" charset="0"/>
                <a:cs typeface="Times New Roman" panose="02020603050405020304" pitchFamily="18" charset="0"/>
              </a:rPr>
              <a:t>Loganathan M, (2018),” Fabrication and evaluation of mechanical and metallurgical properties of AA 6061 metal matrix composites reinforced by SIC TIC B4C “, http://hdl.handle.net/10603/257771</a:t>
            </a:r>
          </a:p>
          <a:p>
            <a:endParaRPr lang="en-IN" sz="2200" dirty="0">
              <a:latin typeface="Times New Roman" panose="02020603050405020304" pitchFamily="18" charset="0"/>
              <a:cs typeface="Times New Roman" panose="02020603050405020304" pitchFamily="18" charset="0"/>
            </a:endParaRPr>
          </a:p>
          <a:p>
            <a:endParaRPr lang="en-US" sz="2400" b="1" dirty="0">
              <a:solidFill>
                <a:srgbClr val="0070C0"/>
              </a:solidFill>
              <a:latin typeface="Times New Roman" panose="02020603050405020304" pitchFamily="18" charset="0"/>
              <a:cs typeface="Times New Roman" panose="02020603050405020304" pitchFamily="18" charset="0"/>
            </a:endParaRPr>
          </a:p>
          <a:p>
            <a:endParaRPr lang="en-IN" dirty="0"/>
          </a:p>
        </p:txBody>
      </p:sp>
      <p:pic>
        <p:nvPicPr>
          <p:cNvPr id="4" name="Audio 3">
            <a:hlinkClick r:id="" action="ppaction://media"/>
            <a:extLst>
              <a:ext uri="{FF2B5EF4-FFF2-40B4-BE49-F238E27FC236}">
                <a16:creationId xmlns:a16="http://schemas.microsoft.com/office/drawing/2014/main" id="{D3482828-7D25-4BE9-836C-94A8FA720054}"/>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620989617"/>
      </p:ext>
    </p:extLst>
  </p:cSld>
  <p:clrMapOvr>
    <a:masterClrMapping/>
  </p:clrMapOvr>
  <p:transition advTm="2209">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4D5412-66E3-45FD-AC42-AF635F405F90}"/>
              </a:ext>
            </a:extLst>
          </p:cNvPr>
          <p:cNvSpPr>
            <a:spLocks noGrp="1"/>
          </p:cNvSpPr>
          <p:nvPr>
            <p:ph idx="1"/>
          </p:nvPr>
        </p:nvSpPr>
        <p:spPr>
          <a:xfrm>
            <a:off x="609600" y="517867"/>
            <a:ext cx="10972800" cy="4906963"/>
          </a:xfrm>
        </p:spPr>
        <p:txBody>
          <a:bodyPr/>
          <a:lstStyle/>
          <a:p>
            <a:r>
              <a:rPr lang="en-IN" sz="2200" dirty="0">
                <a:latin typeface="Times New Roman" panose="02020603050405020304" pitchFamily="18" charset="0"/>
                <a:cs typeface="Times New Roman" panose="02020603050405020304" pitchFamily="18" charset="0"/>
              </a:rPr>
              <a:t>Behera R, </a:t>
            </a:r>
            <a:r>
              <a:rPr lang="en-IN" sz="2200" dirty="0" err="1">
                <a:latin typeface="Times New Roman" panose="02020603050405020304" pitchFamily="18" charset="0"/>
                <a:cs typeface="Times New Roman" panose="02020603050405020304" pitchFamily="18" charset="0"/>
              </a:rPr>
              <a:t>Kayal</a:t>
            </a:r>
            <a:r>
              <a:rPr lang="en-IN" sz="2200" dirty="0">
                <a:latin typeface="Times New Roman" panose="02020603050405020304" pitchFamily="18" charset="0"/>
                <a:cs typeface="Times New Roman" panose="02020603050405020304" pitchFamily="18" charset="0"/>
              </a:rPr>
              <a:t> S, </a:t>
            </a:r>
            <a:r>
              <a:rPr lang="en-IN" sz="2200" dirty="0" err="1">
                <a:latin typeface="Times New Roman" panose="02020603050405020304" pitchFamily="18" charset="0"/>
                <a:cs typeface="Times New Roman" panose="02020603050405020304" pitchFamily="18" charset="0"/>
              </a:rPr>
              <a:t>Mohanta</a:t>
            </a:r>
            <a:r>
              <a:rPr lang="en-IN" sz="2200" dirty="0">
                <a:latin typeface="Times New Roman" panose="02020603050405020304" pitchFamily="18" charset="0"/>
                <a:cs typeface="Times New Roman" panose="02020603050405020304" pitchFamily="18" charset="0"/>
              </a:rPr>
              <a:t> N R and </a:t>
            </a:r>
            <a:r>
              <a:rPr lang="en-IN" sz="2200" dirty="0" err="1">
                <a:latin typeface="Times New Roman" panose="02020603050405020304" pitchFamily="18" charset="0"/>
                <a:cs typeface="Times New Roman" panose="02020603050405020304" pitchFamily="18" charset="0"/>
              </a:rPr>
              <a:t>Sutradhar</a:t>
            </a:r>
            <a:r>
              <a:rPr lang="en-IN" sz="2200" dirty="0">
                <a:latin typeface="Times New Roman" panose="02020603050405020304" pitchFamily="18" charset="0"/>
                <a:cs typeface="Times New Roman" panose="02020603050405020304" pitchFamily="18" charset="0"/>
              </a:rPr>
              <a:t>, G, (2013).” Study on machinability of aluminium silicon carbide metal matrix </a:t>
            </a:r>
            <a:r>
              <a:rPr lang="en-IN" sz="2200" dirty="0" err="1">
                <a:latin typeface="Times New Roman" panose="02020603050405020304" pitchFamily="18" charset="0"/>
                <a:cs typeface="Times New Roman" panose="02020603050405020304" pitchFamily="18" charset="0"/>
              </a:rPr>
              <a:t>composites”.Mater</a:t>
            </a:r>
            <a:r>
              <a:rPr lang="en-IN" sz="2200" dirty="0">
                <a:latin typeface="Times New Roman" panose="02020603050405020304" pitchFamily="18" charset="0"/>
                <a:cs typeface="Times New Roman" panose="02020603050405020304" pitchFamily="18" charset="0"/>
              </a:rPr>
              <a:t>. Today, Vol.5, pp.1-7.</a:t>
            </a:r>
          </a:p>
          <a:p>
            <a:r>
              <a:rPr lang="en-IN" sz="2200" dirty="0">
                <a:latin typeface="Times New Roman" panose="02020603050405020304" pitchFamily="18" charset="0"/>
                <a:cs typeface="Times New Roman" panose="02020603050405020304" pitchFamily="18" charset="0"/>
              </a:rPr>
              <a:t>Lin, JT, Bhattacharyya D and Lane C, (1995). “Machinability of a silicon carbide reinforced aluminium metal matrix composite. Wear”, Vol.181, pp.883-888</a:t>
            </a:r>
          </a:p>
          <a:p>
            <a:r>
              <a:rPr lang="en-IN" sz="2200" dirty="0">
                <a:latin typeface="Times New Roman" panose="02020603050405020304" pitchFamily="18" charset="0"/>
                <a:cs typeface="Times New Roman" panose="02020603050405020304" pitchFamily="18" charset="0"/>
              </a:rPr>
              <a:t>Mustafa Khaleel Ibrahim, </a:t>
            </a:r>
            <a:r>
              <a:rPr lang="en-IN" sz="2200" dirty="0" err="1">
                <a:latin typeface="Times New Roman" panose="02020603050405020304" pitchFamily="18" charset="0"/>
                <a:cs typeface="Times New Roman" panose="02020603050405020304" pitchFamily="18" charset="0"/>
              </a:rPr>
              <a:t>Jamaliah</a:t>
            </a:r>
            <a:r>
              <a:rPr lang="en-IN" sz="2200" dirty="0">
                <a:latin typeface="Times New Roman" panose="02020603050405020304" pitchFamily="18" charset="0"/>
                <a:cs typeface="Times New Roman" panose="02020603050405020304" pitchFamily="18" charset="0"/>
              </a:rPr>
              <a:t> Idris, (2014),’ The Effect of Milling Time on </a:t>
            </a:r>
            <a:r>
              <a:rPr lang="en-IN" sz="2200" dirty="0" err="1">
                <a:latin typeface="Times New Roman" panose="02020603050405020304" pitchFamily="18" charset="0"/>
                <a:cs typeface="Times New Roman" panose="02020603050405020304" pitchFamily="18" charset="0"/>
              </a:rPr>
              <a:t>Aluminum</a:t>
            </a:r>
            <a:r>
              <a:rPr lang="en-IN" sz="2200" dirty="0">
                <a:latin typeface="Times New Roman" panose="02020603050405020304" pitchFamily="18" charset="0"/>
                <a:cs typeface="Times New Roman" panose="02020603050405020304" pitchFamily="18" charset="0"/>
              </a:rPr>
              <a:t>- Silicon Carbide Composites Fabricated by Powder Metallurgy’, International Journal of Scientific &amp; Engineering Research, Vol.5, No.12, pp.139</a:t>
            </a:r>
          </a:p>
          <a:p>
            <a:r>
              <a:rPr lang="en-IN" sz="2200" dirty="0" err="1">
                <a:latin typeface="Times New Roman" panose="02020603050405020304" pitchFamily="18" charset="0"/>
                <a:cs typeface="Times New Roman" panose="02020603050405020304" pitchFamily="18" charset="0"/>
              </a:rPr>
              <a:t>Kılıckap</a:t>
            </a:r>
            <a:r>
              <a:rPr lang="en-IN" sz="2200" dirty="0">
                <a:latin typeface="Times New Roman" panose="02020603050405020304" pitchFamily="18" charset="0"/>
                <a:cs typeface="Times New Roman" panose="02020603050405020304" pitchFamily="18" charset="0"/>
              </a:rPr>
              <a:t> E, </a:t>
            </a:r>
            <a:r>
              <a:rPr lang="en-IN" sz="2200" dirty="0" err="1">
                <a:latin typeface="Times New Roman" panose="02020603050405020304" pitchFamily="18" charset="0"/>
                <a:cs typeface="Times New Roman" panose="02020603050405020304" pitchFamily="18" charset="0"/>
              </a:rPr>
              <a:t>Cakır</a:t>
            </a:r>
            <a:r>
              <a:rPr lang="en-IN" sz="2200" dirty="0">
                <a:latin typeface="Times New Roman" panose="02020603050405020304" pitchFamily="18" charset="0"/>
                <a:cs typeface="Times New Roman" panose="02020603050405020304" pitchFamily="18" charset="0"/>
              </a:rPr>
              <a:t>, O, Aksoy, Mustafa and </a:t>
            </a:r>
            <a:r>
              <a:rPr lang="en-IN" sz="2200" dirty="0" err="1">
                <a:latin typeface="Times New Roman" panose="02020603050405020304" pitchFamily="18" charset="0"/>
                <a:cs typeface="Times New Roman" panose="02020603050405020304" pitchFamily="18" charset="0"/>
              </a:rPr>
              <a:t>Inan</a:t>
            </a:r>
            <a:r>
              <a:rPr lang="en-IN" sz="2200" dirty="0">
                <a:latin typeface="Times New Roman" panose="02020603050405020304" pitchFamily="18" charset="0"/>
                <a:cs typeface="Times New Roman" panose="02020603050405020304" pitchFamily="18" charset="0"/>
              </a:rPr>
              <a:t> A, (2005), ‘Study of tool wear and surface roughness in machining of homogenised </a:t>
            </a:r>
            <a:r>
              <a:rPr lang="en-IN" sz="2200" dirty="0" err="1">
                <a:latin typeface="Times New Roman" panose="02020603050405020304" pitchFamily="18" charset="0"/>
                <a:cs typeface="Times New Roman" panose="02020603050405020304" pitchFamily="18" charset="0"/>
              </a:rPr>
              <a:t>SiC</a:t>
            </a:r>
            <a:r>
              <a:rPr lang="en-IN" sz="2200" dirty="0">
                <a:latin typeface="Times New Roman" panose="02020603050405020304" pitchFamily="18" charset="0"/>
                <a:cs typeface="Times New Roman" panose="02020603050405020304" pitchFamily="18" charset="0"/>
              </a:rPr>
              <a:t>-p reinforced aluminium metal matrix composite’, Journal of Materials Processing Technology, Vol.164, pp.862-867.\\</a:t>
            </a:r>
          </a:p>
          <a:p>
            <a:r>
              <a:rPr lang="en-IN" sz="2200" dirty="0">
                <a:latin typeface="Times New Roman" panose="02020603050405020304" pitchFamily="18" charset="0"/>
                <a:cs typeface="Times New Roman" panose="02020603050405020304" pitchFamily="18" charset="0"/>
              </a:rPr>
              <a:t>Narender Panwar, Amit Chauhan, (2018), ‘Fabrication methods of particulate reinforced Aluminium metal matrix composite-A review ‘, Materials Today Proceedings, Vol.5, No.2, pp 5933-5939</a:t>
            </a:r>
          </a:p>
          <a:p>
            <a:endParaRPr lang="en-IN" sz="2200" b="1" dirty="0">
              <a:solidFill>
                <a:srgbClr val="0070C0"/>
              </a:solidFill>
              <a:latin typeface="Times New Roman" panose="02020603050405020304" pitchFamily="18" charset="0"/>
              <a:cs typeface="Times New Roman" panose="02020603050405020304" pitchFamily="18" charset="0"/>
            </a:endParaRPr>
          </a:p>
          <a:p>
            <a:pPr marL="0" indent="0">
              <a:buNone/>
            </a:pPr>
            <a:endParaRPr lang="en-IN" dirty="0"/>
          </a:p>
        </p:txBody>
      </p:sp>
      <p:pic>
        <p:nvPicPr>
          <p:cNvPr id="2" name="Audio 1">
            <a:hlinkClick r:id="" action="ppaction://media"/>
            <a:extLst>
              <a:ext uri="{FF2B5EF4-FFF2-40B4-BE49-F238E27FC236}">
                <a16:creationId xmlns:a16="http://schemas.microsoft.com/office/drawing/2014/main" id="{A9AB4AED-9DFA-4B4C-9E1B-9536AAF0C9C0}"/>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1130046221"/>
      </p:ext>
    </p:extLst>
  </p:cSld>
  <p:clrMapOvr>
    <a:masterClrMapping/>
  </p:clrMapOvr>
  <p:transition advTm="1448">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theme/theme1.xml><?xml version="1.0" encoding="utf-8"?>
<a:theme xmlns:a="http://schemas.openxmlformats.org/drawingml/2006/main" name="SASEPresentatio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Comic Sans MS"/>
        <a:ea typeface=""/>
        <a:cs typeface=""/>
      </a:majorFont>
      <a:minorFont>
        <a:latin typeface="Comic Sans MS"/>
        <a:ea typeface=""/>
        <a:cs typeface=""/>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1" id="{2E8CE935-F3DA-4639-839D-0F6A64CCE9C9}" vid="{A99DBA6F-CE1E-45EC-8558-A285390E654A}"/>
    </a:ext>
  </a:extLst>
</a:theme>
</file>

<file path=ppt/theme/theme2.xml><?xml version="1.0" encoding="utf-8"?>
<a:theme xmlns:a="http://schemas.openxmlformats.org/drawingml/2006/main" name="1_SASEPresentatio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Comic Sans MS"/>
        <a:ea typeface=""/>
        <a:cs typeface=""/>
      </a:majorFont>
      <a:minorFont>
        <a:latin typeface="Comic Sans MS"/>
        <a:ea typeface=""/>
        <a:cs typeface=""/>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1" id="{2E8CE935-F3DA-4639-839D-0F6A64CCE9C9}" vid="{A99DBA6F-CE1E-45EC-8558-A285390E65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754</TotalTime>
  <Words>2781</Words>
  <Application>Microsoft Office PowerPoint</Application>
  <PresentationFormat>Widescreen</PresentationFormat>
  <Paragraphs>379</Paragraphs>
  <Slides>27</Slides>
  <Notes>1</Notes>
  <HiddenSlides>0</HiddenSlides>
  <MMClips>27</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27</vt:i4>
      </vt:variant>
    </vt:vector>
  </HeadingPairs>
  <TitlesOfParts>
    <vt:vector size="35" baseType="lpstr">
      <vt:lpstr>Arial</vt:lpstr>
      <vt:lpstr>Calibri</vt:lpstr>
      <vt:lpstr>Comic Sans MS</vt:lpstr>
      <vt:lpstr>Tahoma</vt:lpstr>
      <vt:lpstr>Times New Roman</vt:lpstr>
      <vt:lpstr>Wingdings</vt:lpstr>
      <vt:lpstr>SASEPresentation</vt:lpstr>
      <vt:lpstr>1_SASEPresentation</vt:lpstr>
      <vt:lpstr>EXPERIMENTAL INVESTIGATIONS ON MILLING OF ALUMINIUM SILICON CARBIDE METAL MATRIX COMPOSITES</vt:lpstr>
      <vt:lpstr>MOTIVATION</vt:lpstr>
      <vt:lpstr>OBJECTIVE</vt:lpstr>
      <vt:lpstr>LITERATURE SURVEY</vt:lpstr>
      <vt:lpstr>PowerPoint Presentation</vt:lpstr>
      <vt:lpstr>PowerPoint Presentation</vt:lpstr>
      <vt:lpstr>PowerPoint Presentation</vt:lpstr>
      <vt:lpstr>PowerPoint Presentation</vt:lpstr>
      <vt:lpstr>METHODOLOGY</vt:lpstr>
      <vt:lpstr>PREPARATION OF MATRIX</vt:lpstr>
      <vt:lpstr>MACHINING </vt:lpstr>
      <vt:lpstr>OBSERVATION</vt:lpstr>
      <vt:lpstr>NUMERICAL WORK</vt:lpstr>
      <vt:lpstr>NUMERICAL WORK AND OBSERVATION</vt:lpstr>
      <vt:lpstr>COMPARISON GRAPHS (CONSTANT FEED) Cutting force (N) Vs Cutting Speed (m/min) </vt:lpstr>
      <vt:lpstr>GRAPH INTERPRETATION</vt:lpstr>
      <vt:lpstr>COMPARISON GRAPHS (CONSTANT FEED) Cutting force(N) Vs Cutting Speed (m/min) </vt:lpstr>
      <vt:lpstr>GRAPH INTERPRETATION</vt:lpstr>
      <vt:lpstr>COMPARISON GRAPHS(FEED constant) Roughness (micro mm) Vs Cutting Speed (m/min) </vt:lpstr>
      <vt:lpstr>GRAPH INTERPRETATION</vt:lpstr>
      <vt:lpstr>COMPARISON GRAPHS (feed constant) Chip thickness (micro m) Vs Cutting speed (m/min) </vt:lpstr>
      <vt:lpstr>GRAPH INTERPRETATION</vt:lpstr>
      <vt:lpstr>COMPARISON GRAPHS (cutting speed constant) Chip thickness (mm) Vs Feed (m/min) </vt:lpstr>
      <vt:lpstr>GRAPH INTERPRETATION</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EXPERIMENTAL INVESTIGATIONS ON MILLING OF ALUMINIUM SILICON CARBIDE METAL MATRIX COMPOSITES</dc:title>
  <dc:creator>Windows User</dc:creator>
  <cp:lastModifiedBy>Dheepak</cp:lastModifiedBy>
  <cp:revision>54</cp:revision>
  <dcterms:created xsi:type="dcterms:W3CDTF">2021-04-09T02:53:58Z</dcterms:created>
  <dcterms:modified xsi:type="dcterms:W3CDTF">2021-08-16T17:08:26Z</dcterms:modified>
</cp:coreProperties>
</file>